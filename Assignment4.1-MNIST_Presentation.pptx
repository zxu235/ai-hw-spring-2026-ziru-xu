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11"/>
    <p:restoredTop sz="94666"/>
  </p:normalViewPr>
  <p:slideViewPr>
    <p:cSldViewPr snapToGrid="0" snapToObjects="1">
      <p:cViewPr varScale="1">
        <p:scale>
          <a:sx n="93" d="100"/>
          <a:sy n="93" d="100"/>
        </p:scale>
        <p:origin x="240" y="6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5A8BD-464B-8E48-9F68-EFE5E7A2E5EE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B91530-B6A9-9C4B-B6FD-24519C43BC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842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Multi-Layer Perceptron (MLP) is a fully connected neural network that processes input data as a one-dimensional vector.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the MNIST dataset, each image has a size of 28 × 28 pixels. Since an MLP cannot directly handle 2D spatial structure, the image is first flattened into a vector of length 784 (28 × 28).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used in this model is: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Input layer: 784 neurons (flattened image)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Hidden layer 1: 256 neurons with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activation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Hidden layer 2: 128 neurons with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activation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Output layer: 10 neurons (one for each digit class 0–9)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B91530-B6A9-9C4B-B6FD-24519C43BC1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752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1367" y="1964267"/>
            <a:ext cx="7195852" cy="2421464"/>
          </a:xfrm>
        </p:spPr>
        <p:txBody>
          <a:bodyPr anchor="b">
            <a:normAutofit/>
          </a:bodyPr>
          <a:lstStyle>
            <a:lvl1pPr algn="r">
              <a:defRPr sz="4799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1367" y="4385733"/>
            <a:ext cx="7195852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799" cap="all">
                <a:solidFill>
                  <a:schemeClr val="tx1"/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0232" y="5870576"/>
            <a:ext cx="1599783" cy="3778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1367" y="5870576"/>
            <a:ext cx="4892684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6196" y="5870576"/>
            <a:ext cx="551023" cy="3778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26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1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3308581"/>
            <a:ext cx="10128789" cy="1468800"/>
          </a:xfrm>
        </p:spPr>
        <p:txBody>
          <a:bodyPr anchor="b"/>
          <a:lstStyle>
            <a:lvl1pPr algn="l">
              <a:defRPr sz="3999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0" y="4777381"/>
            <a:ext cx="101287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 cap="all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3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623" y="2142067"/>
            <a:ext cx="4994033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0379" y="2142068"/>
            <a:ext cx="4994031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92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416" y="2218267"/>
            <a:ext cx="4707828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623" y="2870201"/>
            <a:ext cx="4995622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4416" y="2226734"/>
            <a:ext cx="4721583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1967" y="2870201"/>
            <a:ext cx="499403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84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2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01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2074333"/>
            <a:ext cx="3679926" cy="1371600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6991" y="609601"/>
            <a:ext cx="6167419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3445933"/>
            <a:ext cx="3679926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702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1600200"/>
            <a:ext cx="6163048" cy="1371600"/>
          </a:xfrm>
        </p:spPr>
        <p:txBody>
          <a:bodyPr anchor="b">
            <a:normAutofit/>
          </a:bodyPr>
          <a:lstStyle>
            <a:lvl1pPr algn="l">
              <a:defRPr sz="27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4290" y="914400"/>
            <a:ext cx="3280120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2971800"/>
            <a:ext cx="6163048" cy="1828800"/>
          </a:xfrm>
        </p:spPr>
        <p:txBody>
          <a:bodyPr anchor="t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4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2" y="4732865"/>
            <a:ext cx="1012878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243" y="932112"/>
            <a:ext cx="8757546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622" y="5299603"/>
            <a:ext cx="10128789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398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9" cy="3124199"/>
          </a:xfrm>
        </p:spPr>
        <p:txBody>
          <a:bodyPr anchor="ctr">
            <a:normAutofit/>
          </a:bodyPr>
          <a:lstStyle>
            <a:lvl1pPr algn="l">
              <a:defRPr sz="31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1" y="4343400"/>
            <a:ext cx="1012879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74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5201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48" y="823337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009" y="609602"/>
            <a:ext cx="9547912" cy="2743199"/>
          </a:xfrm>
        </p:spPr>
        <p:txBody>
          <a:bodyPr anchor="ctr">
            <a:normAutofit/>
          </a:bodyPr>
          <a:lstStyle>
            <a:lvl1pPr algn="l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589" y="3352800"/>
            <a:ext cx="933675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287" y="4343400"/>
            <a:ext cx="10149723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066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4" y="3308581"/>
            <a:ext cx="10128787" cy="1468800"/>
          </a:xfrm>
        </p:spPr>
        <p:txBody>
          <a:bodyPr anchor="b">
            <a:normAutofit/>
          </a:bodyPr>
          <a:lstStyle>
            <a:lvl1pPr algn="l">
              <a:defRPr sz="31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2" y="4777381"/>
            <a:ext cx="1012878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2039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5201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148" y="823337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009" y="609602"/>
            <a:ext cx="9547912" cy="2743199"/>
          </a:xfrm>
        </p:spPr>
        <p:txBody>
          <a:bodyPr anchor="ctr">
            <a:normAutofit/>
          </a:bodyPr>
          <a:lstStyle>
            <a:lvl1pPr algn="l">
              <a:defRPr sz="3199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621" y="3886200"/>
            <a:ext cx="10132797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399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0" y="4775200"/>
            <a:ext cx="10132797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12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3" y="609602"/>
            <a:ext cx="1012878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622" y="3505200"/>
            <a:ext cx="1012879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799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1" y="4343400"/>
            <a:ext cx="1012879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48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7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0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651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6420" y="609600"/>
            <a:ext cx="2157990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622" y="609600"/>
            <a:ext cx="783007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2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623" y="609601"/>
            <a:ext cx="10128787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623" y="2142068"/>
            <a:ext cx="10128787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7423" y="5870576"/>
            <a:ext cx="1599783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622" y="5870576"/>
            <a:ext cx="7825621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3387" y="5870576"/>
            <a:ext cx="551023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04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664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790" indent="-285664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587" indent="-171399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9650" indent="-171399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28052" y="211559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i="0" dirty="0">
                <a:solidFill>
                  <a:srgbClr val="FFFFFF"/>
                </a:solidFill>
              </a:rPr>
              <a:t>MNIST Handwritten Digit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052" y="369500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b="0" i="0" dirty="0">
                <a:solidFill>
                  <a:srgbClr val="00C2FF"/>
                </a:solidFill>
              </a:rPr>
              <a:t>Comparing MLP  ·  CNN  · 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052" y="5320146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 dirty="0">
                <a:solidFill>
                  <a:srgbClr val="AABBCC"/>
                </a:solidFill>
              </a:rPr>
              <a:t>Assignment 4.1  |  Ziru Xu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Problem &amp;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C2FF"/>
                </a:solidFill>
              </a:rPr>
              <a:t>The Problem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Classify handwritten digits 0–9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MNIST: 60,000 train / 10,000 test images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Image size: 28 × 28 grayscale pixels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10 classes (digits 0 through 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C2FF"/>
                </a:solidFill>
              </a:rPr>
              <a:t>Data Preprocessing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Normalize to [-1, 1]  via mean=0.5, std=0.5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Noisy split: add Gaussian noise (σ=0.2)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Batch size: 64 train  /  1000 test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Shuffle training data each epoch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2FF"/>
                </a:solidFill>
              </a:rPr>
              <a:t>Sample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671" y="5770438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ABBCC"/>
                </a:solidFill>
              </a:rPr>
              <a:t>Clean          vs         Noisy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B2129EA-8D54-C13E-F346-5B44822DC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671" y="1756796"/>
            <a:ext cx="4571458" cy="18550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5F5EF1-7C5E-B387-262D-7612C9E1F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671" y="3755334"/>
            <a:ext cx="4571458" cy="18550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1 — Multi-Layer Perceptron (MLP)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30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dirty="0">
                <a:solidFill>
                  <a:srgbClr val="00C2FF"/>
                </a:solidFill>
              </a:rPr>
              <a:t>Overview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Fully connected dense network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Image </a:t>
            </a:r>
            <a:r>
              <a:rPr lang="en-US" sz="1900" dirty="0">
                <a:solidFill>
                  <a:srgbClr val="CCE5FF"/>
                </a:solidFill>
              </a:rPr>
              <a:t> is </a:t>
            </a:r>
            <a:r>
              <a:rPr sz="1900" dirty="0">
                <a:solidFill>
                  <a:srgbClr val="CCE5FF"/>
                </a:solidFill>
              </a:rPr>
              <a:t>flattened: 28×28 = 784 input neurons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No spatial awareness — pixels treated independently</a:t>
            </a:r>
          </a:p>
          <a:p>
            <a:pPr algn="l">
              <a:spcBef>
                <a:spcPts val="300"/>
              </a:spcBef>
            </a:pPr>
            <a:r>
              <a:rPr sz="1900" dirty="0">
                <a:solidFill>
                  <a:srgbClr val="CCE5FF"/>
                </a:solidFill>
              </a:rPr>
              <a:t>•  Simple, fast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9908" y="3931920"/>
            <a:ext cx="2011680" cy="10515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9908" y="40690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Input
784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1588" y="4251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909060" y="3931920"/>
            <a:ext cx="2011680" cy="1051560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09060" y="40690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Hidden 1
256 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4251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8212" y="3931920"/>
            <a:ext cx="2011680" cy="1051560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8212" y="40690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Hidden 2
128  ReLU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892" y="4251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27364" y="3931920"/>
            <a:ext cx="2011680" cy="1051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7364" y="406908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Output
10 classes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D700"/>
                </a:solidFill>
              </a:rPr>
              <a:t>Flatten step: 28×28 → 784-dim vector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051560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FFD700"/>
                </a:solidFill>
              </a:rPr>
              <a:t>Results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Clean: 96.94%  |  Noisy: 96.08%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Drop under noise: −0.86%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2 — Convolutional Neural Network (CNN)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C2FF"/>
                </a:solidFill>
              </a:rPr>
              <a:t>Overview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Operates directly on 28×28 images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Learns local features: edges, curves, strokes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Spatial hierarchy via two conv layers + pooling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Far fewer parameters than equivalent MLP</a:t>
            </a:r>
          </a:p>
        </p:txBody>
      </p:sp>
      <p:sp>
        <p:nvSpPr>
          <p:cNvPr id="6" name="Rectangle 5"/>
          <p:cNvSpPr/>
          <p:nvPr/>
        </p:nvSpPr>
        <p:spPr>
          <a:xfrm>
            <a:off x="1293876" y="3749039"/>
            <a:ext cx="1737360" cy="1188720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3876" y="3840479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Conv1
32 filters 3×3
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1236" y="4114799"/>
            <a:ext cx="228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259836" y="3749039"/>
            <a:ext cx="1737360" cy="1188720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59836" y="3840479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Conv2
64 filters 3×3
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7196" y="4114799"/>
            <a:ext cx="228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25796" y="3749039"/>
            <a:ext cx="1737360" cy="1188720"/>
          </a:xfrm>
          <a:prstGeom prst="rect">
            <a:avLst/>
          </a:prstGeom>
          <a:solidFill>
            <a:srgbClr val="6A3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5796" y="3840479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MaxPool
2×2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3156" y="4114799"/>
            <a:ext cx="228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91756" y="3749039"/>
            <a:ext cx="1737360" cy="1188720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91756" y="3840479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FC
128 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9116" y="4114799"/>
            <a:ext cx="228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BBC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57716" y="3749039"/>
            <a:ext cx="1737360" cy="11887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7716" y="3840479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Output
10 classes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3076" y="10515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4CAF50"/>
                </a:solidFill>
              </a:rPr>
              <a:t>Results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Clean: 99.01%  |  Noisy: 98.26%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Best accuracy  —  most robust to noise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Drop under noise: −0.75% (smallest of all)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3 — Transformer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0C2FF"/>
                </a:solidFill>
              </a:rPr>
              <a:t>Architecture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Image divided into 4×4 patches → 49 tokens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Each patch projected to embedding dim = 64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Learnable positional encoding preserves order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2 × TransformerEncoderLayer (4 heads)</a:t>
            </a:r>
          </a:p>
          <a:p>
            <a:pPr algn="l">
              <a:spcBef>
                <a:spcPts val="300"/>
              </a:spcBef>
            </a:pPr>
            <a:r>
              <a:rPr sz="1900">
                <a:solidFill>
                  <a:srgbClr val="CCE5FF"/>
                </a:solidFill>
              </a:rPr>
              <a:t>•  Global average pooling → linear classifier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188720"/>
            <a:ext cx="1463040" cy="777240"/>
          </a:xfrm>
          <a:prstGeom prst="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0" y="12344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28×28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65960"/>
            <a:ext cx="14630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075688"/>
            <a:ext cx="1463040" cy="777240"/>
          </a:xfrm>
          <a:prstGeom prst="rect">
            <a:avLst/>
          </a:prstGeom>
          <a:solidFill>
            <a:srgbClr val="1A5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212140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Patch Embed
4×4 patches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852928"/>
            <a:ext cx="14630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962656"/>
            <a:ext cx="1463040" cy="777240"/>
          </a:xfrm>
          <a:prstGeom prst="rect">
            <a:avLst/>
          </a:prstGeom>
          <a:solidFill>
            <a:srgbClr val="1A5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3008376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+ Pos. Encoding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39896"/>
            <a:ext cx="14630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49624"/>
            <a:ext cx="1463040" cy="777240"/>
          </a:xfrm>
          <a:prstGeom prst="rect">
            <a:avLst/>
          </a:prstGeom>
          <a:solidFill>
            <a:srgbClr val="5A2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3895344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Transformer
Encoder 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626864"/>
            <a:ext cx="14630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4736592"/>
            <a:ext cx="1463040" cy="777240"/>
          </a:xfrm>
          <a:prstGeom prst="rect">
            <a:avLst/>
          </a:prstGeom>
          <a:solidFill>
            <a:srgbClr val="5A2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4782312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Global
Avg 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5513832"/>
            <a:ext cx="14630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5623560"/>
            <a:ext cx="146304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0" y="566928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Classifier
10 classes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50792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AA55FF"/>
                </a:solidFill>
              </a:rPr>
              <a:t>Results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Clean: 97.65%  |  Noisy: 96.62%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No conv layers — pure attention mechanism</a:t>
            </a:r>
          </a:p>
          <a:p>
            <a:pPr algn="l">
              <a:spcBef>
                <a:spcPts val="300"/>
              </a:spcBef>
            </a:pPr>
            <a:r>
              <a:rPr sz="1800" dirty="0">
                <a:solidFill>
                  <a:srgbClr val="CCE5FF"/>
                </a:solidFill>
              </a:rPr>
              <a:t>•  Competitive with CNN; slightly less robust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Model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7744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Clean Acc.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17830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17043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Noisy Acc.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160020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Δ (drop)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097280"/>
            <a:ext cx="3154680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117043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MLP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96.94%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728216"/>
            <a:ext cx="17830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96.08%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28216"/>
            <a:ext cx="160020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180136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−0.86%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728216"/>
            <a:ext cx="3154680" cy="576072"/>
          </a:xfrm>
          <a:prstGeom prst="rect">
            <a:avLst/>
          </a:prstGeom>
          <a:solidFill>
            <a:srgbClr val="12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79" y="180136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Solid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Transformer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7744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97.65%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322576"/>
            <a:ext cx="17830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239572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96.62%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322576"/>
            <a:ext cx="160020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0" y="239572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−1.03%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2322576"/>
            <a:ext cx="3154680" cy="576072"/>
          </a:xfrm>
          <a:prstGeom prst="rect">
            <a:avLst/>
          </a:prstGeom>
          <a:solidFill>
            <a:srgbClr val="0E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239572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Strong, no convs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CNN 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37744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99.01%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2916936"/>
            <a:ext cx="17830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97680" y="2990088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98.26%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2916936"/>
            <a:ext cx="160020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0" y="2990088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−0.75%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5279" y="2916936"/>
            <a:ext cx="3154680" cy="576072"/>
          </a:xfrm>
          <a:prstGeom prst="rect">
            <a:avLst/>
          </a:prstGeom>
          <a:solidFill>
            <a:srgbClr val="0A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55279" y="299008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700"/>
                </a:solidFill>
              </a:rPr>
              <a:t>Best overall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191048"/>
            <a:ext cx="1371600" cy="1209751"/>
          </a:xfrm>
          <a:prstGeom prst="rect">
            <a:avLst/>
          </a:prstGeom>
          <a:solidFill>
            <a:srgbClr val="1A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49350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96.94%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MLP
Clean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48840" y="5544921"/>
            <a:ext cx="1371600" cy="855878"/>
          </a:xfrm>
          <a:prstGeom prst="rect">
            <a:avLst/>
          </a:prstGeom>
          <a:solidFill>
            <a:srgbClr val="0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148840" y="528888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96.08%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MLP
Noisy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339285"/>
            <a:ext cx="1371600" cy="206151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840480" y="408325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99.01%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CNN
Clean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32120" y="4647895"/>
            <a:ext cx="1371600" cy="1752904"/>
          </a:xfrm>
          <a:prstGeom prst="rect">
            <a:avLst/>
          </a:prstGeom>
          <a:solidFill>
            <a:srgbClr val="2A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32120" y="439186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98.26%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212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CNN
Noisy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4898897"/>
            <a:ext cx="1371600" cy="1501902"/>
          </a:xfrm>
          <a:prstGeom prst="rect">
            <a:avLst/>
          </a:prstGeom>
          <a:solidFill>
            <a:srgbClr val="8A3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223760" y="464286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97.65%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Trans
Clean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15400" y="5322722"/>
            <a:ext cx="1371600" cy="1078077"/>
          </a:xfrm>
          <a:prstGeom prst="rect">
            <a:avLst/>
          </a:prstGeom>
          <a:solidFill>
            <a:srgbClr val="5A2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15400" y="506669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96.62%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15400" y="6446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ABBCC"/>
                </a:solidFill>
              </a:rPr>
              <a:t>Trans
Noisy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6459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2FF"/>
                </a:solidFill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09728" cy="1143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1978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CAF50"/>
                </a:solidFill>
              </a:rPr>
              <a:t>CNN is best for image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848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FF"/>
                </a:solidFill>
              </a:rPr>
              <a:t>Spatial inductive bias → highest accuracy + best noise robustness (99.01% clean, −0.75% noise drop).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04872"/>
            <a:ext cx="109728" cy="1143000"/>
          </a:xfrm>
          <a:prstGeom prst="rect">
            <a:avLst/>
          </a:prstGeom>
          <a:solidFill>
            <a:srgbClr val="AA5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45973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AA55FF"/>
                </a:solidFill>
              </a:rPr>
              <a:t>Transformers work — even without convolutions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FF"/>
                </a:solidFill>
              </a:rPr>
              <a:t>Self-attention captures global context; 97.65% clean accuracy with pure attention on 28×28 images.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66744"/>
            <a:ext cx="109728" cy="1143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721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C2FF"/>
                </a:solidFill>
              </a:rPr>
              <a:t>MLP is a strong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422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FF"/>
                </a:solidFill>
              </a:rPr>
              <a:t>96.94% accuracy despite zero spatial awareness — flattening loses structure but MNIST is simple enough.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28616"/>
            <a:ext cx="109728" cy="1143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983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D700"/>
                </a:solidFill>
              </a:rPr>
              <a:t>Gaussian noise affects all models, but minimally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04104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FF"/>
                </a:solidFill>
              </a:rPr>
              <a:t>All models drop &lt; 1.1%; CNN loses the least (−0.75%), showing convolutions learn robust features.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591</TotalTime>
  <Words>686</Words>
  <Application>Microsoft Macintosh PowerPoint</Application>
  <PresentationFormat>Custom</PresentationFormat>
  <Paragraphs>127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Celestial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Ziru Xu</cp:lastModifiedBy>
  <cp:revision>3</cp:revision>
  <dcterms:created xsi:type="dcterms:W3CDTF">2013-01-27T09:14:16Z</dcterms:created>
  <dcterms:modified xsi:type="dcterms:W3CDTF">2026-05-30T16:52:47Z</dcterms:modified>
  <cp:category/>
</cp:coreProperties>
</file>
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</p:sldMasterIdLst>
  <p:notesMasterIdLst>
    <p:notesMasterId r:id="rId9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sldSz cx="12188825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3C2FFA5D-87B4-456A-9821-1D502468CF0F}" styleName="Themed Style 1 - Accent 1">
    <a:tblBg>
      <a:fillRef idx="2">
        <a:schemeClr val="accent1"/>
      </a:fillRef>
      <a:effectRef idx="1">
        <a:schemeClr val="accent1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Ref idx="1">
              <a:schemeClr val="accent1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  <a:fill>
          <a:solidFill>
            <a:schemeClr val="accent1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1"/>
            </a:lnRef>
          </a:left>
          <a:right>
            <a:lnRef idx="2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2">
              <a:schemeClr val="accent1"/>
            </a:lnRef>
          </a:top>
          <a:bottom>
            <a:lnRef idx="2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firstRow>
  </a:tblStyle>
  <a:tblStyle styleId="{B301B821-A1FF-4177-AEE7-76D212191A09}" styleName="Medium Style 1 - Accent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1">
              <a:tint val="20000"/>
            </a:schemeClr>
          </a:solidFill>
        </a:fill>
      </a:tcStyle>
    </a:band1H>
    <a:band1V>
      <a:tcStyle>
        <a:tcBdr/>
        <a:fill>
          <a:solidFill>
            <a:schemeClr val="accent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Row>
  </a:tblStyle>
  <a:tblStyle styleId="{FABFCF23-3B69-468F-B69F-88F6DE6A72F2}" styleName="Medium Style 1 - Accent 5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5"/>
              </a:solidFill>
            </a:ln>
          </a:left>
          <a:right>
            <a:ln w="12700" cmpd="sng">
              <a:solidFill>
                <a:schemeClr val="accent5"/>
              </a:solidFill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 w="12700" cmpd="sng">
              <a:solidFill>
                <a:schemeClr val="accent5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5">
              <a:tint val="20000"/>
            </a:schemeClr>
          </a:solidFill>
        </a:fill>
      </a:tcStyle>
    </a:band1H>
    <a:band1V>
      <a:tcStyle>
        <a:tcBdr/>
        <a:fill>
          <a:solidFill>
            <a:schemeClr val="accent5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5"/>
          </a:solidFill>
        </a:fill>
      </a:tcStyle>
    </a:firstRow>
  </a:tblStyle>
  <a:tblStyle styleId="{1FECB4D8-DB02-4DC6-A0A2-4F2EBAE1DC90}" styleName="Medium Style 1 - Accent 3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3"/>
              </a:solidFill>
            </a:ln>
          </a:left>
          <a:right>
            <a:ln w="12700" cmpd="sng">
              <a:solidFill>
                <a:schemeClr val="accent3"/>
              </a:solidFill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 w="12700" cmpd="sng">
              <a:solidFill>
                <a:schemeClr val="accent3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3">
              <a:tint val="20000"/>
            </a:schemeClr>
          </a:solidFill>
        </a:fill>
      </a:tcStyle>
    </a:band1H>
    <a:band1V>
      <a:tcStyle>
        <a:tcBdr/>
        <a:fill>
          <a:solidFill>
            <a:schemeClr val="accent3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3"/>
          </a:solidFill>
        </a:fill>
      </a:tcStyle>
    </a:firstRow>
  </a:tblStyle>
  <a:tblStyle styleId="{9DCAF9ED-07DC-4A11-8D7F-57B35C25682E}" styleName="Medium Style 1 - Accent 2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2"/>
              </a:solidFill>
            </a:ln>
          </a:left>
          <a:right>
            <a:ln w="12700" cmpd="sng">
              <a:solidFill>
                <a:schemeClr val="accent2"/>
              </a:solidFill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 w="12700" cmpd="sng">
              <a:solidFill>
                <a:schemeClr val="accent2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2">
              <a:tint val="20000"/>
            </a:schemeClr>
          </a:solidFill>
        </a:fill>
      </a:tcStyle>
    </a:band1H>
    <a:band1V>
      <a:tcStyle>
        <a:tcBdr/>
        <a:fill>
          <a:solidFill>
            <a:schemeClr val="accent2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2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2"/>
          </a:solidFill>
        </a:fill>
      </a:tcStyle>
    </a:firstRow>
  </a:tblStyle>
  <a:tblStyle styleId="{793D81CF-94F2-401A-BA57-92F5A7B2D0C5}" styleName="Medium Style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dk1"/>
              </a:solidFill>
            </a:ln>
          </a:left>
          <a:right>
            <a:ln w="12700" cmpd="sng">
              <a:solidFill>
                <a:schemeClr val="dk1"/>
              </a:solidFill>
            </a:ln>
          </a:right>
          <a:top>
            <a:ln w="12700" cmpd="sng">
              <a:solidFill>
                <a:schemeClr val="dk1"/>
              </a:solidFill>
            </a:ln>
          </a:top>
          <a:bottom>
            <a:ln w="12700" cmpd="sng">
              <a:solidFill>
                <a:schemeClr val="dk1"/>
              </a:solidFill>
            </a:ln>
          </a:bottom>
          <a:insideH>
            <a:ln w="12700" cmpd="sng">
              <a:solidFill>
                <a:schemeClr val="dk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Row>
  </a:tblStyle>
  <a:tblStyle styleId="{E8034E78-7F5D-4C2E-B375-FC64B27BC917}" styleName="Dark Style 1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dk1">
              <a:tint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dk1">
              <a:tint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dk1">
              <a:tint val="6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  <a:tblStyle styleId="{9D7B26C5-4107-4FEC-AEDC-1716B250A1EF}" styleName="Light Style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708"/>
    <p:restoredTop sz="94658"/>
  </p:normalViewPr>
  <p:slideViewPr>
    <p:cSldViewPr snapToGrid="0" snapToObjects="1">
      <p:cViewPr varScale="1">
        <p:scale>
          <a:sx n="120" d="100"/>
          <a:sy n="120" d="100"/>
        </p:scale>
        <p:origin x="728" y="184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A15A8BD-464B-8E48-9F68-EFE5E7A2E5EE}" type="datetimeFigureOut">
              <a:rPr lang="en-US" smtClean="0"/>
              <a:t>5/30/26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7B91530-B6A9-9C4B-B6FD-24519C43BC1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8384299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7B91530-B6A9-9C4B-B6FD-24519C43BC1F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2294327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The Multi-Layer Perceptron (MLP) is a fully connected neural network that processes input data as a one-dimensional vector.</a:t>
            </a:r>
          </a:p>
          <a:p>
            <a:b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For the MNIST dataset, each image has a size of 28 × 28 pixels. Since an MLP cannot directly handle 2D spatial structure, the image is first flattened into a vector of length 784 (28 × 28).</a:t>
            </a:r>
          </a:p>
          <a:p>
            <a:b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The architecture used in this model is:</a:t>
            </a:r>
          </a:p>
          <a:p>
            <a:b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 Input layer: 784 neurons (flattened image)</a:t>
            </a: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 Hidden layer 1: 256 neurons with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ReLU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activation</a:t>
            </a: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 Hidden layer 2: 128 neurons with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ReLU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activation</a:t>
            </a: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 Output layer: 10 neurons (one for each digit class 0–9)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7B91530-B6A9-9C4B-B6FD-24519C43BC1F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5675220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Celestia-R1---OverlayTitleH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85651" cy="6856214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3961367" y="1964267"/>
            <a:ext cx="7195852" cy="2421464"/>
          </a:xfrm>
        </p:spPr>
        <p:txBody>
          <a:bodyPr anchor="b">
            <a:normAutofit/>
          </a:bodyPr>
          <a:lstStyle>
            <a:lvl1pPr algn="r">
              <a:defRPr sz="4799">
                <a:effectLst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3961367" y="4385733"/>
            <a:ext cx="7195852" cy="1405467"/>
          </a:xfrm>
        </p:spPr>
        <p:txBody>
          <a:bodyPr anchor="t">
            <a:normAutofit/>
          </a:bodyPr>
          <a:lstStyle>
            <a:lvl1pPr marL="0" indent="0" algn="r">
              <a:buNone/>
              <a:defRPr sz="1799" cap="all">
                <a:solidFill>
                  <a:schemeClr val="tx1"/>
                </a:solidFill>
              </a:defRPr>
            </a:lvl1pPr>
            <a:lvl2pPr marL="45706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126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18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251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5314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237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19944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650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930232" y="5870576"/>
            <a:ext cx="1599783" cy="377825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5/30/26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961367" y="5870576"/>
            <a:ext cx="4892684" cy="377825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606196" y="5870576"/>
            <a:ext cx="551023" cy="377825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52263662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Celestia-R1---OverlayContentH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85651" cy="6856214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anchor="ctr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5/30/26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1235160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Celestia-R1---OverlayContentH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85651" cy="6856214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622" y="3308581"/>
            <a:ext cx="10128789" cy="1468800"/>
          </a:xfrm>
        </p:spPr>
        <p:txBody>
          <a:bodyPr anchor="b"/>
          <a:lstStyle>
            <a:lvl1pPr algn="l">
              <a:defRPr sz="3999" b="0" cap="all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5620" y="4777381"/>
            <a:ext cx="10128790" cy="860400"/>
          </a:xfrm>
        </p:spPr>
        <p:txBody>
          <a:bodyPr anchor="t">
            <a:normAutofit/>
          </a:bodyPr>
          <a:lstStyle>
            <a:lvl1pPr marL="0" indent="0" algn="l">
              <a:buNone/>
              <a:defRPr sz="1999" cap="all">
                <a:solidFill>
                  <a:schemeClr val="tx1"/>
                </a:solidFill>
              </a:defRPr>
            </a:lvl1pPr>
            <a:lvl2pPr marL="457063" indent="0">
              <a:buNone/>
              <a:defRPr sz="1799">
                <a:solidFill>
                  <a:schemeClr val="tx1">
                    <a:tint val="75000"/>
                  </a:schemeClr>
                </a:solidFill>
              </a:defRPr>
            </a:lvl2pPr>
            <a:lvl3pPr marL="914126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189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251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5314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2377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19944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6503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5/30/26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2319384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Celestia-R1---OverlayContentH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85651" cy="6856214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85623" y="2142067"/>
            <a:ext cx="4994033" cy="3649134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820379" y="2142068"/>
            <a:ext cx="4994031" cy="3649133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5/30/26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4509269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73416" y="2218267"/>
            <a:ext cx="4707828" cy="576262"/>
          </a:xfrm>
        </p:spPr>
        <p:txBody>
          <a:bodyPr anchor="b">
            <a:noAutofit/>
          </a:bodyPr>
          <a:lstStyle>
            <a:lvl1pPr marL="0" indent="0">
              <a:buNone/>
              <a:defRPr sz="2799" b="0"/>
            </a:lvl1pPr>
            <a:lvl2pPr marL="457063" indent="0">
              <a:buNone/>
              <a:defRPr sz="1999" b="1"/>
            </a:lvl2pPr>
            <a:lvl3pPr marL="914126" indent="0">
              <a:buNone/>
              <a:defRPr sz="1799" b="1"/>
            </a:lvl3pPr>
            <a:lvl4pPr marL="1371189" indent="0">
              <a:buNone/>
              <a:defRPr sz="1600" b="1"/>
            </a:lvl4pPr>
            <a:lvl5pPr marL="1828251" indent="0">
              <a:buNone/>
              <a:defRPr sz="1600" b="1"/>
            </a:lvl5pPr>
            <a:lvl6pPr marL="2285314" indent="0">
              <a:buNone/>
              <a:defRPr sz="1600" b="1"/>
            </a:lvl6pPr>
            <a:lvl7pPr marL="2742377" indent="0">
              <a:buNone/>
              <a:defRPr sz="1600" b="1"/>
            </a:lvl7pPr>
            <a:lvl8pPr marL="3199440" indent="0">
              <a:buNone/>
              <a:defRPr sz="1600" b="1"/>
            </a:lvl8pPr>
            <a:lvl9pPr marL="3656503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85623" y="2870201"/>
            <a:ext cx="4995622" cy="2920998"/>
          </a:xfrm>
        </p:spPr>
        <p:txBody>
          <a:bodyPr anchor="t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094416" y="2226734"/>
            <a:ext cx="4721583" cy="576262"/>
          </a:xfrm>
        </p:spPr>
        <p:txBody>
          <a:bodyPr anchor="b">
            <a:noAutofit/>
          </a:bodyPr>
          <a:lstStyle>
            <a:lvl1pPr marL="0" indent="0">
              <a:buNone/>
              <a:defRPr sz="2799" b="0"/>
            </a:lvl1pPr>
            <a:lvl2pPr marL="457063" indent="0">
              <a:buNone/>
              <a:defRPr sz="1999" b="1"/>
            </a:lvl2pPr>
            <a:lvl3pPr marL="914126" indent="0">
              <a:buNone/>
              <a:defRPr sz="1799" b="1"/>
            </a:lvl3pPr>
            <a:lvl4pPr marL="1371189" indent="0">
              <a:buNone/>
              <a:defRPr sz="1600" b="1"/>
            </a:lvl4pPr>
            <a:lvl5pPr marL="1828251" indent="0">
              <a:buNone/>
              <a:defRPr sz="1600" b="1"/>
            </a:lvl5pPr>
            <a:lvl6pPr marL="2285314" indent="0">
              <a:buNone/>
              <a:defRPr sz="1600" b="1"/>
            </a:lvl6pPr>
            <a:lvl7pPr marL="2742377" indent="0">
              <a:buNone/>
              <a:defRPr sz="1600" b="1"/>
            </a:lvl7pPr>
            <a:lvl8pPr marL="3199440" indent="0">
              <a:buNone/>
              <a:defRPr sz="1600" b="1"/>
            </a:lvl8pPr>
            <a:lvl9pPr marL="3656503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821967" y="2870201"/>
            <a:ext cx="4994033" cy="2920998"/>
          </a:xfrm>
        </p:spPr>
        <p:txBody>
          <a:bodyPr anchor="t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5/30/26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0138453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 descr="Celestia-R1---OverlayContentH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85651" cy="6856214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5/30/26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7532684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Celestia-R1---OverlayContentH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85651" cy="6856214"/>
          </a:xfrm>
          <a:prstGeom prst="rect">
            <a:avLst/>
          </a:prstGeom>
        </p:spPr>
      </p:pic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5/30/26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1420103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Celestia-R1---OverlayContentH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85651" cy="6856214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622" y="2074333"/>
            <a:ext cx="3679926" cy="1371600"/>
          </a:xfrm>
        </p:spPr>
        <p:txBody>
          <a:bodyPr anchor="b">
            <a:normAutofit/>
          </a:bodyPr>
          <a:lstStyle>
            <a:lvl1pPr algn="l">
              <a:defRPr sz="2399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646991" y="609601"/>
            <a:ext cx="6167419" cy="5181600"/>
          </a:xfrm>
        </p:spPr>
        <p:txBody>
          <a:bodyPr anchor="ctr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5622" y="3445933"/>
            <a:ext cx="3679926" cy="1828800"/>
          </a:xfrm>
        </p:spPr>
        <p:txBody>
          <a:bodyPr anchor="t">
            <a:normAutofit/>
          </a:bodyPr>
          <a:lstStyle>
            <a:lvl1pPr marL="0" indent="0">
              <a:buNone/>
              <a:defRPr sz="1600"/>
            </a:lvl1pPr>
            <a:lvl2pPr marL="457063" indent="0">
              <a:buNone/>
              <a:defRPr sz="1200"/>
            </a:lvl2pPr>
            <a:lvl3pPr marL="914126" indent="0">
              <a:buNone/>
              <a:defRPr sz="1000"/>
            </a:lvl3pPr>
            <a:lvl4pPr marL="1371189" indent="0">
              <a:buNone/>
              <a:defRPr sz="900"/>
            </a:lvl4pPr>
            <a:lvl5pPr marL="1828251" indent="0">
              <a:buNone/>
              <a:defRPr sz="900"/>
            </a:lvl5pPr>
            <a:lvl6pPr marL="2285314" indent="0">
              <a:buNone/>
              <a:defRPr sz="900"/>
            </a:lvl6pPr>
            <a:lvl7pPr marL="2742377" indent="0">
              <a:buNone/>
              <a:defRPr sz="900"/>
            </a:lvl7pPr>
            <a:lvl8pPr marL="3199440" indent="0">
              <a:buNone/>
              <a:defRPr sz="900"/>
            </a:lvl8pPr>
            <a:lvl9pPr marL="3656503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5/30/26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070214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Celestia-R1---OverlayContentH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85651" cy="6856214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622" y="1600200"/>
            <a:ext cx="6163048" cy="1371600"/>
          </a:xfrm>
        </p:spPr>
        <p:txBody>
          <a:bodyPr anchor="b">
            <a:normAutofit/>
          </a:bodyPr>
          <a:lstStyle>
            <a:lvl1pPr algn="l">
              <a:defRPr sz="2799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4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7534290" y="914400"/>
            <a:ext cx="3280120" cy="4572000"/>
          </a:xfrm>
          <a:prstGeom prst="roundRect">
            <a:avLst>
              <a:gd name="adj" fmla="val 4280"/>
            </a:avLst>
          </a:prstGeom>
          <a:ln w="50800" cap="sq" cmpd="dbl">
            <a:gradFill flip="none" rotWithShape="1">
              <a:gsLst>
                <a:gs pos="0">
                  <a:srgbClr val="FFFFFF"/>
                </a:gs>
                <a:gs pos="100000">
                  <a:schemeClr val="tx1">
                    <a:alpha val="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miter lim="800000"/>
          </a:ln>
          <a:effectLst>
            <a:outerShdw blurRad="254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063" indent="0">
              <a:buNone/>
              <a:defRPr sz="1600"/>
            </a:lvl2pPr>
            <a:lvl3pPr marL="914126" indent="0">
              <a:buNone/>
              <a:defRPr sz="1600"/>
            </a:lvl3pPr>
            <a:lvl4pPr marL="1371189" indent="0">
              <a:buNone/>
              <a:defRPr sz="1600"/>
            </a:lvl4pPr>
            <a:lvl5pPr marL="1828251" indent="0">
              <a:buNone/>
              <a:defRPr sz="1600"/>
            </a:lvl5pPr>
            <a:lvl6pPr marL="2285314" indent="0">
              <a:buNone/>
              <a:defRPr sz="1600"/>
            </a:lvl6pPr>
            <a:lvl7pPr marL="2742377" indent="0">
              <a:buNone/>
              <a:defRPr sz="1600"/>
            </a:lvl7pPr>
            <a:lvl8pPr marL="3199440" indent="0">
              <a:buNone/>
              <a:defRPr sz="1600"/>
            </a:lvl8pPr>
            <a:lvl9pPr marL="3656503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5622" y="2971800"/>
            <a:ext cx="6163048" cy="1828800"/>
          </a:xfrm>
        </p:spPr>
        <p:txBody>
          <a:bodyPr anchor="t">
            <a:normAutofit/>
          </a:bodyPr>
          <a:lstStyle>
            <a:lvl1pPr marL="0" indent="0">
              <a:buNone/>
              <a:defRPr sz="1799"/>
            </a:lvl1pPr>
            <a:lvl2pPr marL="457063" indent="0">
              <a:buNone/>
              <a:defRPr sz="1200"/>
            </a:lvl2pPr>
            <a:lvl3pPr marL="914126" indent="0">
              <a:buNone/>
              <a:defRPr sz="1000"/>
            </a:lvl3pPr>
            <a:lvl4pPr marL="1371189" indent="0">
              <a:buNone/>
              <a:defRPr sz="900"/>
            </a:lvl4pPr>
            <a:lvl5pPr marL="1828251" indent="0">
              <a:buNone/>
              <a:defRPr sz="900"/>
            </a:lvl5pPr>
            <a:lvl6pPr marL="2285314" indent="0">
              <a:buNone/>
              <a:defRPr sz="900"/>
            </a:lvl6pPr>
            <a:lvl7pPr marL="2742377" indent="0">
              <a:buNone/>
              <a:defRPr sz="900"/>
            </a:lvl7pPr>
            <a:lvl8pPr marL="3199440" indent="0">
              <a:buNone/>
              <a:defRPr sz="900"/>
            </a:lvl8pPr>
            <a:lvl9pPr marL="3656503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5/30/26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953498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ic 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Celestia-R1---OverlayContentH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85651" cy="6856214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622" y="4732865"/>
            <a:ext cx="10128789" cy="566738"/>
          </a:xfrm>
        </p:spPr>
        <p:txBody>
          <a:bodyPr anchor="b">
            <a:normAutofit/>
          </a:bodyPr>
          <a:lstStyle>
            <a:lvl1pPr algn="l">
              <a:defRPr sz="2399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371243" y="932112"/>
            <a:ext cx="8757546" cy="3164976"/>
          </a:xfrm>
          <a:prstGeom prst="roundRect">
            <a:avLst>
              <a:gd name="adj" fmla="val 4380"/>
            </a:avLst>
          </a:prstGeom>
          <a:ln w="50800" cap="sq" cmpd="dbl">
            <a:gradFill flip="none" rotWithShape="1">
              <a:gsLst>
                <a:gs pos="0">
                  <a:srgbClr val="FFFFFF"/>
                </a:gs>
                <a:gs pos="100000">
                  <a:schemeClr val="tx1">
                    <a:alpha val="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miter lim="800000"/>
          </a:ln>
          <a:effectLst>
            <a:outerShdw blurRad="254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063" indent="0">
              <a:buNone/>
              <a:defRPr sz="1600"/>
            </a:lvl2pPr>
            <a:lvl3pPr marL="914126" indent="0">
              <a:buNone/>
              <a:defRPr sz="1600"/>
            </a:lvl3pPr>
            <a:lvl4pPr marL="1371189" indent="0">
              <a:buNone/>
              <a:defRPr sz="1600"/>
            </a:lvl4pPr>
            <a:lvl5pPr marL="1828251" indent="0">
              <a:buNone/>
              <a:defRPr sz="1600"/>
            </a:lvl5pPr>
            <a:lvl6pPr marL="2285314" indent="0">
              <a:buNone/>
              <a:defRPr sz="1600"/>
            </a:lvl6pPr>
            <a:lvl7pPr marL="2742377" indent="0">
              <a:buNone/>
              <a:defRPr sz="1600"/>
            </a:lvl7pPr>
            <a:lvl8pPr marL="3199440" indent="0">
              <a:buNone/>
              <a:defRPr sz="1600"/>
            </a:lvl8pPr>
            <a:lvl9pPr marL="3656503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5622" y="5299603"/>
            <a:ext cx="10128789" cy="493712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063" indent="0">
              <a:buNone/>
              <a:defRPr sz="1200"/>
            </a:lvl2pPr>
            <a:lvl3pPr marL="914126" indent="0">
              <a:buNone/>
              <a:defRPr sz="1000"/>
            </a:lvl3pPr>
            <a:lvl4pPr marL="1371189" indent="0">
              <a:buNone/>
              <a:defRPr sz="900"/>
            </a:lvl4pPr>
            <a:lvl5pPr marL="1828251" indent="0">
              <a:buNone/>
              <a:defRPr sz="900"/>
            </a:lvl5pPr>
            <a:lvl6pPr marL="2285314" indent="0">
              <a:buNone/>
              <a:defRPr sz="900"/>
            </a:lvl6pPr>
            <a:lvl7pPr marL="2742377" indent="0">
              <a:buNone/>
              <a:defRPr sz="900"/>
            </a:lvl7pPr>
            <a:lvl8pPr marL="3199440" indent="0">
              <a:buNone/>
              <a:defRPr sz="900"/>
            </a:lvl8pPr>
            <a:lvl9pPr marL="3656503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5/30/26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3639867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Celestia-R1---OverlayContentH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85651" cy="6856214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623" y="609601"/>
            <a:ext cx="10128789" cy="3124199"/>
          </a:xfrm>
        </p:spPr>
        <p:txBody>
          <a:bodyPr anchor="ctr">
            <a:normAutofit/>
          </a:bodyPr>
          <a:lstStyle>
            <a:lvl1pPr algn="l">
              <a:defRPr sz="3199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5621" y="4343400"/>
            <a:ext cx="10128790" cy="1447800"/>
          </a:xfrm>
        </p:spPr>
        <p:txBody>
          <a:bodyPr anchor="ctr">
            <a:normAutofit/>
          </a:bodyPr>
          <a:lstStyle>
            <a:lvl1pPr marL="0" indent="0" algn="l">
              <a:buNone/>
              <a:defRPr sz="1999">
                <a:solidFill>
                  <a:schemeClr val="tx1"/>
                </a:solidFill>
              </a:defRPr>
            </a:lvl1pPr>
            <a:lvl2pPr marL="457063" indent="0">
              <a:buNone/>
              <a:defRPr sz="1799">
                <a:solidFill>
                  <a:schemeClr val="tx1">
                    <a:tint val="75000"/>
                  </a:schemeClr>
                </a:solidFill>
              </a:defRPr>
            </a:lvl2pPr>
            <a:lvl3pPr marL="914126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189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251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5314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2377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19944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6503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5/30/26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8697448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Picture 15" descr="Celestia-R1---OverlayContentH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85651" cy="6856214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10235201" y="2743200"/>
            <a:ext cx="609441" cy="584776"/>
          </a:xfrm>
          <a:prstGeom prst="rect">
            <a:avLst/>
          </a:prstGeom>
        </p:spPr>
        <p:txBody>
          <a:bodyPr vert="horz" lIns="91416" tIns="45708" rIns="91416" bIns="45708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7998" dirty="0">
                <a:solidFill>
                  <a:schemeClr val="tx1"/>
                </a:solidFill>
                <a:effectLst/>
              </a:rPr>
              <a:t>”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88148" y="823337"/>
            <a:ext cx="609441" cy="584776"/>
          </a:xfrm>
          <a:prstGeom prst="rect">
            <a:avLst/>
          </a:prstGeom>
        </p:spPr>
        <p:txBody>
          <a:bodyPr vert="horz" lIns="91416" tIns="45708" rIns="91416" bIns="45708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7998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92009" y="609602"/>
            <a:ext cx="9547912" cy="2743199"/>
          </a:xfrm>
        </p:spPr>
        <p:txBody>
          <a:bodyPr anchor="ctr">
            <a:normAutofit/>
          </a:bodyPr>
          <a:lstStyle>
            <a:lvl1pPr algn="l">
              <a:defRPr sz="3199" b="0" cap="none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0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097589" y="3352800"/>
            <a:ext cx="9336752" cy="381000"/>
          </a:xfrm>
        </p:spPr>
        <p:txBody>
          <a:bodyPr anchor="ctr"/>
          <a:lstStyle>
            <a:lvl1pPr marL="0" indent="0">
              <a:buFontTx/>
              <a:buNone/>
              <a:defRPr/>
            </a:lvl1pPr>
            <a:lvl2pPr marL="457063" indent="0">
              <a:buFontTx/>
              <a:buNone/>
              <a:defRPr/>
            </a:lvl2pPr>
            <a:lvl3pPr marL="914126" indent="0">
              <a:buFontTx/>
              <a:buNone/>
              <a:defRPr/>
            </a:lvl3pPr>
            <a:lvl4pPr marL="1371189" indent="0">
              <a:buFontTx/>
              <a:buNone/>
              <a:defRPr/>
            </a:lvl4pPr>
            <a:lvl5pPr marL="1828251" indent="0">
              <a:buFontTx/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7287" y="4343400"/>
            <a:ext cx="10149723" cy="1447800"/>
          </a:xfrm>
        </p:spPr>
        <p:txBody>
          <a:bodyPr anchor="ctr">
            <a:normAutofit/>
          </a:bodyPr>
          <a:lstStyle>
            <a:lvl1pPr marL="0" indent="0" algn="l">
              <a:buNone/>
              <a:defRPr sz="1999">
                <a:solidFill>
                  <a:schemeClr val="tx1"/>
                </a:solidFill>
              </a:defRPr>
            </a:lvl1pPr>
            <a:lvl2pPr marL="457063" indent="0">
              <a:buNone/>
              <a:defRPr sz="1799">
                <a:solidFill>
                  <a:schemeClr val="tx1">
                    <a:tint val="75000"/>
                  </a:schemeClr>
                </a:solidFill>
              </a:defRPr>
            </a:lvl2pPr>
            <a:lvl3pPr marL="914126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189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251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5314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2377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19944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6503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5/30/26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56306648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Celestia-R1---OverlayContentH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85651" cy="6856214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624" y="3308581"/>
            <a:ext cx="10128787" cy="1468800"/>
          </a:xfrm>
        </p:spPr>
        <p:txBody>
          <a:bodyPr anchor="b">
            <a:normAutofit/>
          </a:bodyPr>
          <a:lstStyle>
            <a:lvl1pPr algn="l">
              <a:defRPr sz="3199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5622" y="4777381"/>
            <a:ext cx="10128788" cy="860400"/>
          </a:xfrm>
        </p:spPr>
        <p:txBody>
          <a:bodyPr anchor="t">
            <a:normAutofit/>
          </a:bodyPr>
          <a:lstStyle>
            <a:lvl1pPr marL="0" indent="0" algn="l">
              <a:buNone/>
              <a:defRPr sz="1999">
                <a:solidFill>
                  <a:schemeClr val="tx1"/>
                </a:solidFill>
              </a:defRPr>
            </a:lvl1pPr>
            <a:lvl2pPr marL="457063" indent="0">
              <a:buNone/>
              <a:defRPr sz="1799">
                <a:solidFill>
                  <a:schemeClr val="tx1">
                    <a:tint val="75000"/>
                  </a:schemeClr>
                </a:solidFill>
              </a:defRPr>
            </a:lvl2pPr>
            <a:lvl3pPr marL="914126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189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251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5314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2377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19944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6503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5/30/26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69203977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10" descr="Celestia-R1---OverlayContentH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85651" cy="6856214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10235201" y="2743200"/>
            <a:ext cx="609441" cy="584776"/>
          </a:xfrm>
          <a:prstGeom prst="rect">
            <a:avLst/>
          </a:prstGeom>
        </p:spPr>
        <p:txBody>
          <a:bodyPr vert="horz" lIns="91416" tIns="45708" rIns="91416" bIns="45708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7998" dirty="0">
                <a:solidFill>
                  <a:schemeClr val="tx1"/>
                </a:solidFill>
                <a:effectLst/>
              </a:rPr>
              <a:t>”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88148" y="823337"/>
            <a:ext cx="609441" cy="584776"/>
          </a:xfrm>
          <a:prstGeom prst="rect">
            <a:avLst/>
          </a:prstGeom>
        </p:spPr>
        <p:txBody>
          <a:bodyPr vert="horz" lIns="91416" tIns="45708" rIns="91416" bIns="45708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7998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16" name="Title 1"/>
          <p:cNvSpPr>
            <a:spLocks noGrp="1"/>
          </p:cNvSpPr>
          <p:nvPr>
            <p:ph type="title"/>
          </p:nvPr>
        </p:nvSpPr>
        <p:spPr>
          <a:xfrm>
            <a:off x="992009" y="609602"/>
            <a:ext cx="9547912" cy="2743199"/>
          </a:xfrm>
        </p:spPr>
        <p:txBody>
          <a:bodyPr anchor="ctr">
            <a:normAutofit/>
          </a:bodyPr>
          <a:lstStyle>
            <a:lvl1pPr algn="l">
              <a:defRPr sz="3199" b="0" cap="none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0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685621" y="3886200"/>
            <a:ext cx="10132797" cy="889000"/>
          </a:xfrm>
        </p:spPr>
        <p:txBody>
          <a:bodyPr vert="horz" lIns="91440" tIns="45720" rIns="91440" bIns="45720" rtlCol="0" anchor="b">
            <a:normAutofit/>
          </a:bodyPr>
          <a:lstStyle>
            <a:lvl1pPr>
              <a:buNone/>
              <a:defRPr lang="en-US" sz="2399" b="0" cap="none" dirty="0">
                <a:ln w="3175" cmpd="sng">
                  <a:noFill/>
                </a:ln>
                <a:solidFill>
                  <a:schemeClr val="tx1"/>
                </a:solidFill>
                <a:effectLst/>
              </a:defRPr>
            </a:lvl1pPr>
          </a:lstStyle>
          <a:p>
            <a:pPr marL="0" lvl="0">
              <a:spcBef>
                <a:spcPct val="0"/>
              </a:spcBef>
              <a:buNone/>
            </a:pPr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5620" y="4775200"/>
            <a:ext cx="10132797" cy="1016000"/>
          </a:xfrm>
        </p:spPr>
        <p:txBody>
          <a:bodyPr anchor="t">
            <a:normAutofit/>
          </a:bodyPr>
          <a:lstStyle>
            <a:lvl1pPr marL="0" indent="0" algn="l">
              <a:buNone/>
              <a:defRPr sz="1799">
                <a:solidFill>
                  <a:schemeClr val="tx1"/>
                </a:solidFill>
              </a:defRPr>
            </a:lvl1pPr>
            <a:lvl2pPr marL="457063" indent="0">
              <a:buNone/>
              <a:defRPr sz="1799">
                <a:solidFill>
                  <a:schemeClr val="tx1">
                    <a:tint val="75000"/>
                  </a:schemeClr>
                </a:solidFill>
              </a:defRPr>
            </a:lvl2pPr>
            <a:lvl3pPr marL="914126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189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251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5314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2377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19944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6503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5/30/26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30712244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rue or Fals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Celestia-R1---OverlayContentH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85651" cy="6856214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623" y="609602"/>
            <a:ext cx="10128789" cy="2743199"/>
          </a:xfrm>
        </p:spPr>
        <p:txBody>
          <a:bodyPr vert="horz" lIns="91440" tIns="45720" rIns="91440" bIns="45720" rtlCol="0" anchor="ctr">
            <a:normAutofit/>
          </a:bodyPr>
          <a:lstStyle>
            <a:lvl1pPr>
              <a:defRPr lang="en-US" b="0" dirty="0"/>
            </a:lvl1pPr>
          </a:lstStyle>
          <a:p>
            <a:pPr marL="0"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0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685622" y="3505200"/>
            <a:ext cx="10128790" cy="838200"/>
          </a:xfrm>
        </p:spPr>
        <p:txBody>
          <a:bodyPr vert="horz" lIns="91440" tIns="45720" rIns="91440" bIns="45720" rtlCol="0" anchor="b">
            <a:normAutofit/>
          </a:bodyPr>
          <a:lstStyle>
            <a:lvl1pPr>
              <a:buNone/>
              <a:defRPr lang="en-US" sz="2799" b="0" cap="none" dirty="0">
                <a:ln w="3175" cmpd="sng">
                  <a:noFill/>
                </a:ln>
                <a:solidFill>
                  <a:schemeClr val="tx1"/>
                </a:solidFill>
                <a:effectLst/>
              </a:defRPr>
            </a:lvl1pPr>
          </a:lstStyle>
          <a:p>
            <a:pPr marL="0" lvl="0">
              <a:spcBef>
                <a:spcPct val="0"/>
              </a:spcBef>
              <a:buNone/>
            </a:pPr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5621" y="4343400"/>
            <a:ext cx="10128790" cy="1447800"/>
          </a:xfrm>
        </p:spPr>
        <p:txBody>
          <a:bodyPr anchor="t">
            <a:normAutofit/>
          </a:bodyPr>
          <a:lstStyle>
            <a:lvl1pPr marL="0" indent="0" algn="l">
              <a:buNone/>
              <a:defRPr sz="1799">
                <a:solidFill>
                  <a:schemeClr val="tx1"/>
                </a:solidFill>
              </a:defRPr>
            </a:lvl1pPr>
            <a:lvl2pPr marL="457063" indent="0">
              <a:buNone/>
              <a:defRPr sz="1799">
                <a:solidFill>
                  <a:schemeClr val="tx1">
                    <a:tint val="75000"/>
                  </a:schemeClr>
                </a:solidFill>
              </a:defRPr>
            </a:lvl2pPr>
            <a:lvl3pPr marL="914126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189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251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5314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2377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19944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6503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5/30/26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21148401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Celestia-R1---OverlayContentH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85651" cy="6856214"/>
          </a:xfrm>
          <a:prstGeom prst="rect">
            <a:avLst/>
          </a:prstGeom>
        </p:spPr>
      </p:pic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5/30/26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8" name="Title 1"/>
          <p:cNvSpPr>
            <a:spLocks noGrp="1"/>
          </p:cNvSpPr>
          <p:nvPr>
            <p:ph type="title"/>
          </p:nvPr>
        </p:nvSpPr>
        <p:spPr>
          <a:xfrm>
            <a:off x="685623" y="609601"/>
            <a:ext cx="10128787" cy="1456267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8300445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Celestia-R1---OverlayContentH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85651" cy="6856214"/>
          </a:xfrm>
          <a:prstGeom prst="rect">
            <a:avLst/>
          </a:prstGeom>
        </p:spPr>
      </p:pic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656420" y="609600"/>
            <a:ext cx="2157990" cy="5181601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85622" y="609600"/>
            <a:ext cx="7830076" cy="5181600"/>
          </a:xfrm>
        </p:spPr>
        <p:txBody>
          <a:bodyPr vert="eaVert" anchor="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5/30/26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534253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85623" y="609601"/>
            <a:ext cx="10128787" cy="1456267"/>
          </a:xfrm>
          <a:prstGeom prst="rect">
            <a:avLst/>
          </a:prstGeom>
          <a:effectLst/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5623" y="2142068"/>
            <a:ext cx="10128787" cy="364913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587423" y="5870576"/>
            <a:ext cx="1599783" cy="3778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 b="0" i="0">
                <a:solidFill>
                  <a:schemeClr val="tx1"/>
                </a:solidFill>
                <a:effectLst/>
                <a:latin typeface="+mn-lt"/>
              </a:defRPr>
            </a:lvl1pPr>
          </a:lstStyle>
          <a:p>
            <a:fld id="{5BCAD085-E8A6-8845-BD4E-CB4CCA059FC4}" type="datetimeFigureOut">
              <a:rPr lang="en-US" smtClean="0"/>
              <a:t>5/30/26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685622" y="5870576"/>
            <a:ext cx="7825621" cy="3778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 b="0" i="0">
                <a:solidFill>
                  <a:schemeClr val="tx1"/>
                </a:solidFill>
                <a:effectLst/>
                <a:latin typeface="+mn-lt"/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263387" y="5870576"/>
            <a:ext cx="551023" cy="3778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 b="0" i="0">
                <a:solidFill>
                  <a:schemeClr val="tx1"/>
                </a:solidFill>
                <a:effectLst/>
                <a:latin typeface="+mn-lt"/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35604383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  <p:sldLayoutId id="2147483674" r:id="rId14"/>
    <p:sldLayoutId id="2147483675" r:id="rId15"/>
    <p:sldLayoutId id="2147483676" r:id="rId16"/>
    <p:sldLayoutId id="2147483677" r:id="rId17"/>
  </p:sldLayoutIdLst>
  <p:txStyles>
    <p:titleStyle>
      <a:lvl1pPr algn="l" defTabSz="457063" rtl="0" eaLnBrk="1" latinLnBrk="0" hangingPunct="1">
        <a:spcBef>
          <a:spcPct val="0"/>
        </a:spcBef>
        <a:buNone/>
        <a:defRPr sz="3599" kern="1200" cap="all">
          <a:ln w="3175" cmpd="sng">
            <a:noFill/>
          </a:ln>
          <a:solidFill>
            <a:schemeClr val="tx1"/>
          </a:solidFill>
          <a:effectLst/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285664" indent="-285664" algn="l" defTabSz="457063" rtl="0" eaLnBrk="1" latinLnBrk="0" hangingPunct="1">
        <a:spcBef>
          <a:spcPts val="0"/>
        </a:spcBef>
        <a:spcAft>
          <a:spcPts val="1000"/>
        </a:spcAft>
        <a:buClr>
          <a:schemeClr val="tx1"/>
        </a:buClr>
        <a:buSzPct val="100000"/>
        <a:buFont typeface="Arial"/>
        <a:buChar char="•"/>
        <a:defRPr sz="1799" kern="1200" cap="none">
          <a:solidFill>
            <a:schemeClr val="tx1"/>
          </a:solidFill>
          <a:effectLst/>
          <a:latin typeface="+mn-lt"/>
          <a:ea typeface="+mn-ea"/>
          <a:cs typeface="+mn-cs"/>
        </a:defRPr>
      </a:lvl1pPr>
      <a:lvl2pPr marL="742727" indent="-285664" algn="l" defTabSz="457063" rtl="0" eaLnBrk="1" latinLnBrk="0" hangingPunct="1">
        <a:spcBef>
          <a:spcPts val="0"/>
        </a:spcBef>
        <a:spcAft>
          <a:spcPts val="1000"/>
        </a:spcAft>
        <a:buClr>
          <a:schemeClr val="tx1"/>
        </a:buClr>
        <a:buSzPct val="100000"/>
        <a:buFont typeface="Arial"/>
        <a:buChar char="•"/>
        <a:defRPr sz="1600" kern="1200" cap="none">
          <a:solidFill>
            <a:schemeClr val="tx1"/>
          </a:solidFill>
          <a:effectLst/>
          <a:latin typeface="+mn-lt"/>
          <a:ea typeface="+mn-ea"/>
          <a:cs typeface="+mn-cs"/>
        </a:defRPr>
      </a:lvl2pPr>
      <a:lvl3pPr marL="1199790" indent="-285664" algn="l" defTabSz="457063" rtl="0" eaLnBrk="1" latinLnBrk="0" hangingPunct="1">
        <a:spcBef>
          <a:spcPts val="0"/>
        </a:spcBef>
        <a:spcAft>
          <a:spcPts val="1000"/>
        </a:spcAft>
        <a:buClr>
          <a:schemeClr val="tx1"/>
        </a:buClr>
        <a:buSzPct val="100000"/>
        <a:buFont typeface="Arial"/>
        <a:buChar char="•"/>
        <a:defRPr sz="1400" kern="1200" cap="none">
          <a:solidFill>
            <a:schemeClr val="tx1"/>
          </a:solidFill>
          <a:effectLst/>
          <a:latin typeface="+mn-lt"/>
          <a:ea typeface="+mn-ea"/>
          <a:cs typeface="+mn-cs"/>
        </a:defRPr>
      </a:lvl3pPr>
      <a:lvl4pPr marL="1542587" indent="-171399" algn="l" defTabSz="457063" rtl="0" eaLnBrk="1" latinLnBrk="0" hangingPunct="1">
        <a:spcBef>
          <a:spcPts val="0"/>
        </a:spcBef>
        <a:spcAft>
          <a:spcPts val="1000"/>
        </a:spcAft>
        <a:buClr>
          <a:schemeClr val="tx1"/>
        </a:buClr>
        <a:buSzPct val="100000"/>
        <a:buFont typeface="Arial"/>
        <a:buChar char="•"/>
        <a:defRPr sz="1200" kern="1200" cap="none">
          <a:solidFill>
            <a:schemeClr val="tx1"/>
          </a:solidFill>
          <a:effectLst/>
          <a:latin typeface="+mn-lt"/>
          <a:ea typeface="+mn-ea"/>
          <a:cs typeface="+mn-cs"/>
        </a:defRPr>
      </a:lvl4pPr>
      <a:lvl5pPr marL="1999650" indent="-171399" algn="l" defTabSz="457063" rtl="0" eaLnBrk="1" latinLnBrk="0" hangingPunct="1">
        <a:spcBef>
          <a:spcPts val="0"/>
        </a:spcBef>
        <a:spcAft>
          <a:spcPts val="1000"/>
        </a:spcAft>
        <a:buClr>
          <a:schemeClr val="tx1"/>
        </a:buClr>
        <a:buSzPct val="100000"/>
        <a:buFont typeface="Arial"/>
        <a:buChar char="•"/>
        <a:defRPr sz="1200" kern="1200" cap="none">
          <a:solidFill>
            <a:schemeClr val="tx1"/>
          </a:solidFill>
          <a:effectLst/>
          <a:latin typeface="+mn-lt"/>
          <a:ea typeface="+mn-ea"/>
          <a:cs typeface="+mn-cs"/>
        </a:defRPr>
      </a:lvl5pPr>
      <a:lvl6pPr marL="2513846" indent="-228531" algn="l" defTabSz="457063" rtl="0" eaLnBrk="1" latinLnBrk="0" hangingPunct="1">
        <a:spcBef>
          <a:spcPts val="0"/>
        </a:spcBef>
        <a:spcAft>
          <a:spcPts val="1000"/>
        </a:spcAft>
        <a:buClr>
          <a:schemeClr val="tx1"/>
        </a:buClr>
        <a:buSzPct val="100000"/>
        <a:buFont typeface="Arial"/>
        <a:buChar char="•"/>
        <a:defRPr sz="1200" kern="1200" cap="none">
          <a:solidFill>
            <a:schemeClr val="tx1"/>
          </a:solidFill>
          <a:effectLst/>
          <a:latin typeface="+mn-lt"/>
          <a:ea typeface="+mn-ea"/>
          <a:cs typeface="+mn-cs"/>
        </a:defRPr>
      </a:lvl6pPr>
      <a:lvl7pPr marL="2970908" indent="-228531" algn="l" defTabSz="457063" rtl="0" eaLnBrk="1" latinLnBrk="0" hangingPunct="1">
        <a:spcBef>
          <a:spcPts val="0"/>
        </a:spcBef>
        <a:spcAft>
          <a:spcPts val="1000"/>
        </a:spcAft>
        <a:buClr>
          <a:schemeClr val="tx1"/>
        </a:buClr>
        <a:buSzPct val="100000"/>
        <a:buFont typeface="Arial"/>
        <a:buChar char="•"/>
        <a:defRPr sz="1200" kern="1200" cap="none">
          <a:solidFill>
            <a:schemeClr val="tx1"/>
          </a:solidFill>
          <a:effectLst/>
          <a:latin typeface="+mn-lt"/>
          <a:ea typeface="+mn-ea"/>
          <a:cs typeface="+mn-cs"/>
        </a:defRPr>
      </a:lvl7pPr>
      <a:lvl8pPr marL="3427971" indent="-228531" algn="l" defTabSz="457063" rtl="0" eaLnBrk="1" latinLnBrk="0" hangingPunct="1">
        <a:spcBef>
          <a:spcPts val="0"/>
        </a:spcBef>
        <a:spcAft>
          <a:spcPts val="1000"/>
        </a:spcAft>
        <a:buClr>
          <a:schemeClr val="tx1"/>
        </a:buClr>
        <a:buSzPct val="100000"/>
        <a:buFont typeface="Arial"/>
        <a:buChar char="•"/>
        <a:defRPr sz="1200" kern="1200" cap="none">
          <a:solidFill>
            <a:schemeClr val="tx1"/>
          </a:solidFill>
          <a:effectLst/>
          <a:latin typeface="+mn-lt"/>
          <a:ea typeface="+mn-ea"/>
          <a:cs typeface="+mn-cs"/>
        </a:defRPr>
      </a:lvl8pPr>
      <a:lvl9pPr marL="3885034" indent="-228531" algn="l" defTabSz="457063" rtl="0" eaLnBrk="1" latinLnBrk="0" hangingPunct="1">
        <a:spcBef>
          <a:spcPts val="0"/>
        </a:spcBef>
        <a:spcAft>
          <a:spcPts val="1000"/>
        </a:spcAft>
        <a:buClr>
          <a:schemeClr val="tx1"/>
        </a:buClr>
        <a:buSzPct val="100000"/>
        <a:buFont typeface="Arial"/>
        <a:buChar char="•"/>
        <a:defRPr sz="1200" kern="1200" cap="none">
          <a:solidFill>
            <a:schemeClr val="tx1"/>
          </a:solidFill>
          <a:effectLst/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063" rtl="0" eaLnBrk="1" latinLnBrk="0" hangingPunct="1">
        <a:defRPr sz="1799" kern="1200">
          <a:solidFill>
            <a:schemeClr val="tx1"/>
          </a:solidFill>
          <a:latin typeface="+mn-lt"/>
          <a:ea typeface="+mn-ea"/>
          <a:cs typeface="+mn-cs"/>
        </a:defRPr>
      </a:lvl1pPr>
      <a:lvl2pPr marL="457063" algn="l" defTabSz="457063" rtl="0" eaLnBrk="1" latinLnBrk="0" hangingPunct="1">
        <a:defRPr sz="1799" kern="1200">
          <a:solidFill>
            <a:schemeClr val="tx1"/>
          </a:solidFill>
          <a:latin typeface="+mn-lt"/>
          <a:ea typeface="+mn-ea"/>
          <a:cs typeface="+mn-cs"/>
        </a:defRPr>
      </a:lvl2pPr>
      <a:lvl3pPr marL="914126" algn="l" defTabSz="457063" rtl="0" eaLnBrk="1" latinLnBrk="0" hangingPunct="1">
        <a:defRPr sz="1799" kern="1200">
          <a:solidFill>
            <a:schemeClr val="tx1"/>
          </a:solidFill>
          <a:latin typeface="+mn-lt"/>
          <a:ea typeface="+mn-ea"/>
          <a:cs typeface="+mn-cs"/>
        </a:defRPr>
      </a:lvl3pPr>
      <a:lvl4pPr marL="1371189" algn="l" defTabSz="457063" rtl="0" eaLnBrk="1" latinLnBrk="0" hangingPunct="1">
        <a:defRPr sz="1799" kern="1200">
          <a:solidFill>
            <a:schemeClr val="tx1"/>
          </a:solidFill>
          <a:latin typeface="+mn-lt"/>
          <a:ea typeface="+mn-ea"/>
          <a:cs typeface="+mn-cs"/>
        </a:defRPr>
      </a:lvl4pPr>
      <a:lvl5pPr marL="1828251" algn="l" defTabSz="457063" rtl="0" eaLnBrk="1" latinLnBrk="0" hangingPunct="1">
        <a:defRPr sz="1799" kern="1200">
          <a:solidFill>
            <a:schemeClr val="tx1"/>
          </a:solidFill>
          <a:latin typeface="+mn-lt"/>
          <a:ea typeface="+mn-ea"/>
          <a:cs typeface="+mn-cs"/>
        </a:defRPr>
      </a:lvl5pPr>
      <a:lvl6pPr marL="2285314" algn="l" defTabSz="457063" rtl="0" eaLnBrk="1" latinLnBrk="0" hangingPunct="1">
        <a:defRPr sz="1799" kern="1200">
          <a:solidFill>
            <a:schemeClr val="tx1"/>
          </a:solidFill>
          <a:latin typeface="+mn-lt"/>
          <a:ea typeface="+mn-ea"/>
          <a:cs typeface="+mn-cs"/>
        </a:defRPr>
      </a:lvl6pPr>
      <a:lvl7pPr marL="2742377" algn="l" defTabSz="457063" rtl="0" eaLnBrk="1" latinLnBrk="0" hangingPunct="1">
        <a:defRPr sz="1799" kern="1200">
          <a:solidFill>
            <a:schemeClr val="tx1"/>
          </a:solidFill>
          <a:latin typeface="+mn-lt"/>
          <a:ea typeface="+mn-ea"/>
          <a:cs typeface="+mn-cs"/>
        </a:defRPr>
      </a:lvl7pPr>
      <a:lvl8pPr marL="3199440" algn="l" defTabSz="457063" rtl="0" eaLnBrk="1" latinLnBrk="0" hangingPunct="1">
        <a:defRPr sz="1799" kern="1200">
          <a:solidFill>
            <a:schemeClr val="tx1"/>
          </a:solidFill>
          <a:latin typeface="+mn-lt"/>
          <a:ea typeface="+mn-ea"/>
          <a:cs typeface="+mn-cs"/>
        </a:defRPr>
      </a:lvl8pPr>
      <a:lvl9pPr marL="3656503" algn="l" defTabSz="457063" rtl="0" eaLnBrk="1" latinLnBrk="0" hangingPunct="1">
        <a:defRPr sz="1799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/>
          <p:cNvSpPr txBox="1"/>
          <p:nvPr/>
        </p:nvSpPr>
        <p:spPr>
          <a:xfrm>
            <a:off x="928052" y="2115590"/>
            <a:ext cx="103327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4000" b="1" i="0" dirty="0">
                <a:solidFill>
                  <a:srgbClr val="FFFFFF"/>
                </a:solidFill>
              </a:rPr>
              <a:t>MNIST Handwritten Digit Recognition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052" y="3695008"/>
            <a:ext cx="103327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600" b="0" i="0" dirty="0">
                <a:solidFill>
                  <a:srgbClr val="00C2FF"/>
                </a:solidFill>
              </a:rPr>
              <a:t>Comparing MLP  ·  CNN  ·  Transformer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28052" y="5320146"/>
            <a:ext cx="1033272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000" b="0" i="0" dirty="0">
                <a:solidFill>
                  <a:srgbClr val="AABBCC"/>
                </a:solidFill>
              </a:rPr>
              <a:t>Assignment 4.1  |  Ziru Xu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/>
          <p:cNvSpPr txBox="1"/>
          <p:nvPr/>
        </p:nvSpPr>
        <p:spPr>
          <a:xfrm>
            <a:off x="457200" y="307811"/>
            <a:ext cx="82296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00C2FF"/>
                </a:solidFill>
              </a:rPr>
              <a:t>Problem &amp; Dataset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79" y="1280160"/>
            <a:ext cx="5320045" cy="173893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100" b="1" dirty="0">
                <a:solidFill>
                  <a:srgbClr val="00C2FF"/>
                </a:solidFill>
              </a:rPr>
              <a:t>The Problem</a:t>
            </a:r>
            <a:r>
              <a:rPr lang="en-US" sz="2100" b="1" dirty="0">
                <a:solidFill>
                  <a:srgbClr val="00C2FF"/>
                </a:solidFill>
              </a:rPr>
              <a:t> &amp; Dataset</a:t>
            </a:r>
            <a:endParaRPr sz="2100" b="1" dirty="0">
              <a:solidFill>
                <a:srgbClr val="00C2FF"/>
              </a:solidFill>
            </a:endParaRPr>
          </a:p>
          <a:p>
            <a:pPr algn="l">
              <a:spcBef>
                <a:spcPts val="300"/>
              </a:spcBef>
            </a:pPr>
            <a:r>
              <a:rPr sz="1900" dirty="0">
                <a:solidFill>
                  <a:srgbClr val="CCE5FF"/>
                </a:solidFill>
              </a:rPr>
              <a:t>•  Classify handwritten digits 0</a:t>
            </a:r>
            <a:r>
              <a:rPr lang="en-US" sz="1900" dirty="0">
                <a:solidFill>
                  <a:srgbClr val="CCE5FF"/>
                </a:solidFill>
              </a:rPr>
              <a:t>-</a:t>
            </a:r>
            <a:r>
              <a:rPr sz="1900" dirty="0">
                <a:solidFill>
                  <a:srgbClr val="CCE5FF"/>
                </a:solidFill>
              </a:rPr>
              <a:t>9</a:t>
            </a:r>
          </a:p>
          <a:p>
            <a:pPr algn="l">
              <a:spcBef>
                <a:spcPts val="300"/>
              </a:spcBef>
            </a:pPr>
            <a:r>
              <a:rPr sz="1900" dirty="0">
                <a:solidFill>
                  <a:srgbClr val="CCE5FF"/>
                </a:solidFill>
              </a:rPr>
              <a:t>•  MNIST: 60,000 train / 10,000 test images</a:t>
            </a:r>
          </a:p>
          <a:p>
            <a:pPr algn="l">
              <a:spcBef>
                <a:spcPts val="300"/>
              </a:spcBef>
            </a:pPr>
            <a:r>
              <a:rPr sz="1900" dirty="0">
                <a:solidFill>
                  <a:srgbClr val="CCE5FF"/>
                </a:solidFill>
              </a:rPr>
              <a:t>•  Image size: 28 × 28 grayscale pixels</a:t>
            </a:r>
          </a:p>
          <a:p>
            <a:pPr algn="l">
              <a:spcBef>
                <a:spcPts val="300"/>
              </a:spcBef>
            </a:pPr>
            <a:r>
              <a:rPr sz="1900" dirty="0">
                <a:solidFill>
                  <a:srgbClr val="CCE5FF"/>
                </a:solidFill>
              </a:rPr>
              <a:t>•  10 classes (digits 0 through 9)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/>
              <p:cNvSpPr txBox="1"/>
              <p:nvPr/>
            </p:nvSpPr>
            <p:spPr>
              <a:xfrm>
                <a:off x="640079" y="3291840"/>
                <a:ext cx="5989591" cy="3366499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l"/>
                <a:r>
                  <a:rPr sz="2100" b="1" dirty="0">
                    <a:solidFill>
                      <a:srgbClr val="00C2FF"/>
                    </a:solidFill>
                  </a:rPr>
                  <a:t>Data Preprocessing</a:t>
                </a:r>
              </a:p>
              <a:p>
                <a:pPr>
                  <a:spcBef>
                    <a:spcPts val="300"/>
                  </a:spcBef>
                </a:pPr>
                <a:r>
                  <a:rPr sz="1900" dirty="0">
                    <a:solidFill>
                      <a:srgbClr val="CCE5FF"/>
                    </a:solidFill>
                  </a:rPr>
                  <a:t>• </a:t>
                </a:r>
                <a:r>
                  <a:rPr lang="en-US" sz="1900" dirty="0" err="1">
                    <a:solidFill>
                      <a:srgbClr val="CCE5FF"/>
                    </a:solidFill>
                  </a:rPr>
                  <a:t>ToTensor</a:t>
                </a:r>
                <a:r>
                  <a:rPr lang="en-US" sz="1900" dirty="0">
                    <a:solidFill>
                      <a:srgbClr val="CCE5FF"/>
                    </a:solidFill>
                  </a:rPr>
                  <a:t> converts pixel values from integers [0, 255] to floats [0,1]</a:t>
                </a:r>
              </a:p>
              <a:p>
                <a:pPr>
                  <a:spcBef>
                    <a:spcPts val="300"/>
                  </a:spcBef>
                </a:pPr>
                <a:r>
                  <a:rPr lang="en-US" sz="1900" dirty="0">
                    <a:solidFill>
                      <a:srgbClr val="CCE5FF"/>
                    </a:solidFill>
                  </a:rPr>
                  <a:t>• Normalize(mean=0.5, std=0.5) — maps [0, 1] → [-1, 1] using 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ar-AE" sz="1900" i="1">
                            <a:solidFill>
                              <a:srgbClr val="CCE5FF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ar-AE" sz="1900">
                            <a:solidFill>
                              <a:srgbClr val="CCE5FF"/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p>
                        <m:r>
                          <a:rPr lang="ar-AE" sz="1900">
                            <a:solidFill>
                              <a:srgbClr val="CCE5FF"/>
                            </a:solidFill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  <m:r>
                      <a:rPr lang="ar-AE" sz="1900">
                        <a:solidFill>
                          <a:srgbClr val="CCE5FF"/>
                        </a:solidFill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ar-AE" sz="1900" i="1">
                            <a:solidFill>
                              <a:srgbClr val="CCE5FF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ar-AE" sz="1900">
                            <a:solidFill>
                              <a:srgbClr val="CCE5FF"/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  <m:r>
                          <a:rPr lang="ar-AE" sz="1900">
                            <a:solidFill>
                              <a:srgbClr val="CCE5FF"/>
                            </a:solidFill>
                            <a:latin typeface="Cambria Math" panose="02040503050406030204" pitchFamily="18" charset="0"/>
                          </a:rPr>
                          <m:t>−0.5</m:t>
                        </m:r>
                      </m:num>
                      <m:den>
                        <m:r>
                          <a:rPr lang="ar-AE" sz="1900">
                            <a:solidFill>
                              <a:srgbClr val="CCE5FF"/>
                            </a:solidFill>
                            <a:latin typeface="Cambria Math" panose="02040503050406030204" pitchFamily="18" charset="0"/>
                          </a:rPr>
                          <m:t>0.5</m:t>
                        </m:r>
                      </m:den>
                    </m:f>
                  </m:oMath>
                </a14:m>
                <a:br>
                  <a:rPr lang="ar-AE" dirty="0"/>
                </a:br>
                <a:r>
                  <a:rPr sz="1900" dirty="0">
                    <a:solidFill>
                      <a:srgbClr val="CCE5FF"/>
                    </a:solidFill>
                  </a:rPr>
                  <a:t>•  Noisy split</a:t>
                </a:r>
                <a:r>
                  <a:rPr lang="en-US" sz="1900" dirty="0">
                    <a:solidFill>
                      <a:srgbClr val="CCE5FF"/>
                    </a:solidFill>
                  </a:rPr>
                  <a:t> adds Gaussian noise sampled from 𝑁(0, 0.2</a:t>
                </a:r>
                <a:r>
                  <a:rPr lang="en-US" sz="1900" baseline="30000" dirty="0">
                    <a:solidFill>
                      <a:srgbClr val="CCE5FF"/>
                    </a:solidFill>
                  </a:rPr>
                  <a:t>2</a:t>
                </a:r>
                <a:r>
                  <a:rPr lang="en-US" sz="1900" dirty="0">
                    <a:solidFill>
                      <a:srgbClr val="CCE5FF"/>
                    </a:solidFill>
                  </a:rPr>
                  <a:t>) ) to each pixel </a:t>
                </a:r>
              </a:p>
              <a:p>
                <a:pPr>
                  <a:spcBef>
                    <a:spcPts val="300"/>
                  </a:spcBef>
                </a:pPr>
                <a:endParaRPr lang="en-US" sz="1900" dirty="0">
                  <a:solidFill>
                    <a:srgbClr val="CCE5FF"/>
                  </a:solidFill>
                </a:endParaRPr>
              </a:p>
              <a:p>
                <a:pPr>
                  <a:spcBef>
                    <a:spcPts val="300"/>
                  </a:spcBef>
                </a:pPr>
                <a:endParaRPr lang="en-US" sz="1900" dirty="0">
                  <a:solidFill>
                    <a:srgbClr val="CCE5FF"/>
                  </a:solidFill>
                </a:endParaRPr>
              </a:p>
              <a:p>
                <a:pPr>
                  <a:spcBef>
                    <a:spcPts val="300"/>
                  </a:spcBef>
                </a:pPr>
                <a:endParaRPr sz="1900" dirty="0">
                  <a:solidFill>
                    <a:srgbClr val="CCE5FF"/>
                  </a:solidFill>
                </a:endParaRPr>
              </a:p>
            </p:txBody>
          </p:sp>
        </mc:Choice>
        <mc:Fallback xmlns="">
          <p:sp>
            <p:nvSpPr>
              <p:cNvPr id="7" name="TextBox 6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0079" y="3291840"/>
                <a:ext cx="5989591" cy="3366499"/>
              </a:xfrm>
              <a:prstGeom prst="rect">
                <a:avLst/>
              </a:prstGeom>
              <a:blipFill>
                <a:blip r:embed="rId3"/>
                <a:stretch>
                  <a:fillRect l="-1268" t="-112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9" name="TextBox 8"/>
          <p:cNvSpPr txBox="1"/>
          <p:nvPr/>
        </p:nvSpPr>
        <p:spPr>
          <a:xfrm>
            <a:off x="6400800" y="128016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00C2FF"/>
                </a:solidFill>
              </a:rPr>
              <a:t>Sample Digits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5725443"/>
            <a:ext cx="50292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0" dirty="0">
                <a:solidFill>
                  <a:srgbClr val="AABBCC"/>
                </a:solidFill>
              </a:rPr>
              <a:t>Clean          vs         Noisy</a:t>
            </a: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FB2129EA-8D54-C13E-F346-5B44822DCE5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29671" y="1756796"/>
            <a:ext cx="4571458" cy="1855084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5D5F5EF1-7C5E-B387-262D-7612C9E1F63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29671" y="3755334"/>
            <a:ext cx="4571458" cy="1855084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/>
          <p:cNvSpPr txBox="1"/>
          <p:nvPr/>
        </p:nvSpPr>
        <p:spPr>
          <a:xfrm>
            <a:off x="457200" y="164592"/>
            <a:ext cx="100584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00C2FF"/>
                </a:solidFill>
              </a:rPr>
              <a:t>Model 1 — Multi-Layer Perceptron (MLP)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051560"/>
            <a:ext cx="5811012" cy="32470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100" b="1" dirty="0">
                <a:solidFill>
                  <a:srgbClr val="00C2FF"/>
                </a:solidFill>
              </a:rPr>
              <a:t>Overview</a:t>
            </a:r>
            <a:r>
              <a:rPr lang="en-US" sz="2100" b="1" dirty="0">
                <a:solidFill>
                  <a:srgbClr val="00C2FF"/>
                </a:solidFill>
              </a:rPr>
              <a:t> - No spatial awareness — pixels treated independently</a:t>
            </a:r>
            <a:endParaRPr sz="2100" b="1" dirty="0">
              <a:solidFill>
                <a:srgbClr val="00C2FF"/>
              </a:solidFill>
            </a:endParaRPr>
          </a:p>
          <a:p>
            <a:r>
              <a:rPr sz="1900" dirty="0">
                <a:solidFill>
                  <a:srgbClr val="CCE5FF"/>
                </a:solidFill>
              </a:rPr>
              <a:t>•</a:t>
            </a:r>
            <a:r>
              <a:rPr lang="en-US" sz="1900" dirty="0">
                <a:solidFill>
                  <a:srgbClr val="CCE5FF"/>
                </a:solidFill>
              </a:rPr>
              <a:t> </a:t>
            </a:r>
            <a:r>
              <a:rPr lang="en-US" dirty="0">
                <a:solidFill>
                  <a:srgbClr val="CCE5FF"/>
                </a:solidFill>
              </a:rPr>
              <a:t>The Multi-Layer Perceptron (MLP) is a fully connected neural network that processes input data as a one-dimensional </a:t>
            </a:r>
            <a:r>
              <a:rPr lang="en-US" dirty="0" err="1">
                <a:solidFill>
                  <a:srgbClr val="CCE5FF"/>
                </a:solidFill>
              </a:rPr>
              <a:t>vector.Since</a:t>
            </a:r>
            <a:r>
              <a:rPr lang="en-US" dirty="0">
                <a:solidFill>
                  <a:srgbClr val="CCE5FF"/>
                </a:solidFill>
              </a:rPr>
              <a:t> an MLP cannot directly handle 2D spatial structure, the image is first flattened into a vector of length 784 (28 × 28).</a:t>
            </a:r>
          </a:p>
          <a:p>
            <a:r>
              <a:rPr lang="en-US" dirty="0">
                <a:solidFill>
                  <a:srgbClr val="CCE5FF"/>
                </a:solidFill>
              </a:rPr>
              <a:t>•  Simple, fast baseline</a:t>
            </a:r>
          </a:p>
          <a:p>
            <a:endParaRPr lang="en-US" dirty="0"/>
          </a:p>
          <a:p>
            <a:br>
              <a:rPr lang="en-US" dirty="0"/>
            </a:br>
            <a:endParaRPr lang="en-US" dirty="0"/>
          </a:p>
        </p:txBody>
      </p:sp>
      <p:grpSp>
        <p:nvGrpSpPr>
          <p:cNvPr id="21" name="Group 20">
            <a:extLst>
              <a:ext uri="{FF2B5EF4-FFF2-40B4-BE49-F238E27FC236}">
                <a16:creationId xmlns:a16="http://schemas.microsoft.com/office/drawing/2014/main" id="{FC04B9D1-3C76-4374-DA56-2C7546B1B525}"/>
              </a:ext>
            </a:extLst>
          </p:cNvPr>
          <p:cNvGrpSpPr/>
          <p:nvPr/>
        </p:nvGrpSpPr>
        <p:grpSpPr>
          <a:xfrm>
            <a:off x="594360" y="4963649"/>
            <a:ext cx="11247120" cy="1463040"/>
            <a:chOff x="457200" y="3520440"/>
            <a:chExt cx="11247120" cy="1463040"/>
          </a:xfrm>
        </p:grpSpPr>
        <p:sp>
          <p:nvSpPr>
            <p:cNvPr id="6" name="Rectangle 5"/>
            <p:cNvSpPr/>
            <p:nvPr/>
          </p:nvSpPr>
          <p:spPr>
            <a:xfrm>
              <a:off x="1549908" y="3931920"/>
              <a:ext cx="2011680" cy="1051560"/>
            </a:xfrm>
            <a:prstGeom prst="rect">
              <a:avLst/>
            </a:prstGeom>
            <a:solidFill>
              <a:srgbClr val="00C2FF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7" name="TextBox 6"/>
            <p:cNvSpPr txBox="1"/>
            <p:nvPr/>
          </p:nvSpPr>
          <p:spPr>
            <a:xfrm>
              <a:off x="1549908" y="4069080"/>
              <a:ext cx="2011680" cy="91440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sz="1500" b="1" i="0">
                  <a:solidFill>
                    <a:srgbClr val="FFFFFF"/>
                  </a:solidFill>
                </a:rPr>
                <a:t>Input
784</a:t>
              </a:r>
            </a:p>
          </p:txBody>
        </p:sp>
        <p:sp>
          <p:nvSpPr>
            <p:cNvPr id="8" name="TextBox 7"/>
            <p:cNvSpPr txBox="1"/>
            <p:nvPr/>
          </p:nvSpPr>
          <p:spPr>
            <a:xfrm>
              <a:off x="3561588" y="4251960"/>
              <a:ext cx="347472" cy="45720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sz="2400" b="0" i="0">
                  <a:solidFill>
                    <a:srgbClr val="AABBCC"/>
                  </a:solidFill>
                </a:rPr>
                <a:t>→</a:t>
              </a:r>
            </a:p>
          </p:txBody>
        </p:sp>
        <p:sp>
          <p:nvSpPr>
            <p:cNvPr id="9" name="Rectangle 8"/>
            <p:cNvSpPr/>
            <p:nvPr/>
          </p:nvSpPr>
          <p:spPr>
            <a:xfrm>
              <a:off x="3909060" y="3931920"/>
              <a:ext cx="2011680" cy="1051560"/>
            </a:xfrm>
            <a:prstGeom prst="rect">
              <a:avLst/>
            </a:prstGeom>
            <a:solidFill>
              <a:srgbClr val="1A6BAA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10" name="TextBox 9"/>
            <p:cNvSpPr txBox="1"/>
            <p:nvPr/>
          </p:nvSpPr>
          <p:spPr>
            <a:xfrm>
              <a:off x="3909060" y="4069080"/>
              <a:ext cx="2011680" cy="91440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sz="1500" b="1" i="0">
                  <a:solidFill>
                    <a:srgbClr val="FFFFFF"/>
                  </a:solidFill>
                </a:rPr>
                <a:t>Hidden 1
256  ReLU</a:t>
              </a:r>
            </a:p>
          </p:txBody>
        </p:sp>
        <p:sp>
          <p:nvSpPr>
            <p:cNvPr id="11" name="TextBox 10"/>
            <p:cNvSpPr txBox="1"/>
            <p:nvPr/>
          </p:nvSpPr>
          <p:spPr>
            <a:xfrm>
              <a:off x="5920740" y="4251960"/>
              <a:ext cx="347472" cy="45720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sz="2400" b="0" i="0">
                  <a:solidFill>
                    <a:srgbClr val="AABBCC"/>
                  </a:solidFill>
                </a:rPr>
                <a:t>→</a:t>
              </a:r>
            </a:p>
          </p:txBody>
        </p:sp>
        <p:sp>
          <p:nvSpPr>
            <p:cNvPr id="12" name="Rectangle 11"/>
            <p:cNvSpPr/>
            <p:nvPr/>
          </p:nvSpPr>
          <p:spPr>
            <a:xfrm>
              <a:off x="6268212" y="3931920"/>
              <a:ext cx="2011680" cy="1051560"/>
            </a:xfrm>
            <a:prstGeom prst="rect">
              <a:avLst/>
            </a:prstGeom>
            <a:solidFill>
              <a:srgbClr val="1A6BAA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13" name="TextBox 12"/>
            <p:cNvSpPr txBox="1"/>
            <p:nvPr/>
          </p:nvSpPr>
          <p:spPr>
            <a:xfrm>
              <a:off x="6268212" y="4069080"/>
              <a:ext cx="2011680" cy="91440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sz="1500" b="1" i="0">
                  <a:solidFill>
                    <a:srgbClr val="FFFFFF"/>
                  </a:solidFill>
                </a:rPr>
                <a:t>Hidden 2
128  ReLU</a:t>
              </a:r>
            </a:p>
          </p:txBody>
        </p:sp>
        <p:sp>
          <p:nvSpPr>
            <p:cNvPr id="14" name="TextBox 13"/>
            <p:cNvSpPr txBox="1"/>
            <p:nvPr/>
          </p:nvSpPr>
          <p:spPr>
            <a:xfrm>
              <a:off x="8279892" y="4251960"/>
              <a:ext cx="347472" cy="45720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sz="2400" b="0" i="0">
                  <a:solidFill>
                    <a:srgbClr val="AABBCC"/>
                  </a:solidFill>
                </a:rPr>
                <a:t>→</a:t>
              </a:r>
            </a:p>
          </p:txBody>
        </p:sp>
        <p:sp>
          <p:nvSpPr>
            <p:cNvPr id="15" name="Rectangle 14"/>
            <p:cNvSpPr/>
            <p:nvPr/>
          </p:nvSpPr>
          <p:spPr>
            <a:xfrm>
              <a:off x="8627364" y="3931920"/>
              <a:ext cx="2011680" cy="1051560"/>
            </a:xfrm>
            <a:prstGeom prst="rect">
              <a:avLst/>
            </a:prstGeom>
            <a:solidFill>
              <a:srgbClr val="4CAF50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16" name="TextBox 15"/>
            <p:cNvSpPr txBox="1"/>
            <p:nvPr/>
          </p:nvSpPr>
          <p:spPr>
            <a:xfrm>
              <a:off x="8627364" y="4069080"/>
              <a:ext cx="2011680" cy="91440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sz="1500" b="1" i="0">
                  <a:solidFill>
                    <a:srgbClr val="FFFFFF"/>
                  </a:solidFill>
                </a:rPr>
                <a:t>Output
10 classes</a:t>
              </a:r>
            </a:p>
          </p:txBody>
        </p:sp>
        <p:sp>
          <p:nvSpPr>
            <p:cNvPr id="17" name="TextBox 16"/>
            <p:cNvSpPr txBox="1"/>
            <p:nvPr/>
          </p:nvSpPr>
          <p:spPr>
            <a:xfrm>
              <a:off x="457200" y="3520440"/>
              <a:ext cx="11247120" cy="34747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sz="1600" b="0" i="1" dirty="0">
                  <a:solidFill>
                    <a:srgbClr val="FFD700"/>
                  </a:solidFill>
                </a:rPr>
                <a:t>Flatten step: 28×28 → 784-dim vector</a:t>
              </a:r>
            </a:p>
          </p:txBody>
        </p:sp>
      </p:grpSp>
      <p:sp>
        <p:nvSpPr>
          <p:cNvPr id="18" name="TextBox 17"/>
          <p:cNvSpPr txBox="1"/>
          <p:nvPr/>
        </p:nvSpPr>
        <p:spPr>
          <a:xfrm>
            <a:off x="6217920" y="1051560"/>
            <a:ext cx="5303520" cy="71558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sz="2000" b="1" dirty="0">
                <a:solidFill>
                  <a:srgbClr val="FFD700"/>
                </a:solidFill>
              </a:rPr>
              <a:t>Hyperparameters</a:t>
            </a:r>
            <a:endParaRPr sz="2000" b="1" dirty="0">
              <a:solidFill>
                <a:srgbClr val="FFD700"/>
              </a:solidFill>
            </a:endParaRPr>
          </a:p>
          <a:p>
            <a:pPr algn="l">
              <a:spcBef>
                <a:spcPts val="300"/>
              </a:spcBef>
            </a:pPr>
            <a:endParaRPr sz="1800" dirty="0">
              <a:solidFill>
                <a:srgbClr val="CCE5FF"/>
              </a:solidFill>
            </a:endParaRPr>
          </a:p>
        </p:txBody>
      </p:sp>
      <p:graphicFrame>
        <p:nvGraphicFramePr>
          <p:cNvPr id="22" name="Table 21">
            <a:extLst>
              <a:ext uri="{FF2B5EF4-FFF2-40B4-BE49-F238E27FC236}">
                <a16:creationId xmlns:a16="http://schemas.microsoft.com/office/drawing/2014/main" id="{95D20C14-1A4E-5F86-E76F-3F606966BFA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80129184"/>
              </p:ext>
            </p:extLst>
          </p:nvPr>
        </p:nvGraphicFramePr>
        <p:xfrm>
          <a:off x="6720289" y="1502951"/>
          <a:ext cx="3415394" cy="175260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1673214">
                  <a:extLst>
                    <a:ext uri="{9D8B030D-6E8A-4147-A177-3AD203B41FA5}">
                      <a16:colId xmlns:a16="http://schemas.microsoft.com/office/drawing/2014/main" val="1940200092"/>
                    </a:ext>
                  </a:extLst>
                </a:gridCol>
                <a:gridCol w="1742180">
                  <a:extLst>
                    <a:ext uri="{9D8B030D-6E8A-4147-A177-3AD203B41FA5}">
                      <a16:colId xmlns:a16="http://schemas.microsoft.com/office/drawing/2014/main" val="76769100"/>
                    </a:ext>
                  </a:extLst>
                </a:gridCol>
              </a:tblGrid>
              <a:tr h="243581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800" kern="1200" dirty="0">
                          <a:solidFill>
                            <a:schemeClr val="accent1">
                              <a:lumMod val="20000"/>
                              <a:lumOff val="80000"/>
                            </a:schemeClr>
                          </a:solidFill>
                        </a:rPr>
                        <a:t>Hyperparameter</a:t>
                      </a:r>
                      <a:endParaRPr lang="en-US" sz="1800" kern="1200" dirty="0">
                        <a:solidFill>
                          <a:schemeClr val="accent1">
                            <a:lumMod val="20000"/>
                            <a:lumOff val="80000"/>
                          </a:schemeClr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7150" marR="57150" marT="38100" marB="3810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800" kern="1200" dirty="0">
                          <a:solidFill>
                            <a:schemeClr val="accent1">
                              <a:lumMod val="20000"/>
                              <a:lumOff val="80000"/>
                            </a:schemeClr>
                          </a:solidFill>
                        </a:rPr>
                        <a:t>Value</a:t>
                      </a:r>
                      <a:endParaRPr lang="en-US" sz="1800" kern="1200" dirty="0">
                        <a:solidFill>
                          <a:schemeClr val="accent1">
                            <a:lumMod val="20000"/>
                            <a:lumOff val="80000"/>
                          </a:schemeClr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7150" marR="57150" marT="38100" marB="38100" anchor="ctr"/>
                </a:tc>
                <a:extLst>
                  <a:ext uri="{0D108BD9-81ED-4DB2-BD59-A6C34878D82A}">
                    <a16:rowId xmlns:a16="http://schemas.microsoft.com/office/drawing/2014/main" val="975561491"/>
                  </a:ext>
                </a:extLst>
              </a:tr>
              <a:tr h="243581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800" kern="1200" dirty="0">
                          <a:solidFill>
                            <a:srgbClr val="CCE5FF"/>
                          </a:solidFill>
                        </a:rPr>
                        <a:t>Optimizer</a:t>
                      </a:r>
                      <a:endParaRPr lang="en-US" sz="1800" kern="1200" dirty="0">
                        <a:solidFill>
                          <a:srgbClr val="CCE5FF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7150" marR="57150" marT="38100" marB="3810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800" kern="1200" dirty="0">
                          <a:solidFill>
                            <a:srgbClr val="CCE5FF"/>
                          </a:solidFill>
                        </a:rPr>
                        <a:t>Adam</a:t>
                      </a:r>
                      <a:endParaRPr lang="en-US" sz="1800" kern="1200" dirty="0">
                        <a:solidFill>
                          <a:srgbClr val="CCE5FF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7150" marR="57150" marT="38100" marB="38100" anchor="ctr"/>
                </a:tc>
                <a:extLst>
                  <a:ext uri="{0D108BD9-81ED-4DB2-BD59-A6C34878D82A}">
                    <a16:rowId xmlns:a16="http://schemas.microsoft.com/office/drawing/2014/main" val="4234817580"/>
                  </a:ext>
                </a:extLst>
              </a:tr>
              <a:tr h="243581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800" kern="1200" dirty="0">
                          <a:solidFill>
                            <a:srgbClr val="CCE5FF"/>
                          </a:solidFill>
                        </a:rPr>
                        <a:t>Learning rate</a:t>
                      </a:r>
                      <a:endParaRPr lang="en-US" sz="1800" kern="1200" dirty="0">
                        <a:solidFill>
                          <a:srgbClr val="CCE5FF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7150" marR="57150" marT="38100" marB="3810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800" kern="1200" dirty="0">
                          <a:solidFill>
                            <a:srgbClr val="CCE5FF"/>
                          </a:solidFill>
                        </a:rPr>
                        <a:t>1e-3</a:t>
                      </a:r>
                      <a:endParaRPr lang="en-US" sz="1800" kern="1200" dirty="0">
                        <a:solidFill>
                          <a:srgbClr val="CCE5FF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7150" marR="57150" marT="38100" marB="38100" anchor="ctr"/>
                </a:tc>
                <a:extLst>
                  <a:ext uri="{0D108BD9-81ED-4DB2-BD59-A6C34878D82A}">
                    <a16:rowId xmlns:a16="http://schemas.microsoft.com/office/drawing/2014/main" val="2980104865"/>
                  </a:ext>
                </a:extLst>
              </a:tr>
              <a:tr h="243581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800" kern="1200">
                          <a:solidFill>
                            <a:srgbClr val="CCE5FF"/>
                          </a:solidFill>
                        </a:rPr>
                        <a:t>Loss function</a:t>
                      </a:r>
                      <a:endParaRPr lang="en-US" sz="1800" kern="1200">
                        <a:solidFill>
                          <a:srgbClr val="CCE5FF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7150" marR="57150" marT="38100" marB="3810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800" kern="1200" dirty="0" err="1">
                          <a:solidFill>
                            <a:srgbClr val="CCE5FF"/>
                          </a:solidFill>
                        </a:rPr>
                        <a:t>CrossEntropyLoss</a:t>
                      </a:r>
                      <a:endParaRPr lang="en-US" sz="1800" kern="1200" dirty="0">
                        <a:solidFill>
                          <a:srgbClr val="CCE5FF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7150" marR="57150" marT="38100" marB="38100" anchor="ctr"/>
                </a:tc>
                <a:extLst>
                  <a:ext uri="{0D108BD9-81ED-4DB2-BD59-A6C34878D82A}">
                    <a16:rowId xmlns:a16="http://schemas.microsoft.com/office/drawing/2014/main" val="2810740029"/>
                  </a:ext>
                </a:extLst>
              </a:tr>
              <a:tr h="243581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800" kern="1200" dirty="0">
                          <a:solidFill>
                            <a:srgbClr val="CCE5FF"/>
                          </a:solidFill>
                        </a:rPr>
                        <a:t>Epochs</a:t>
                      </a:r>
                      <a:endParaRPr lang="en-US" sz="1800" kern="1200" dirty="0">
                        <a:solidFill>
                          <a:srgbClr val="CCE5FF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7150" marR="57150" marT="38100" marB="3810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800" kern="1200" dirty="0">
                          <a:solidFill>
                            <a:srgbClr val="CCE5FF"/>
                          </a:solidFill>
                        </a:rPr>
                        <a:t>5</a:t>
                      </a:r>
                      <a:endParaRPr lang="en-US" sz="1800" kern="1200" dirty="0">
                        <a:solidFill>
                          <a:srgbClr val="CCE5FF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7150" marR="57150" marT="38100" marB="38100" anchor="ctr"/>
                </a:tc>
                <a:extLst>
                  <a:ext uri="{0D108BD9-81ED-4DB2-BD59-A6C34878D82A}">
                    <a16:rowId xmlns:a16="http://schemas.microsoft.com/office/drawing/2014/main" val="3901992980"/>
                  </a:ext>
                </a:extLst>
              </a:tr>
            </a:tbl>
          </a:graphicData>
        </a:graphic>
      </p:graphicFrame>
      <p:graphicFrame>
        <p:nvGraphicFramePr>
          <p:cNvPr id="23" name="Table 22">
            <a:extLst>
              <a:ext uri="{FF2B5EF4-FFF2-40B4-BE49-F238E27FC236}">
                <a16:creationId xmlns:a16="http://schemas.microsoft.com/office/drawing/2014/main" id="{6BE00F4E-62E5-A24A-1595-3C3BF897E63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43016891"/>
              </p:ext>
            </p:extLst>
          </p:nvPr>
        </p:nvGraphicFramePr>
        <p:xfrm>
          <a:off x="6094412" y="3332185"/>
          <a:ext cx="5811012" cy="140208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1937004">
                  <a:extLst>
                    <a:ext uri="{9D8B030D-6E8A-4147-A177-3AD203B41FA5}">
                      <a16:colId xmlns:a16="http://schemas.microsoft.com/office/drawing/2014/main" val="3854524796"/>
                    </a:ext>
                  </a:extLst>
                </a:gridCol>
                <a:gridCol w="1937004">
                  <a:extLst>
                    <a:ext uri="{9D8B030D-6E8A-4147-A177-3AD203B41FA5}">
                      <a16:colId xmlns:a16="http://schemas.microsoft.com/office/drawing/2014/main" val="388700447"/>
                    </a:ext>
                  </a:extLst>
                </a:gridCol>
                <a:gridCol w="1937004">
                  <a:extLst>
                    <a:ext uri="{9D8B030D-6E8A-4147-A177-3AD203B41FA5}">
                      <a16:colId xmlns:a16="http://schemas.microsoft.com/office/drawing/2014/main" val="2429665962"/>
                    </a:ext>
                  </a:extLst>
                </a:gridCol>
              </a:tblGrid>
              <a:tr h="303975">
                <a:tc>
                  <a:txBody>
                    <a:bodyPr/>
                    <a:lstStyle/>
                    <a:p>
                      <a:pPr marL="0" algn="ctr" defTabSz="457063" rtl="0" eaLnBrk="1" latinLnBrk="0" hangingPunct="1">
                        <a:buNone/>
                      </a:pPr>
                      <a:r>
                        <a:rPr lang="en-US" sz="1800" kern="1200">
                          <a:solidFill>
                            <a:schemeClr val="accent1">
                              <a:lumMod val="20000"/>
                              <a:lumOff val="80000"/>
                            </a:schemeClr>
                          </a:solidFill>
                          <a:latin typeface="+mn-lt"/>
                          <a:ea typeface="+mn-ea"/>
                          <a:cs typeface="+mn-cs"/>
                        </a:rPr>
                        <a:t>Layer</a:t>
                      </a:r>
                    </a:p>
                  </a:txBody>
                  <a:tcPr marL="57150" marR="57150" marT="38100" marB="38100" anchor="ctr"/>
                </a:tc>
                <a:tc>
                  <a:txBody>
                    <a:bodyPr/>
                    <a:lstStyle/>
                    <a:p>
                      <a:pPr marL="0" algn="ctr" defTabSz="457063" rtl="0" eaLnBrk="1" latinLnBrk="0" hangingPunct="1">
                        <a:buNone/>
                      </a:pPr>
                      <a:r>
                        <a:rPr lang="en-US" sz="1800" kern="1200">
                          <a:solidFill>
                            <a:schemeClr val="accent1">
                              <a:lumMod val="20000"/>
                              <a:lumOff val="80000"/>
                            </a:schemeClr>
                          </a:solidFill>
                          <a:latin typeface="+mn-lt"/>
                          <a:ea typeface="+mn-ea"/>
                          <a:cs typeface="+mn-cs"/>
                        </a:rPr>
                        <a:t>Calculation</a:t>
                      </a:r>
                    </a:p>
                  </a:txBody>
                  <a:tcPr marL="57150" marR="57150" marT="38100" marB="38100" anchor="ctr"/>
                </a:tc>
                <a:tc>
                  <a:txBody>
                    <a:bodyPr/>
                    <a:lstStyle/>
                    <a:p>
                      <a:pPr marL="0" algn="ctr" defTabSz="457063" rtl="0" eaLnBrk="1" latinLnBrk="0" hangingPunct="1">
                        <a:buNone/>
                      </a:pPr>
                      <a:r>
                        <a:rPr lang="en-US" sz="1800" kern="1200" dirty="0">
                          <a:solidFill>
                            <a:schemeClr val="accent1">
                              <a:lumMod val="20000"/>
                              <a:lumOff val="80000"/>
                            </a:schemeClr>
                          </a:solidFill>
                          <a:latin typeface="+mn-lt"/>
                          <a:ea typeface="+mn-ea"/>
                          <a:cs typeface="+mn-cs"/>
                        </a:rPr>
                        <a:t>Params</a:t>
                      </a:r>
                    </a:p>
                  </a:txBody>
                  <a:tcPr marL="57150" marR="57150" marT="38100" marB="38100" anchor="ctr"/>
                </a:tc>
                <a:extLst>
                  <a:ext uri="{0D108BD9-81ED-4DB2-BD59-A6C34878D82A}">
                    <a16:rowId xmlns:a16="http://schemas.microsoft.com/office/drawing/2014/main" val="601029515"/>
                  </a:ext>
                </a:extLst>
              </a:tr>
              <a:tr h="303975">
                <a:tc>
                  <a:txBody>
                    <a:bodyPr/>
                    <a:lstStyle/>
                    <a:p>
                      <a:pPr marL="0" algn="ctr" defTabSz="457063" rtl="0" eaLnBrk="1" latinLnBrk="0" hangingPunct="1">
                        <a:buNone/>
                      </a:pPr>
                      <a:r>
                        <a:rPr lang="en-US" sz="1800" kern="1200" dirty="0">
                          <a:solidFill>
                            <a:srgbClr val="CCE5FF"/>
                          </a:solidFill>
                          <a:latin typeface="+mn-lt"/>
                          <a:ea typeface="+mn-ea"/>
                          <a:cs typeface="+mn-cs"/>
                        </a:rPr>
                        <a:t>Linear(784 → 256)</a:t>
                      </a:r>
                    </a:p>
                  </a:txBody>
                  <a:tcPr marL="57150" marR="57150" marT="38100" marB="38100" anchor="ctr"/>
                </a:tc>
                <a:tc>
                  <a:txBody>
                    <a:bodyPr/>
                    <a:lstStyle/>
                    <a:p>
                      <a:pPr marL="0" algn="ctr" defTabSz="457063" rtl="0" eaLnBrk="1" latinLnBrk="0" hangingPunct="1">
                        <a:buNone/>
                      </a:pPr>
                      <a:r>
                        <a:rPr lang="en-US" sz="1800" kern="1200">
                          <a:solidFill>
                            <a:srgbClr val="CCE5FF"/>
                          </a:solidFill>
                          <a:latin typeface="+mn-lt"/>
                          <a:ea typeface="+mn-ea"/>
                          <a:cs typeface="+mn-cs"/>
                        </a:rPr>
                        <a:t>784×256 + 256</a:t>
                      </a:r>
                    </a:p>
                  </a:txBody>
                  <a:tcPr marL="57150" marR="57150" marT="38100" marB="38100" anchor="ctr"/>
                </a:tc>
                <a:tc>
                  <a:txBody>
                    <a:bodyPr/>
                    <a:lstStyle/>
                    <a:p>
                      <a:pPr marL="0" algn="ctr" defTabSz="457063" rtl="0" eaLnBrk="1" latinLnBrk="0" hangingPunct="1">
                        <a:buNone/>
                      </a:pPr>
                      <a:r>
                        <a:rPr lang="en-US" sz="1800" kern="1200">
                          <a:solidFill>
                            <a:srgbClr val="CCE5FF"/>
                          </a:solidFill>
                          <a:latin typeface="+mn-lt"/>
                          <a:ea typeface="+mn-ea"/>
                          <a:cs typeface="+mn-cs"/>
                        </a:rPr>
                        <a:t>200,960</a:t>
                      </a:r>
                    </a:p>
                  </a:txBody>
                  <a:tcPr marL="57150" marR="57150" marT="38100" marB="38100" anchor="ctr"/>
                </a:tc>
                <a:extLst>
                  <a:ext uri="{0D108BD9-81ED-4DB2-BD59-A6C34878D82A}">
                    <a16:rowId xmlns:a16="http://schemas.microsoft.com/office/drawing/2014/main" val="144194146"/>
                  </a:ext>
                </a:extLst>
              </a:tr>
              <a:tr h="303975">
                <a:tc>
                  <a:txBody>
                    <a:bodyPr/>
                    <a:lstStyle/>
                    <a:p>
                      <a:pPr marL="0" algn="ctr" defTabSz="457063" rtl="0" eaLnBrk="1" latinLnBrk="0" hangingPunct="1">
                        <a:buNone/>
                      </a:pPr>
                      <a:r>
                        <a:rPr lang="en-US" sz="1800" kern="1200">
                          <a:solidFill>
                            <a:srgbClr val="CCE5FF"/>
                          </a:solidFill>
                          <a:latin typeface="+mn-lt"/>
                          <a:ea typeface="+mn-ea"/>
                          <a:cs typeface="+mn-cs"/>
                        </a:rPr>
                        <a:t>Linear(256 → 128)</a:t>
                      </a:r>
                    </a:p>
                  </a:txBody>
                  <a:tcPr marL="57150" marR="57150" marT="38100" marB="38100" anchor="ctr"/>
                </a:tc>
                <a:tc>
                  <a:txBody>
                    <a:bodyPr/>
                    <a:lstStyle/>
                    <a:p>
                      <a:pPr marL="0" algn="ctr" defTabSz="457063" rtl="0" eaLnBrk="1" latinLnBrk="0" hangingPunct="1">
                        <a:buNone/>
                      </a:pPr>
                      <a:r>
                        <a:rPr lang="en-US" sz="1800" kern="1200">
                          <a:solidFill>
                            <a:srgbClr val="CCE5FF"/>
                          </a:solidFill>
                          <a:latin typeface="+mn-lt"/>
                          <a:ea typeface="+mn-ea"/>
                          <a:cs typeface="+mn-cs"/>
                        </a:rPr>
                        <a:t>256×128 + 128</a:t>
                      </a:r>
                    </a:p>
                  </a:txBody>
                  <a:tcPr marL="57150" marR="57150" marT="38100" marB="38100" anchor="ctr"/>
                </a:tc>
                <a:tc>
                  <a:txBody>
                    <a:bodyPr/>
                    <a:lstStyle/>
                    <a:p>
                      <a:pPr marL="0" algn="ctr" defTabSz="457063" rtl="0" eaLnBrk="1" latinLnBrk="0" hangingPunct="1">
                        <a:buNone/>
                      </a:pPr>
                      <a:r>
                        <a:rPr lang="en-US" sz="1800" kern="1200">
                          <a:solidFill>
                            <a:srgbClr val="CCE5FF"/>
                          </a:solidFill>
                          <a:latin typeface="+mn-lt"/>
                          <a:ea typeface="+mn-ea"/>
                          <a:cs typeface="+mn-cs"/>
                        </a:rPr>
                        <a:t>32,896</a:t>
                      </a:r>
                    </a:p>
                  </a:txBody>
                  <a:tcPr marL="57150" marR="57150" marT="38100" marB="38100" anchor="ctr"/>
                </a:tc>
                <a:extLst>
                  <a:ext uri="{0D108BD9-81ED-4DB2-BD59-A6C34878D82A}">
                    <a16:rowId xmlns:a16="http://schemas.microsoft.com/office/drawing/2014/main" val="2918573491"/>
                  </a:ext>
                </a:extLst>
              </a:tr>
              <a:tr h="303975">
                <a:tc>
                  <a:txBody>
                    <a:bodyPr/>
                    <a:lstStyle/>
                    <a:p>
                      <a:pPr marL="0" algn="ctr" defTabSz="457063" rtl="0" eaLnBrk="1" latinLnBrk="0" hangingPunct="1">
                        <a:buNone/>
                      </a:pPr>
                      <a:r>
                        <a:rPr lang="en-US" sz="1800" kern="1200">
                          <a:solidFill>
                            <a:srgbClr val="CCE5FF"/>
                          </a:solidFill>
                          <a:latin typeface="+mn-lt"/>
                          <a:ea typeface="+mn-ea"/>
                          <a:cs typeface="+mn-cs"/>
                        </a:rPr>
                        <a:t>Linear(128 → 10)</a:t>
                      </a:r>
                    </a:p>
                  </a:txBody>
                  <a:tcPr marL="57150" marR="57150" marT="38100" marB="38100" anchor="ctr"/>
                </a:tc>
                <a:tc>
                  <a:txBody>
                    <a:bodyPr/>
                    <a:lstStyle/>
                    <a:p>
                      <a:pPr marL="0" algn="ctr" defTabSz="457063" rtl="0" eaLnBrk="1" latinLnBrk="0" hangingPunct="1">
                        <a:buNone/>
                      </a:pPr>
                      <a:r>
                        <a:rPr lang="en-US" sz="1800" kern="1200">
                          <a:solidFill>
                            <a:srgbClr val="CCE5FF"/>
                          </a:solidFill>
                          <a:latin typeface="+mn-lt"/>
                          <a:ea typeface="+mn-ea"/>
                          <a:cs typeface="+mn-cs"/>
                        </a:rPr>
                        <a:t>128×10 + 10</a:t>
                      </a:r>
                    </a:p>
                  </a:txBody>
                  <a:tcPr marL="57150" marR="57150" marT="38100" marB="38100" anchor="ctr"/>
                </a:tc>
                <a:tc>
                  <a:txBody>
                    <a:bodyPr/>
                    <a:lstStyle/>
                    <a:p>
                      <a:pPr marL="0" algn="ctr" defTabSz="457063" rtl="0" eaLnBrk="1" latinLnBrk="0" hangingPunct="1">
                        <a:buNone/>
                      </a:pPr>
                      <a:r>
                        <a:rPr lang="en-US" sz="1800" kern="1200" dirty="0">
                          <a:solidFill>
                            <a:srgbClr val="CCE5FF"/>
                          </a:solidFill>
                          <a:latin typeface="+mn-lt"/>
                          <a:ea typeface="+mn-ea"/>
                          <a:cs typeface="+mn-cs"/>
                        </a:rPr>
                        <a:t>1,290</a:t>
                      </a:r>
                    </a:p>
                  </a:txBody>
                  <a:tcPr marL="57150" marR="57150" marT="38100" marB="38100" anchor="ctr"/>
                </a:tc>
                <a:extLst>
                  <a:ext uri="{0D108BD9-81ED-4DB2-BD59-A6C34878D82A}">
                    <a16:rowId xmlns:a16="http://schemas.microsoft.com/office/drawing/2014/main" val="414444564"/>
                  </a:ext>
                </a:extLst>
              </a:tr>
            </a:tbl>
          </a:graphicData>
        </a:graphic>
      </p:graphicFrame>
      <p:sp>
        <p:nvSpPr>
          <p:cNvPr id="25" name="TextBox 24">
            <a:extLst>
              <a:ext uri="{FF2B5EF4-FFF2-40B4-BE49-F238E27FC236}">
                <a16:creationId xmlns:a16="http://schemas.microsoft.com/office/drawing/2014/main" id="{5156F814-2DAA-2569-92C5-7A42E5772A7E}"/>
              </a:ext>
            </a:extLst>
          </p:cNvPr>
          <p:cNvSpPr txBox="1"/>
          <p:nvPr/>
        </p:nvSpPr>
        <p:spPr>
          <a:xfrm>
            <a:off x="9845279" y="4714975"/>
            <a:ext cx="609783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i="0" dirty="0">
                <a:solidFill>
                  <a:srgbClr val="CCCCCC"/>
                </a:solidFill>
                <a:effectLst/>
                <a:latin typeface="-apple-system"/>
              </a:rPr>
              <a:t>235,146 parameters</a:t>
            </a:r>
            <a:endParaRPr lang="en-US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/>
          <p:cNvSpPr txBox="1"/>
          <p:nvPr/>
        </p:nvSpPr>
        <p:spPr>
          <a:xfrm>
            <a:off x="457200" y="164592"/>
            <a:ext cx="100584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00C2FF"/>
                </a:solidFill>
              </a:rPr>
              <a:t>Model 2 — Convolutional Neural Network (CNN)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051560"/>
            <a:ext cx="5303520" cy="297773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100" b="1" dirty="0">
                <a:solidFill>
                  <a:srgbClr val="00C2FF"/>
                </a:solidFill>
              </a:rPr>
              <a:t>Overview</a:t>
            </a:r>
          </a:p>
          <a:p>
            <a:r>
              <a:rPr lang="en-US" dirty="0">
                <a:solidFill>
                  <a:srgbClr val="CCE5FF"/>
                </a:solidFill>
              </a:rPr>
              <a:t>•</a:t>
            </a:r>
            <a:r>
              <a:rPr dirty="0">
                <a:solidFill>
                  <a:srgbClr val="CCE5FF"/>
                </a:solidFill>
              </a:rPr>
              <a:t>  </a:t>
            </a:r>
            <a:r>
              <a:rPr lang="en-US" dirty="0">
                <a:solidFill>
                  <a:srgbClr val="CCE5FF"/>
                </a:solidFill>
              </a:rPr>
              <a:t>The Convolutional Neural Network (CNN) is designed to process image data by preserving spatial structure and learning local patterns such as edges and shapes.</a:t>
            </a:r>
          </a:p>
          <a:p>
            <a:r>
              <a:rPr lang="en-US" dirty="0">
                <a:solidFill>
                  <a:srgbClr val="CCE5FF"/>
                </a:solidFill>
              </a:rPr>
              <a:t>•  Unlike the MLP, the CNN takes the input image in its original 28 × 28 grayscale format and applies convolutional filters to extract features.</a:t>
            </a:r>
          </a:p>
          <a:p>
            <a:r>
              <a:rPr sz="1900" dirty="0">
                <a:solidFill>
                  <a:srgbClr val="CCE5FF"/>
                </a:solidFill>
              </a:rPr>
              <a:t>•  Spatial hierarchy via two conv layers + pooling</a:t>
            </a:r>
          </a:p>
          <a:p>
            <a:pPr algn="l">
              <a:spcBef>
                <a:spcPts val="300"/>
              </a:spcBef>
            </a:pPr>
            <a:r>
              <a:rPr sz="1900" dirty="0">
                <a:solidFill>
                  <a:srgbClr val="CCE5FF"/>
                </a:solidFill>
              </a:rPr>
              <a:t>•  Far fewer parameters than equivalent MLP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929052" y="5893308"/>
            <a:ext cx="228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 dirty="0">
                <a:solidFill>
                  <a:srgbClr val="AABBCC"/>
                </a:solidFill>
              </a:rPr>
              <a:t>→</a:t>
            </a:r>
          </a:p>
        </p:txBody>
      </p:sp>
      <p:grpSp>
        <p:nvGrpSpPr>
          <p:cNvPr id="21" name="Group 20">
            <a:extLst>
              <a:ext uri="{FF2B5EF4-FFF2-40B4-BE49-F238E27FC236}">
                <a16:creationId xmlns:a16="http://schemas.microsoft.com/office/drawing/2014/main" id="{2A59AF20-6BFE-9D1A-2A5D-A7CEF3B7ACE9}"/>
              </a:ext>
            </a:extLst>
          </p:cNvPr>
          <p:cNvGrpSpPr/>
          <p:nvPr/>
        </p:nvGrpSpPr>
        <p:grpSpPr>
          <a:xfrm>
            <a:off x="1293812" y="5504688"/>
            <a:ext cx="9601200" cy="1188720"/>
            <a:chOff x="1293876" y="3749039"/>
            <a:chExt cx="9601200" cy="1188720"/>
          </a:xfrm>
        </p:grpSpPr>
        <p:sp>
          <p:nvSpPr>
            <p:cNvPr id="6" name="Rectangle 5"/>
            <p:cNvSpPr/>
            <p:nvPr/>
          </p:nvSpPr>
          <p:spPr>
            <a:xfrm>
              <a:off x="1293876" y="3749039"/>
              <a:ext cx="1737360" cy="1188720"/>
            </a:xfrm>
            <a:prstGeom prst="rect">
              <a:avLst/>
            </a:prstGeom>
            <a:solidFill>
              <a:srgbClr val="1A6BAA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7" name="TextBox 6"/>
            <p:cNvSpPr txBox="1"/>
            <p:nvPr/>
          </p:nvSpPr>
          <p:spPr>
            <a:xfrm>
              <a:off x="1293876" y="3840479"/>
              <a:ext cx="1737360" cy="109728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sz="1400" b="0" i="0">
                  <a:solidFill>
                    <a:srgbClr val="FFFFFF"/>
                  </a:solidFill>
                </a:rPr>
                <a:t>Conv1
32 filters 3×3
ReLU</a:t>
              </a:r>
            </a:p>
          </p:txBody>
        </p:sp>
        <p:sp>
          <p:nvSpPr>
            <p:cNvPr id="8" name="TextBox 7"/>
            <p:cNvSpPr txBox="1"/>
            <p:nvPr/>
          </p:nvSpPr>
          <p:spPr>
            <a:xfrm>
              <a:off x="3031236" y="4114799"/>
              <a:ext cx="228600" cy="50292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sz="2000" b="0" i="0">
                  <a:solidFill>
                    <a:srgbClr val="AABBCC"/>
                  </a:solidFill>
                </a:rPr>
                <a:t>→</a:t>
              </a:r>
            </a:p>
          </p:txBody>
        </p:sp>
        <p:sp>
          <p:nvSpPr>
            <p:cNvPr id="9" name="Rectangle 8"/>
            <p:cNvSpPr/>
            <p:nvPr/>
          </p:nvSpPr>
          <p:spPr>
            <a:xfrm>
              <a:off x="3259836" y="3749039"/>
              <a:ext cx="1737360" cy="1188720"/>
            </a:xfrm>
            <a:prstGeom prst="rect">
              <a:avLst/>
            </a:prstGeom>
            <a:solidFill>
              <a:srgbClr val="1A6BAA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10" name="TextBox 9"/>
            <p:cNvSpPr txBox="1"/>
            <p:nvPr/>
          </p:nvSpPr>
          <p:spPr>
            <a:xfrm>
              <a:off x="3259836" y="3840479"/>
              <a:ext cx="1737360" cy="109728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sz="1400" b="0" i="0">
                  <a:solidFill>
                    <a:srgbClr val="FFFFFF"/>
                  </a:solidFill>
                </a:rPr>
                <a:t>Conv2
64 filters 3×3
ReLU</a:t>
              </a:r>
            </a:p>
          </p:txBody>
        </p:sp>
        <p:sp>
          <p:nvSpPr>
            <p:cNvPr id="11" name="TextBox 10"/>
            <p:cNvSpPr txBox="1"/>
            <p:nvPr/>
          </p:nvSpPr>
          <p:spPr>
            <a:xfrm>
              <a:off x="4997196" y="4114799"/>
              <a:ext cx="228600" cy="50292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sz="2000" b="0" i="0">
                  <a:solidFill>
                    <a:srgbClr val="AABBCC"/>
                  </a:solidFill>
                </a:rPr>
                <a:t>→</a:t>
              </a:r>
            </a:p>
          </p:txBody>
        </p:sp>
        <p:sp>
          <p:nvSpPr>
            <p:cNvPr id="12" name="Rectangle 11"/>
            <p:cNvSpPr/>
            <p:nvPr/>
          </p:nvSpPr>
          <p:spPr>
            <a:xfrm>
              <a:off x="5225796" y="3749039"/>
              <a:ext cx="1737360" cy="1188720"/>
            </a:xfrm>
            <a:prstGeom prst="rect">
              <a:avLst/>
            </a:prstGeom>
            <a:solidFill>
              <a:srgbClr val="6A359A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13" name="TextBox 12"/>
            <p:cNvSpPr txBox="1"/>
            <p:nvPr/>
          </p:nvSpPr>
          <p:spPr>
            <a:xfrm>
              <a:off x="5225796" y="3840479"/>
              <a:ext cx="1737360" cy="109728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sz="1400" b="0" i="0">
                  <a:solidFill>
                    <a:srgbClr val="FFFFFF"/>
                  </a:solidFill>
                </a:rPr>
                <a:t>MaxPool
2×2</a:t>
              </a:r>
            </a:p>
          </p:txBody>
        </p:sp>
        <p:sp>
          <p:nvSpPr>
            <p:cNvPr id="14" name="TextBox 13"/>
            <p:cNvSpPr txBox="1"/>
            <p:nvPr/>
          </p:nvSpPr>
          <p:spPr>
            <a:xfrm>
              <a:off x="6963156" y="4114799"/>
              <a:ext cx="228600" cy="50292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sz="2000" b="0" i="0">
                  <a:solidFill>
                    <a:srgbClr val="AABBCC"/>
                  </a:solidFill>
                </a:rPr>
                <a:t>→</a:t>
              </a:r>
            </a:p>
          </p:txBody>
        </p:sp>
        <p:sp>
          <p:nvSpPr>
            <p:cNvPr id="15" name="Rectangle 14"/>
            <p:cNvSpPr/>
            <p:nvPr/>
          </p:nvSpPr>
          <p:spPr>
            <a:xfrm>
              <a:off x="7191756" y="3749039"/>
              <a:ext cx="1737360" cy="1188720"/>
            </a:xfrm>
            <a:prstGeom prst="rect">
              <a:avLst/>
            </a:prstGeom>
            <a:solidFill>
              <a:srgbClr val="1A6BAA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16" name="TextBox 15"/>
            <p:cNvSpPr txBox="1"/>
            <p:nvPr/>
          </p:nvSpPr>
          <p:spPr>
            <a:xfrm>
              <a:off x="7191756" y="3840479"/>
              <a:ext cx="1737360" cy="109728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sz="1400" b="0" i="0">
                  <a:solidFill>
                    <a:srgbClr val="FFFFFF"/>
                  </a:solidFill>
                </a:rPr>
                <a:t>FC
128 ReLU</a:t>
              </a:r>
            </a:p>
          </p:txBody>
        </p:sp>
        <p:sp>
          <p:nvSpPr>
            <p:cNvPr id="18" name="Rectangle 17"/>
            <p:cNvSpPr/>
            <p:nvPr/>
          </p:nvSpPr>
          <p:spPr>
            <a:xfrm>
              <a:off x="9157716" y="3749039"/>
              <a:ext cx="1737360" cy="1188720"/>
            </a:xfrm>
            <a:prstGeom prst="rect">
              <a:avLst/>
            </a:prstGeom>
            <a:solidFill>
              <a:srgbClr val="4CAF50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19" name="TextBox 18"/>
            <p:cNvSpPr txBox="1"/>
            <p:nvPr/>
          </p:nvSpPr>
          <p:spPr>
            <a:xfrm>
              <a:off x="9157716" y="3840479"/>
              <a:ext cx="1737360" cy="109728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sz="1400" b="0" i="0" dirty="0">
                  <a:solidFill>
                    <a:srgbClr val="FFFFFF"/>
                  </a:solidFill>
                </a:rPr>
                <a:t>Output
10 classes</a:t>
              </a:r>
            </a:p>
          </p:txBody>
        </p:sp>
      </p:grpSp>
      <p:sp>
        <p:nvSpPr>
          <p:cNvPr id="20" name="TextBox 19"/>
          <p:cNvSpPr txBox="1"/>
          <p:nvPr/>
        </p:nvSpPr>
        <p:spPr>
          <a:xfrm>
            <a:off x="6323076" y="1051560"/>
            <a:ext cx="5303520" cy="71558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000" b="1" dirty="0">
                <a:solidFill>
                  <a:srgbClr val="FFD700"/>
                </a:solidFill>
              </a:rPr>
              <a:t>Hyperparameters</a:t>
            </a:r>
            <a:endParaRPr sz="2000" b="1" dirty="0">
              <a:solidFill>
                <a:srgbClr val="4CAF50"/>
              </a:solidFill>
            </a:endParaRPr>
          </a:p>
          <a:p>
            <a:pPr algn="l">
              <a:spcBef>
                <a:spcPts val="300"/>
              </a:spcBef>
            </a:pPr>
            <a:endParaRPr sz="1800" dirty="0">
              <a:solidFill>
                <a:srgbClr val="CCE5FF"/>
              </a:solidFill>
            </a:endParaRPr>
          </a:p>
        </p:txBody>
      </p:sp>
      <p:graphicFrame>
        <p:nvGraphicFramePr>
          <p:cNvPr id="23" name="Table 22">
            <a:extLst>
              <a:ext uri="{FF2B5EF4-FFF2-40B4-BE49-F238E27FC236}">
                <a16:creationId xmlns:a16="http://schemas.microsoft.com/office/drawing/2014/main" id="{DB61977B-D74B-3697-7F5C-6E1DF4B47B8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29398662"/>
              </p:ext>
            </p:extLst>
          </p:nvPr>
        </p:nvGraphicFramePr>
        <p:xfrm>
          <a:off x="6990515" y="1454721"/>
          <a:ext cx="3415394" cy="140208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1673214">
                  <a:extLst>
                    <a:ext uri="{9D8B030D-6E8A-4147-A177-3AD203B41FA5}">
                      <a16:colId xmlns:a16="http://schemas.microsoft.com/office/drawing/2014/main" val="1940200092"/>
                    </a:ext>
                  </a:extLst>
                </a:gridCol>
                <a:gridCol w="1742180">
                  <a:extLst>
                    <a:ext uri="{9D8B030D-6E8A-4147-A177-3AD203B41FA5}">
                      <a16:colId xmlns:a16="http://schemas.microsoft.com/office/drawing/2014/main" val="76769100"/>
                    </a:ext>
                  </a:extLst>
                </a:gridCol>
              </a:tblGrid>
              <a:tr h="243581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800" kern="1200" dirty="0">
                          <a:solidFill>
                            <a:srgbClr val="CCE5FF"/>
                          </a:solidFill>
                        </a:rPr>
                        <a:t>Optimizer</a:t>
                      </a:r>
                      <a:endParaRPr lang="en-US" sz="1800" kern="1200" dirty="0">
                        <a:solidFill>
                          <a:srgbClr val="CCE5FF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7150" marR="57150" marT="38100" marB="3810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800" kern="1200" dirty="0">
                          <a:solidFill>
                            <a:srgbClr val="CCE5FF"/>
                          </a:solidFill>
                        </a:rPr>
                        <a:t>Adam</a:t>
                      </a:r>
                      <a:endParaRPr lang="en-US" sz="1800" kern="1200" dirty="0">
                        <a:solidFill>
                          <a:srgbClr val="CCE5FF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7150" marR="57150" marT="38100" marB="38100" anchor="ctr"/>
                </a:tc>
                <a:extLst>
                  <a:ext uri="{0D108BD9-81ED-4DB2-BD59-A6C34878D82A}">
                    <a16:rowId xmlns:a16="http://schemas.microsoft.com/office/drawing/2014/main" val="4234817580"/>
                  </a:ext>
                </a:extLst>
              </a:tr>
              <a:tr h="243581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800" kern="1200" dirty="0">
                          <a:solidFill>
                            <a:srgbClr val="CCE5FF"/>
                          </a:solidFill>
                        </a:rPr>
                        <a:t>Learning rate</a:t>
                      </a:r>
                      <a:endParaRPr lang="en-US" sz="1800" kern="1200" dirty="0">
                        <a:solidFill>
                          <a:srgbClr val="CCE5FF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7150" marR="57150" marT="38100" marB="3810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800" kern="1200" dirty="0">
                          <a:solidFill>
                            <a:srgbClr val="CCE5FF"/>
                          </a:solidFill>
                        </a:rPr>
                        <a:t>1e-3</a:t>
                      </a:r>
                      <a:endParaRPr lang="en-US" sz="1800" kern="1200" dirty="0">
                        <a:solidFill>
                          <a:srgbClr val="CCE5FF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7150" marR="57150" marT="38100" marB="38100" anchor="ctr"/>
                </a:tc>
                <a:extLst>
                  <a:ext uri="{0D108BD9-81ED-4DB2-BD59-A6C34878D82A}">
                    <a16:rowId xmlns:a16="http://schemas.microsoft.com/office/drawing/2014/main" val="2980104865"/>
                  </a:ext>
                </a:extLst>
              </a:tr>
              <a:tr h="243581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800" kern="1200">
                          <a:solidFill>
                            <a:srgbClr val="CCE5FF"/>
                          </a:solidFill>
                        </a:rPr>
                        <a:t>Loss function</a:t>
                      </a:r>
                      <a:endParaRPr lang="en-US" sz="1800" kern="1200">
                        <a:solidFill>
                          <a:srgbClr val="CCE5FF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7150" marR="57150" marT="38100" marB="3810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800" kern="1200" dirty="0" err="1">
                          <a:solidFill>
                            <a:srgbClr val="CCE5FF"/>
                          </a:solidFill>
                        </a:rPr>
                        <a:t>CrossEntropyLoss</a:t>
                      </a:r>
                      <a:endParaRPr lang="en-US" sz="1800" kern="1200" dirty="0">
                        <a:solidFill>
                          <a:srgbClr val="CCE5FF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7150" marR="57150" marT="38100" marB="38100" anchor="ctr"/>
                </a:tc>
                <a:extLst>
                  <a:ext uri="{0D108BD9-81ED-4DB2-BD59-A6C34878D82A}">
                    <a16:rowId xmlns:a16="http://schemas.microsoft.com/office/drawing/2014/main" val="2810740029"/>
                  </a:ext>
                </a:extLst>
              </a:tr>
              <a:tr h="243581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800" kern="1200" dirty="0">
                          <a:solidFill>
                            <a:srgbClr val="CCE5FF"/>
                          </a:solidFill>
                        </a:rPr>
                        <a:t>Epochs</a:t>
                      </a:r>
                      <a:endParaRPr lang="en-US" sz="1800" kern="1200" dirty="0">
                        <a:solidFill>
                          <a:srgbClr val="CCE5FF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7150" marR="57150" marT="38100" marB="3810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800" kern="1200" dirty="0">
                          <a:solidFill>
                            <a:srgbClr val="CCE5FF"/>
                          </a:solidFill>
                        </a:rPr>
                        <a:t>5</a:t>
                      </a:r>
                      <a:endParaRPr lang="en-US" sz="1800" kern="1200" dirty="0">
                        <a:solidFill>
                          <a:srgbClr val="CCE5FF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7150" marR="57150" marT="38100" marB="38100" anchor="ctr"/>
                </a:tc>
                <a:extLst>
                  <a:ext uri="{0D108BD9-81ED-4DB2-BD59-A6C34878D82A}">
                    <a16:rowId xmlns:a16="http://schemas.microsoft.com/office/drawing/2014/main" val="3901992980"/>
                  </a:ext>
                </a:extLst>
              </a:tr>
            </a:tbl>
          </a:graphicData>
        </a:graphic>
      </p:graphicFrame>
      <p:graphicFrame>
        <p:nvGraphicFramePr>
          <p:cNvPr id="24" name="Table 23">
            <a:extLst>
              <a:ext uri="{FF2B5EF4-FFF2-40B4-BE49-F238E27FC236}">
                <a16:creationId xmlns:a16="http://schemas.microsoft.com/office/drawing/2014/main" id="{44B6E662-E4DD-BD4F-25B9-C31F873D7E0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93239416"/>
              </p:ext>
            </p:extLst>
          </p:nvPr>
        </p:nvGraphicFramePr>
        <p:xfrm>
          <a:off x="6265964" y="2866643"/>
          <a:ext cx="5417743" cy="243944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1989427">
                  <a:extLst>
                    <a:ext uri="{9D8B030D-6E8A-4147-A177-3AD203B41FA5}">
                      <a16:colId xmlns:a16="http://schemas.microsoft.com/office/drawing/2014/main" val="123614511"/>
                    </a:ext>
                  </a:extLst>
                </a:gridCol>
                <a:gridCol w="1714158">
                  <a:extLst>
                    <a:ext uri="{9D8B030D-6E8A-4147-A177-3AD203B41FA5}">
                      <a16:colId xmlns:a16="http://schemas.microsoft.com/office/drawing/2014/main" val="2267495501"/>
                    </a:ext>
                  </a:extLst>
                </a:gridCol>
                <a:gridCol w="1714158">
                  <a:extLst>
                    <a:ext uri="{9D8B030D-6E8A-4147-A177-3AD203B41FA5}">
                      <a16:colId xmlns:a16="http://schemas.microsoft.com/office/drawing/2014/main" val="424811450"/>
                    </a:ext>
                  </a:extLst>
                </a:gridCol>
              </a:tblGrid>
              <a:tr h="306553">
                <a:tc>
                  <a:txBody>
                    <a:bodyPr/>
                    <a:lstStyle/>
                    <a:p>
                      <a:pPr marL="0" algn="ctr" defTabSz="457063" rtl="0" eaLnBrk="1" latinLnBrk="0" hangingPunct="1">
                        <a:buNone/>
                      </a:pPr>
                      <a:r>
                        <a:rPr lang="en-US" sz="1600" kern="1200" dirty="0">
                          <a:solidFill>
                            <a:schemeClr val="accent1">
                              <a:lumMod val="20000"/>
                              <a:lumOff val="80000"/>
                            </a:schemeClr>
                          </a:solidFill>
                          <a:latin typeface="+mn-lt"/>
                          <a:ea typeface="+mn-ea"/>
                          <a:cs typeface="+mn-cs"/>
                        </a:rPr>
                        <a:t>Layer</a:t>
                      </a:r>
                    </a:p>
                  </a:txBody>
                  <a:tcPr marL="57150" marR="57150" marT="38100" marB="38100" anchor="ctr"/>
                </a:tc>
                <a:tc>
                  <a:txBody>
                    <a:bodyPr/>
                    <a:lstStyle/>
                    <a:p>
                      <a:pPr marL="0" algn="ctr" defTabSz="457063" rtl="0" eaLnBrk="1" latinLnBrk="0" hangingPunct="1">
                        <a:buNone/>
                      </a:pPr>
                      <a:r>
                        <a:rPr lang="en-US" sz="1600" kern="1200">
                          <a:solidFill>
                            <a:schemeClr val="accent1">
                              <a:lumMod val="20000"/>
                              <a:lumOff val="80000"/>
                            </a:schemeClr>
                          </a:solidFill>
                          <a:latin typeface="+mn-lt"/>
                          <a:ea typeface="+mn-ea"/>
                          <a:cs typeface="+mn-cs"/>
                        </a:rPr>
                        <a:t>Calculation</a:t>
                      </a:r>
                    </a:p>
                  </a:txBody>
                  <a:tcPr marL="57150" marR="57150" marT="38100" marB="38100" anchor="ctr"/>
                </a:tc>
                <a:tc>
                  <a:txBody>
                    <a:bodyPr/>
                    <a:lstStyle/>
                    <a:p>
                      <a:pPr marL="0" algn="ctr" defTabSz="457063" rtl="0" eaLnBrk="1" latinLnBrk="0" hangingPunct="1">
                        <a:buNone/>
                      </a:pPr>
                      <a:r>
                        <a:rPr lang="en-US" sz="1600" kern="1200" dirty="0">
                          <a:solidFill>
                            <a:schemeClr val="accent1">
                              <a:lumMod val="20000"/>
                              <a:lumOff val="80000"/>
                            </a:schemeClr>
                          </a:solidFill>
                          <a:latin typeface="+mn-lt"/>
                          <a:ea typeface="+mn-ea"/>
                          <a:cs typeface="+mn-cs"/>
                        </a:rPr>
                        <a:t>Params</a:t>
                      </a:r>
                    </a:p>
                  </a:txBody>
                  <a:tcPr marL="57150" marR="57150" marT="38100" marB="38100" anchor="ctr"/>
                </a:tc>
                <a:extLst>
                  <a:ext uri="{0D108BD9-81ED-4DB2-BD59-A6C34878D82A}">
                    <a16:rowId xmlns:a16="http://schemas.microsoft.com/office/drawing/2014/main" val="607915163"/>
                  </a:ext>
                </a:extLst>
              </a:tr>
              <a:tr h="52985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dirty="0">
                          <a:effectLst/>
                        </a:rPr>
                        <a:t>Conv2d(1→32, 3×3)</a:t>
                      </a:r>
                    </a:p>
                  </a:txBody>
                  <a:tcPr marL="57150" marR="57150" marT="38100" marB="3810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dirty="0">
                          <a:effectLst/>
                        </a:rPr>
                        <a:t>1×32×3×3 + 32</a:t>
                      </a:r>
                    </a:p>
                  </a:txBody>
                  <a:tcPr marL="57150" marR="57150" marT="38100" marB="3810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>
                          <a:effectLst/>
                        </a:rPr>
                        <a:t>320</a:t>
                      </a:r>
                    </a:p>
                  </a:txBody>
                  <a:tcPr marL="57150" marR="57150" marT="38100" marB="38100" anchor="ctr"/>
                </a:tc>
                <a:extLst>
                  <a:ext uri="{0D108BD9-81ED-4DB2-BD59-A6C34878D82A}">
                    <a16:rowId xmlns:a16="http://schemas.microsoft.com/office/drawing/2014/main" val="625260943"/>
                  </a:ext>
                </a:extLst>
              </a:tr>
              <a:tr h="52985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>
                          <a:effectLst/>
                        </a:rPr>
                        <a:t>Conv2d(32→64, 3×3)</a:t>
                      </a:r>
                    </a:p>
                  </a:txBody>
                  <a:tcPr marL="57150" marR="57150" marT="38100" marB="3810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>
                          <a:effectLst/>
                        </a:rPr>
                        <a:t>32×64×3×3 + 64</a:t>
                      </a:r>
                    </a:p>
                  </a:txBody>
                  <a:tcPr marL="57150" marR="57150" marT="38100" marB="3810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>
                          <a:effectLst/>
                        </a:rPr>
                        <a:t>18,496</a:t>
                      </a:r>
                    </a:p>
                  </a:txBody>
                  <a:tcPr marL="57150" marR="57150" marT="38100" marB="38100" anchor="ctr"/>
                </a:tc>
                <a:extLst>
                  <a:ext uri="{0D108BD9-81ED-4DB2-BD59-A6C34878D82A}">
                    <a16:rowId xmlns:a16="http://schemas.microsoft.com/office/drawing/2014/main" val="858126329"/>
                  </a:ext>
                </a:extLst>
              </a:tr>
              <a:tr h="52985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>
                          <a:effectLst/>
                        </a:rPr>
                        <a:t>Linear(12544 → 128)</a:t>
                      </a:r>
                    </a:p>
                  </a:txBody>
                  <a:tcPr marL="57150" marR="57150" marT="38100" marB="3810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>
                          <a:effectLst/>
                        </a:rPr>
                        <a:t>12544×128 + 128</a:t>
                      </a:r>
                    </a:p>
                  </a:txBody>
                  <a:tcPr marL="57150" marR="57150" marT="38100" marB="3810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dirty="0">
                          <a:effectLst/>
                        </a:rPr>
                        <a:t>1,605,760</a:t>
                      </a:r>
                    </a:p>
                  </a:txBody>
                  <a:tcPr marL="57150" marR="57150" marT="38100" marB="38100" anchor="ctr"/>
                </a:tc>
                <a:extLst>
                  <a:ext uri="{0D108BD9-81ED-4DB2-BD59-A6C34878D82A}">
                    <a16:rowId xmlns:a16="http://schemas.microsoft.com/office/drawing/2014/main" val="4271357990"/>
                  </a:ext>
                </a:extLst>
              </a:tr>
              <a:tr h="52985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>
                          <a:effectLst/>
                        </a:rPr>
                        <a:t>Linear(128 → 10)</a:t>
                      </a:r>
                    </a:p>
                  </a:txBody>
                  <a:tcPr marL="57150" marR="57150" marT="38100" marB="3810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>
                          <a:effectLst/>
                        </a:rPr>
                        <a:t>128×10 + 10</a:t>
                      </a:r>
                    </a:p>
                  </a:txBody>
                  <a:tcPr marL="57150" marR="57150" marT="38100" marB="3810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dirty="0">
                          <a:effectLst/>
                        </a:rPr>
                        <a:t>1,290</a:t>
                      </a:r>
                    </a:p>
                  </a:txBody>
                  <a:tcPr marL="57150" marR="57150" marT="38100" marB="38100" anchor="ctr"/>
                </a:tc>
                <a:extLst>
                  <a:ext uri="{0D108BD9-81ED-4DB2-BD59-A6C34878D82A}">
                    <a16:rowId xmlns:a16="http://schemas.microsoft.com/office/drawing/2014/main" val="3498993714"/>
                  </a:ext>
                </a:extLst>
              </a:tr>
            </a:tbl>
          </a:graphicData>
        </a:graphic>
      </p:graphicFrame>
      <p:sp>
        <p:nvSpPr>
          <p:cNvPr id="25" name="TextBox 24">
            <a:extLst>
              <a:ext uri="{FF2B5EF4-FFF2-40B4-BE49-F238E27FC236}">
                <a16:creationId xmlns:a16="http://schemas.microsoft.com/office/drawing/2014/main" id="{A7698F5F-086E-E996-466F-0EEB7145C0E7}"/>
              </a:ext>
            </a:extLst>
          </p:cNvPr>
          <p:cNvSpPr txBox="1"/>
          <p:nvPr/>
        </p:nvSpPr>
        <p:spPr>
          <a:xfrm>
            <a:off x="10026332" y="5135356"/>
            <a:ext cx="609783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i="0" dirty="0">
                <a:solidFill>
                  <a:srgbClr val="CCCCCC"/>
                </a:solidFill>
                <a:effectLst/>
                <a:latin typeface="-apple-system"/>
              </a:rPr>
              <a:t>1,625,866 parameters</a:t>
            </a:r>
            <a:endParaRPr lang="en-US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/>
          <p:cNvSpPr txBox="1"/>
          <p:nvPr/>
        </p:nvSpPr>
        <p:spPr>
          <a:xfrm>
            <a:off x="457200" y="164592"/>
            <a:ext cx="100584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00C2FF"/>
                </a:solidFill>
              </a:rPr>
              <a:t>Model 3 — Transformer Encoder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051560"/>
            <a:ext cx="5669280" cy="30854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100" b="1" dirty="0">
                <a:solidFill>
                  <a:srgbClr val="00C2FF"/>
                </a:solidFill>
              </a:rPr>
              <a:t>Architecture</a:t>
            </a:r>
          </a:p>
          <a:p>
            <a:r>
              <a:rPr sz="1900" dirty="0">
                <a:solidFill>
                  <a:srgbClr val="CCE5FF"/>
                </a:solidFill>
              </a:rPr>
              <a:t>• </a:t>
            </a:r>
            <a:r>
              <a:rPr lang="en-US" sz="1900" dirty="0">
                <a:solidFill>
                  <a:srgbClr val="CCE5FF"/>
                </a:solidFill>
              </a:rPr>
              <a:t>The Transformer model is based on a self-attention mechanism, which allows it to model relationships between different parts of the input. Instead of using convolutions, it processes the image as a sequence of patches.</a:t>
            </a:r>
          </a:p>
          <a:p>
            <a:r>
              <a:rPr lang="en-US" dirty="0">
                <a:solidFill>
                  <a:srgbClr val="CCE5FF"/>
                </a:solidFill>
              </a:rPr>
              <a:t>•  </a:t>
            </a:r>
            <a:r>
              <a:rPr lang="en-US" sz="1900" dirty="0">
                <a:solidFill>
                  <a:srgbClr val="CCE5FF"/>
                </a:solidFill>
              </a:rPr>
              <a:t>The 28 × 28 image is divided into smaller patches (e.g., 4 × 4), and each patch is treated as a token in a sequence.</a:t>
            </a:r>
          </a:p>
          <a:p>
            <a:pPr algn="l">
              <a:spcBef>
                <a:spcPts val="300"/>
              </a:spcBef>
            </a:pPr>
            <a:r>
              <a:rPr sz="1900" dirty="0">
                <a:solidFill>
                  <a:srgbClr val="CCE5FF"/>
                </a:solidFill>
              </a:rPr>
              <a:t>•  Learnable positional encoding preserves order</a:t>
            </a:r>
          </a:p>
        </p:txBody>
      </p:sp>
      <p:grpSp>
        <p:nvGrpSpPr>
          <p:cNvPr id="25" name="Group 24">
            <a:extLst>
              <a:ext uri="{FF2B5EF4-FFF2-40B4-BE49-F238E27FC236}">
                <a16:creationId xmlns:a16="http://schemas.microsoft.com/office/drawing/2014/main" id="{28E359E7-AD9C-F23B-A271-A8BB382616C1}"/>
              </a:ext>
            </a:extLst>
          </p:cNvPr>
          <p:cNvGrpSpPr/>
          <p:nvPr/>
        </p:nvGrpSpPr>
        <p:grpSpPr>
          <a:xfrm>
            <a:off x="6457448" y="968151"/>
            <a:ext cx="1463040" cy="5212080"/>
            <a:chOff x="6858000" y="1188720"/>
            <a:chExt cx="1463040" cy="5212080"/>
          </a:xfrm>
        </p:grpSpPr>
        <p:sp>
          <p:nvSpPr>
            <p:cNvPr id="6" name="Rectangle 5"/>
            <p:cNvSpPr/>
            <p:nvPr/>
          </p:nvSpPr>
          <p:spPr>
            <a:xfrm>
              <a:off x="6858000" y="1188720"/>
              <a:ext cx="1463040" cy="777240"/>
            </a:xfrm>
            <a:prstGeom prst="rect">
              <a:avLst/>
            </a:prstGeom>
            <a:solidFill>
              <a:srgbClr val="2A2A4A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7" name="TextBox 6"/>
            <p:cNvSpPr txBox="1"/>
            <p:nvPr/>
          </p:nvSpPr>
          <p:spPr>
            <a:xfrm>
              <a:off x="6858000" y="1275588"/>
              <a:ext cx="1463040" cy="73152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sz="1300" b="0" i="0" dirty="0">
                  <a:solidFill>
                    <a:srgbClr val="FFFFFF"/>
                  </a:solidFill>
                </a:rPr>
                <a:t>28×28 image</a:t>
              </a:r>
            </a:p>
          </p:txBody>
        </p:sp>
        <p:sp>
          <p:nvSpPr>
            <p:cNvPr id="8" name="TextBox 7"/>
            <p:cNvSpPr txBox="1"/>
            <p:nvPr/>
          </p:nvSpPr>
          <p:spPr>
            <a:xfrm>
              <a:off x="6858000" y="1965960"/>
              <a:ext cx="1463040" cy="128016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sz="1300" b="0" i="0">
                  <a:solidFill>
                    <a:srgbClr val="AABBCC"/>
                  </a:solidFill>
                </a:rPr>
                <a:t>↓</a:t>
              </a:r>
            </a:p>
          </p:txBody>
        </p:sp>
        <p:sp>
          <p:nvSpPr>
            <p:cNvPr id="9" name="Rectangle 8"/>
            <p:cNvSpPr/>
            <p:nvPr/>
          </p:nvSpPr>
          <p:spPr>
            <a:xfrm>
              <a:off x="6858000" y="2075688"/>
              <a:ext cx="1463040" cy="777240"/>
            </a:xfrm>
            <a:prstGeom prst="rect">
              <a:avLst/>
            </a:prstGeom>
            <a:solidFill>
              <a:srgbClr val="1A5B9A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10" name="TextBox 9"/>
            <p:cNvSpPr txBox="1"/>
            <p:nvPr/>
          </p:nvSpPr>
          <p:spPr>
            <a:xfrm>
              <a:off x="6858000" y="2121408"/>
              <a:ext cx="1463040" cy="73152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sz="1300" b="0" i="0">
                  <a:solidFill>
                    <a:srgbClr val="FFFFFF"/>
                  </a:solidFill>
                </a:rPr>
                <a:t>Patch Embed
4×4 patches</a:t>
              </a:r>
            </a:p>
          </p:txBody>
        </p:sp>
        <p:sp>
          <p:nvSpPr>
            <p:cNvPr id="11" name="TextBox 10"/>
            <p:cNvSpPr txBox="1"/>
            <p:nvPr/>
          </p:nvSpPr>
          <p:spPr>
            <a:xfrm>
              <a:off x="6858000" y="2852928"/>
              <a:ext cx="1463040" cy="128016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sz="1300" b="0" i="0">
                  <a:solidFill>
                    <a:srgbClr val="AABBCC"/>
                  </a:solidFill>
                </a:rPr>
                <a:t>↓</a:t>
              </a:r>
            </a:p>
          </p:txBody>
        </p:sp>
        <p:sp>
          <p:nvSpPr>
            <p:cNvPr id="12" name="Rectangle 11"/>
            <p:cNvSpPr/>
            <p:nvPr/>
          </p:nvSpPr>
          <p:spPr>
            <a:xfrm>
              <a:off x="6858000" y="2962656"/>
              <a:ext cx="1463040" cy="777240"/>
            </a:xfrm>
            <a:prstGeom prst="rect">
              <a:avLst/>
            </a:prstGeom>
            <a:solidFill>
              <a:srgbClr val="1A5B9A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13" name="TextBox 12"/>
            <p:cNvSpPr txBox="1"/>
            <p:nvPr/>
          </p:nvSpPr>
          <p:spPr>
            <a:xfrm>
              <a:off x="6858000" y="3008376"/>
              <a:ext cx="1463040" cy="73152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sz="1300" b="0" i="0">
                  <a:solidFill>
                    <a:srgbClr val="FFFFFF"/>
                  </a:solidFill>
                </a:rPr>
                <a:t>+ Pos. Encoding</a:t>
              </a:r>
            </a:p>
          </p:txBody>
        </p:sp>
        <p:sp>
          <p:nvSpPr>
            <p:cNvPr id="14" name="TextBox 13"/>
            <p:cNvSpPr txBox="1"/>
            <p:nvPr/>
          </p:nvSpPr>
          <p:spPr>
            <a:xfrm>
              <a:off x="6858000" y="3739896"/>
              <a:ext cx="1463040" cy="128016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sz="1300" b="0" i="0">
                  <a:solidFill>
                    <a:srgbClr val="AABBCC"/>
                  </a:solidFill>
                </a:rPr>
                <a:t>↓</a:t>
              </a:r>
            </a:p>
          </p:txBody>
        </p:sp>
        <p:sp>
          <p:nvSpPr>
            <p:cNvPr id="15" name="Rectangle 14"/>
            <p:cNvSpPr/>
            <p:nvPr/>
          </p:nvSpPr>
          <p:spPr>
            <a:xfrm>
              <a:off x="6858000" y="3849624"/>
              <a:ext cx="1463040" cy="777240"/>
            </a:xfrm>
            <a:prstGeom prst="rect">
              <a:avLst/>
            </a:prstGeom>
            <a:solidFill>
              <a:srgbClr val="5A2A9A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16" name="TextBox 15"/>
            <p:cNvSpPr txBox="1"/>
            <p:nvPr/>
          </p:nvSpPr>
          <p:spPr>
            <a:xfrm>
              <a:off x="6858000" y="3895344"/>
              <a:ext cx="1463040" cy="73152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sz="1300" b="0" i="0" dirty="0">
                  <a:solidFill>
                    <a:srgbClr val="FFFFFF"/>
                  </a:solidFill>
                </a:rPr>
                <a:t>Transformer
Encoder ×2</a:t>
              </a:r>
            </a:p>
          </p:txBody>
        </p:sp>
        <p:sp>
          <p:nvSpPr>
            <p:cNvPr id="17" name="TextBox 16"/>
            <p:cNvSpPr txBox="1"/>
            <p:nvPr/>
          </p:nvSpPr>
          <p:spPr>
            <a:xfrm>
              <a:off x="6858000" y="4626864"/>
              <a:ext cx="1463040" cy="128016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sz="1300" b="0" i="0">
                  <a:solidFill>
                    <a:srgbClr val="AABBCC"/>
                  </a:solidFill>
                </a:rPr>
                <a:t>↓</a:t>
              </a:r>
            </a:p>
          </p:txBody>
        </p:sp>
        <p:sp>
          <p:nvSpPr>
            <p:cNvPr id="18" name="Rectangle 17"/>
            <p:cNvSpPr/>
            <p:nvPr/>
          </p:nvSpPr>
          <p:spPr>
            <a:xfrm>
              <a:off x="6858000" y="4736592"/>
              <a:ext cx="1463040" cy="777240"/>
            </a:xfrm>
            <a:prstGeom prst="rect">
              <a:avLst/>
            </a:prstGeom>
            <a:solidFill>
              <a:srgbClr val="5A2A9A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19" name="TextBox 18"/>
            <p:cNvSpPr txBox="1"/>
            <p:nvPr/>
          </p:nvSpPr>
          <p:spPr>
            <a:xfrm>
              <a:off x="6858000" y="4782312"/>
              <a:ext cx="1463040" cy="73152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sz="1300" b="0" i="0">
                  <a:solidFill>
                    <a:srgbClr val="FFFFFF"/>
                  </a:solidFill>
                </a:rPr>
                <a:t>Global
Avg Pool</a:t>
              </a:r>
            </a:p>
          </p:txBody>
        </p:sp>
        <p:sp>
          <p:nvSpPr>
            <p:cNvPr id="20" name="TextBox 19"/>
            <p:cNvSpPr txBox="1"/>
            <p:nvPr/>
          </p:nvSpPr>
          <p:spPr>
            <a:xfrm>
              <a:off x="6858000" y="5513832"/>
              <a:ext cx="1463040" cy="128016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sz="1300" b="0" i="0">
                  <a:solidFill>
                    <a:srgbClr val="AABBCC"/>
                  </a:solidFill>
                </a:rPr>
                <a:t>↓</a:t>
              </a:r>
            </a:p>
          </p:txBody>
        </p:sp>
        <p:sp>
          <p:nvSpPr>
            <p:cNvPr id="21" name="Rectangle 20"/>
            <p:cNvSpPr/>
            <p:nvPr/>
          </p:nvSpPr>
          <p:spPr>
            <a:xfrm>
              <a:off x="6858000" y="5623560"/>
              <a:ext cx="1463040" cy="777240"/>
            </a:xfrm>
            <a:prstGeom prst="rect">
              <a:avLst/>
            </a:prstGeom>
            <a:solidFill>
              <a:srgbClr val="4CAF50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22" name="TextBox 21"/>
            <p:cNvSpPr txBox="1"/>
            <p:nvPr/>
          </p:nvSpPr>
          <p:spPr>
            <a:xfrm>
              <a:off x="6858000" y="5669280"/>
              <a:ext cx="1463040" cy="73152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sz="1300" b="0" i="0">
                  <a:solidFill>
                    <a:srgbClr val="FFFFFF"/>
                  </a:solidFill>
                </a:rPr>
                <a:t>Classifier
10 classes</a:t>
              </a:r>
            </a:p>
          </p:txBody>
        </p:sp>
      </p:grpSp>
      <p:sp>
        <p:nvSpPr>
          <p:cNvPr id="23" name="TextBox 22"/>
          <p:cNvSpPr txBox="1"/>
          <p:nvPr/>
        </p:nvSpPr>
        <p:spPr>
          <a:xfrm>
            <a:off x="457200" y="4467038"/>
            <a:ext cx="566928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000" b="1" dirty="0">
                <a:solidFill>
                  <a:srgbClr val="FFD700"/>
                </a:solidFill>
              </a:rPr>
              <a:t>Hyperparameters</a:t>
            </a:r>
            <a:endParaRPr sz="2000" b="1" dirty="0">
              <a:solidFill>
                <a:srgbClr val="AA55FF"/>
              </a:solidFill>
            </a:endParaRPr>
          </a:p>
        </p:txBody>
      </p:sp>
      <p:graphicFrame>
        <p:nvGraphicFramePr>
          <p:cNvPr id="24" name="Table 23">
            <a:extLst>
              <a:ext uri="{FF2B5EF4-FFF2-40B4-BE49-F238E27FC236}">
                <a16:creationId xmlns:a16="http://schemas.microsoft.com/office/drawing/2014/main" id="{B4942C34-8A8F-2F77-04F0-6E40CDD114D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33676127"/>
              </p:ext>
            </p:extLst>
          </p:nvPr>
        </p:nvGraphicFramePr>
        <p:xfrm>
          <a:off x="1168873" y="4927503"/>
          <a:ext cx="3415394" cy="140208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1673214">
                  <a:extLst>
                    <a:ext uri="{9D8B030D-6E8A-4147-A177-3AD203B41FA5}">
                      <a16:colId xmlns:a16="http://schemas.microsoft.com/office/drawing/2014/main" val="1940200092"/>
                    </a:ext>
                  </a:extLst>
                </a:gridCol>
                <a:gridCol w="1742180">
                  <a:extLst>
                    <a:ext uri="{9D8B030D-6E8A-4147-A177-3AD203B41FA5}">
                      <a16:colId xmlns:a16="http://schemas.microsoft.com/office/drawing/2014/main" val="76769100"/>
                    </a:ext>
                  </a:extLst>
                </a:gridCol>
              </a:tblGrid>
              <a:tr h="243581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800" kern="1200" dirty="0">
                          <a:solidFill>
                            <a:srgbClr val="CCE5FF"/>
                          </a:solidFill>
                        </a:rPr>
                        <a:t>Optimizer</a:t>
                      </a:r>
                      <a:endParaRPr lang="en-US" sz="1800" kern="1200" dirty="0">
                        <a:solidFill>
                          <a:srgbClr val="CCE5FF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7150" marR="57150" marT="38100" marB="3810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800" kern="1200" dirty="0">
                          <a:solidFill>
                            <a:srgbClr val="CCE5FF"/>
                          </a:solidFill>
                        </a:rPr>
                        <a:t>Adam</a:t>
                      </a:r>
                      <a:endParaRPr lang="en-US" sz="1800" kern="1200" dirty="0">
                        <a:solidFill>
                          <a:srgbClr val="CCE5FF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7150" marR="57150" marT="38100" marB="38100" anchor="ctr"/>
                </a:tc>
                <a:extLst>
                  <a:ext uri="{0D108BD9-81ED-4DB2-BD59-A6C34878D82A}">
                    <a16:rowId xmlns:a16="http://schemas.microsoft.com/office/drawing/2014/main" val="4234817580"/>
                  </a:ext>
                </a:extLst>
              </a:tr>
              <a:tr h="243581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800" kern="1200" dirty="0">
                          <a:solidFill>
                            <a:srgbClr val="CCE5FF"/>
                          </a:solidFill>
                        </a:rPr>
                        <a:t>Learning rate</a:t>
                      </a:r>
                      <a:endParaRPr lang="en-US" sz="1800" kern="1200" dirty="0">
                        <a:solidFill>
                          <a:srgbClr val="CCE5FF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7150" marR="57150" marT="38100" marB="3810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800" kern="1200" dirty="0">
                          <a:solidFill>
                            <a:srgbClr val="CCE5FF"/>
                          </a:solidFill>
                        </a:rPr>
                        <a:t>1e-3</a:t>
                      </a:r>
                      <a:endParaRPr lang="en-US" sz="1800" kern="1200" dirty="0">
                        <a:solidFill>
                          <a:srgbClr val="CCE5FF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7150" marR="57150" marT="38100" marB="38100" anchor="ctr"/>
                </a:tc>
                <a:extLst>
                  <a:ext uri="{0D108BD9-81ED-4DB2-BD59-A6C34878D82A}">
                    <a16:rowId xmlns:a16="http://schemas.microsoft.com/office/drawing/2014/main" val="2980104865"/>
                  </a:ext>
                </a:extLst>
              </a:tr>
              <a:tr h="243581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800" kern="1200">
                          <a:solidFill>
                            <a:srgbClr val="CCE5FF"/>
                          </a:solidFill>
                        </a:rPr>
                        <a:t>Loss function</a:t>
                      </a:r>
                      <a:endParaRPr lang="en-US" sz="1800" kern="1200">
                        <a:solidFill>
                          <a:srgbClr val="CCE5FF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7150" marR="57150" marT="38100" marB="3810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800" kern="1200" dirty="0" err="1">
                          <a:solidFill>
                            <a:srgbClr val="CCE5FF"/>
                          </a:solidFill>
                        </a:rPr>
                        <a:t>CrossEntropyLoss</a:t>
                      </a:r>
                      <a:endParaRPr lang="en-US" sz="1800" kern="1200" dirty="0">
                        <a:solidFill>
                          <a:srgbClr val="CCE5FF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7150" marR="57150" marT="38100" marB="38100" anchor="ctr"/>
                </a:tc>
                <a:extLst>
                  <a:ext uri="{0D108BD9-81ED-4DB2-BD59-A6C34878D82A}">
                    <a16:rowId xmlns:a16="http://schemas.microsoft.com/office/drawing/2014/main" val="2810740029"/>
                  </a:ext>
                </a:extLst>
              </a:tr>
              <a:tr h="243581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800" kern="1200" dirty="0">
                          <a:solidFill>
                            <a:srgbClr val="CCE5FF"/>
                          </a:solidFill>
                        </a:rPr>
                        <a:t>Epochs</a:t>
                      </a:r>
                      <a:endParaRPr lang="en-US" sz="1800" kern="1200" dirty="0">
                        <a:solidFill>
                          <a:srgbClr val="CCE5FF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7150" marR="57150" marT="38100" marB="3810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800" kern="1200" dirty="0">
                          <a:solidFill>
                            <a:srgbClr val="CCE5FF"/>
                          </a:solidFill>
                        </a:rPr>
                        <a:t>5</a:t>
                      </a:r>
                      <a:endParaRPr lang="en-US" sz="1800" kern="1200" dirty="0">
                        <a:solidFill>
                          <a:srgbClr val="CCE5FF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7150" marR="57150" marT="38100" marB="38100" anchor="ctr"/>
                </a:tc>
                <a:extLst>
                  <a:ext uri="{0D108BD9-81ED-4DB2-BD59-A6C34878D82A}">
                    <a16:rowId xmlns:a16="http://schemas.microsoft.com/office/drawing/2014/main" val="3901992980"/>
                  </a:ext>
                </a:extLst>
              </a:tr>
            </a:tbl>
          </a:graphicData>
        </a:graphic>
      </p:graphicFrame>
      <p:sp>
        <p:nvSpPr>
          <p:cNvPr id="28" name="TextBox 27">
            <a:extLst>
              <a:ext uri="{FF2B5EF4-FFF2-40B4-BE49-F238E27FC236}">
                <a16:creationId xmlns:a16="http://schemas.microsoft.com/office/drawing/2014/main" id="{76D096AA-B4FD-C143-9BCD-8D1488C5F1F1}"/>
              </a:ext>
            </a:extLst>
          </p:cNvPr>
          <p:cNvSpPr txBox="1"/>
          <p:nvPr/>
        </p:nvSpPr>
        <p:spPr>
          <a:xfrm>
            <a:off x="9714497" y="4100971"/>
            <a:ext cx="609783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dirty="0"/>
              <a:t>567,178 parameters</a:t>
            </a:r>
            <a:endParaRPr lang="en-US" dirty="0"/>
          </a:p>
        </p:txBody>
      </p:sp>
      <p:graphicFrame>
        <p:nvGraphicFramePr>
          <p:cNvPr id="29" name="Table 28">
            <a:extLst>
              <a:ext uri="{FF2B5EF4-FFF2-40B4-BE49-F238E27FC236}">
                <a16:creationId xmlns:a16="http://schemas.microsoft.com/office/drawing/2014/main" id="{D495F201-0EB7-E572-E7F8-6B195F3B432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73301481"/>
              </p:ext>
            </p:extLst>
          </p:nvPr>
        </p:nvGraphicFramePr>
        <p:xfrm>
          <a:off x="8412480" y="1014090"/>
          <a:ext cx="4206240" cy="312293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2103120">
                  <a:extLst>
                    <a:ext uri="{9D8B030D-6E8A-4147-A177-3AD203B41FA5}">
                      <a16:colId xmlns:a16="http://schemas.microsoft.com/office/drawing/2014/main" val="3487379403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2136637008"/>
                    </a:ext>
                  </a:extLst>
                </a:gridCol>
              </a:tblGrid>
              <a:tr h="20508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dirty="0">
                          <a:effectLst/>
                        </a:rPr>
                        <a:t>Component</a:t>
                      </a:r>
                    </a:p>
                  </a:txBody>
                  <a:tcPr marL="57150" marR="57150" marT="38100" marB="3810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>
                          <a:effectLst/>
                        </a:rPr>
                        <a:t>Params</a:t>
                      </a:r>
                    </a:p>
                  </a:txBody>
                  <a:tcPr marL="57150" marR="57150" marT="38100" marB="38100" anchor="ctr"/>
                </a:tc>
                <a:extLst>
                  <a:ext uri="{0D108BD9-81ED-4DB2-BD59-A6C34878D82A}">
                    <a16:rowId xmlns:a16="http://schemas.microsoft.com/office/drawing/2014/main" val="3060918699"/>
                  </a:ext>
                </a:extLst>
              </a:tr>
              <a:tr h="36556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>
                          <a:effectLst/>
                        </a:rPr>
                        <a:t>Patch projection Linear(16→64)</a:t>
                      </a:r>
                    </a:p>
                  </a:txBody>
                  <a:tcPr marL="57150" marR="57150" marT="38100" marB="3810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>
                          <a:effectLst/>
                        </a:rPr>
                        <a:t>1,088</a:t>
                      </a:r>
                    </a:p>
                  </a:txBody>
                  <a:tcPr marL="57150" marR="57150" marT="38100" marB="38100" anchor="ctr"/>
                </a:tc>
                <a:extLst>
                  <a:ext uri="{0D108BD9-81ED-4DB2-BD59-A6C34878D82A}">
                    <a16:rowId xmlns:a16="http://schemas.microsoft.com/office/drawing/2014/main" val="1295414286"/>
                  </a:ext>
                </a:extLst>
              </a:tr>
              <a:tr h="36556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>
                          <a:effectLst/>
                        </a:rPr>
                        <a:t>Positional embedding (49×64)</a:t>
                      </a:r>
                    </a:p>
                  </a:txBody>
                  <a:tcPr marL="57150" marR="57150" marT="38100" marB="3810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>
                          <a:effectLst/>
                        </a:rPr>
                        <a:t>3,136</a:t>
                      </a:r>
                    </a:p>
                  </a:txBody>
                  <a:tcPr marL="57150" marR="57150" marT="38100" marB="38100" anchor="ctr"/>
                </a:tc>
                <a:extLst>
                  <a:ext uri="{0D108BD9-81ED-4DB2-BD59-A6C34878D82A}">
                    <a16:rowId xmlns:a16="http://schemas.microsoft.com/office/drawing/2014/main" val="2896375089"/>
                  </a:ext>
                </a:extLst>
              </a:tr>
              <a:tr h="84702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dirty="0">
                          <a:effectLst/>
                        </a:rPr>
                        <a:t>2× </a:t>
                      </a:r>
                      <a:r>
                        <a:rPr lang="en-US" dirty="0" err="1">
                          <a:effectLst/>
                        </a:rPr>
                        <a:t>TransformerEncoderLayer</a:t>
                      </a:r>
                      <a:r>
                        <a:rPr lang="en-US" dirty="0">
                          <a:effectLst/>
                        </a:rPr>
                        <a:t> (attn + FFN)</a:t>
                      </a:r>
                    </a:p>
                  </a:txBody>
                  <a:tcPr marL="57150" marR="57150" marT="38100" marB="3810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>
                          <a:effectLst/>
                        </a:rPr>
                        <a:t>562,304</a:t>
                      </a:r>
                    </a:p>
                  </a:txBody>
                  <a:tcPr marL="57150" marR="57150" marT="38100" marB="38100" anchor="ctr"/>
                </a:tc>
                <a:extLst>
                  <a:ext uri="{0D108BD9-81ED-4DB2-BD59-A6C34878D82A}">
                    <a16:rowId xmlns:a16="http://schemas.microsoft.com/office/drawing/2014/main" val="1524337551"/>
                  </a:ext>
                </a:extLst>
              </a:tr>
              <a:tr h="36556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dirty="0">
                          <a:effectLst/>
                        </a:rPr>
                        <a:t>Classifier Linear(64→10)</a:t>
                      </a:r>
                    </a:p>
                  </a:txBody>
                  <a:tcPr marL="57150" marR="57150" marT="38100" marB="3810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dirty="0">
                          <a:effectLst/>
                        </a:rPr>
                        <a:t>650</a:t>
                      </a:r>
                    </a:p>
                  </a:txBody>
                  <a:tcPr marL="57150" marR="57150" marT="38100" marB="38100" anchor="ctr"/>
                </a:tc>
                <a:extLst>
                  <a:ext uri="{0D108BD9-81ED-4DB2-BD59-A6C34878D82A}">
                    <a16:rowId xmlns:a16="http://schemas.microsoft.com/office/drawing/2014/main" val="680464001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/>
          <p:cNvSpPr txBox="1"/>
          <p:nvPr/>
        </p:nvSpPr>
        <p:spPr>
          <a:xfrm>
            <a:off x="457200" y="164592"/>
            <a:ext cx="82296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00C2FF"/>
                </a:solidFill>
              </a:rPr>
              <a:t>Model Comparison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097280"/>
            <a:ext cx="1783080" cy="594360"/>
          </a:xfrm>
          <a:prstGeom prst="rect">
            <a:avLst/>
          </a:prstGeom>
          <a:solidFill>
            <a:srgbClr val="004A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457200" y="1170432"/>
            <a:ext cx="18288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</a:rPr>
              <a:t>Model</a:t>
            </a:r>
          </a:p>
        </p:txBody>
      </p:sp>
      <p:sp>
        <p:nvSpPr>
          <p:cNvPr id="7" name="Rectangle 6"/>
          <p:cNvSpPr/>
          <p:nvPr/>
        </p:nvSpPr>
        <p:spPr>
          <a:xfrm>
            <a:off x="2377440" y="1097280"/>
            <a:ext cx="1783080" cy="594360"/>
          </a:xfrm>
          <a:prstGeom prst="rect">
            <a:avLst/>
          </a:prstGeom>
          <a:solidFill>
            <a:srgbClr val="004A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2377440" y="1170432"/>
            <a:ext cx="18288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</a:rPr>
              <a:t>Clean Acc.</a:t>
            </a:r>
          </a:p>
        </p:txBody>
      </p:sp>
      <p:sp>
        <p:nvSpPr>
          <p:cNvPr id="9" name="Rectangle 8"/>
          <p:cNvSpPr/>
          <p:nvPr/>
        </p:nvSpPr>
        <p:spPr>
          <a:xfrm>
            <a:off x="4297680" y="1097280"/>
            <a:ext cx="1783080" cy="594360"/>
          </a:xfrm>
          <a:prstGeom prst="rect">
            <a:avLst/>
          </a:prstGeom>
          <a:solidFill>
            <a:srgbClr val="004A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4297680" y="1170432"/>
            <a:ext cx="18288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</a:rPr>
              <a:t>Noisy Acc.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217920" y="1097280"/>
            <a:ext cx="1600200" cy="594360"/>
          </a:xfrm>
          <a:prstGeom prst="rect">
            <a:avLst/>
          </a:prstGeom>
          <a:solidFill>
            <a:srgbClr val="004A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217920" y="1170432"/>
            <a:ext cx="16459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</a:rPr>
              <a:t>Δ (drop)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" y="1728216"/>
            <a:ext cx="1783080" cy="576072"/>
          </a:xfrm>
          <a:prstGeom prst="rect">
            <a:avLst/>
          </a:prstGeom>
          <a:solidFill>
            <a:srgbClr val="122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457200" y="1801368"/>
            <a:ext cx="18288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 b="0" i="0">
                <a:solidFill>
                  <a:srgbClr val="FFFFFF"/>
                </a:solidFill>
              </a:rPr>
              <a:t>MLP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377440" y="1728216"/>
            <a:ext cx="1783080" cy="576072"/>
          </a:xfrm>
          <a:prstGeom prst="rect">
            <a:avLst/>
          </a:prstGeom>
          <a:solidFill>
            <a:srgbClr val="122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2377440" y="1801368"/>
            <a:ext cx="18288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 b="0" i="0">
                <a:solidFill>
                  <a:srgbClr val="FFFFFF"/>
                </a:solidFill>
              </a:rPr>
              <a:t>96.94%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297680" y="1728216"/>
            <a:ext cx="1783080" cy="576072"/>
          </a:xfrm>
          <a:prstGeom prst="rect">
            <a:avLst/>
          </a:prstGeom>
          <a:solidFill>
            <a:srgbClr val="122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4297680" y="1801368"/>
            <a:ext cx="18288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 b="0" i="0">
                <a:solidFill>
                  <a:srgbClr val="FFFFFF"/>
                </a:solidFill>
              </a:rPr>
              <a:t>96.08%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217920" y="1728216"/>
            <a:ext cx="1600200" cy="576072"/>
          </a:xfrm>
          <a:prstGeom prst="rect">
            <a:avLst/>
          </a:prstGeom>
          <a:solidFill>
            <a:srgbClr val="122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6217920" y="1801368"/>
            <a:ext cx="16459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 b="0" i="0">
                <a:solidFill>
                  <a:srgbClr val="FFFFFF"/>
                </a:solidFill>
              </a:rPr>
              <a:t>−0.86%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955279" y="1801368"/>
            <a:ext cx="3200400" cy="3539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 b="0" i="0" dirty="0">
                <a:solidFill>
                  <a:srgbClr val="FFFFFF"/>
                </a:solidFill>
              </a:rPr>
              <a:t>Solid baseline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57200" y="2322576"/>
            <a:ext cx="1783080" cy="576072"/>
          </a:xfrm>
          <a:prstGeom prst="rect">
            <a:avLst/>
          </a:prstGeom>
          <a:solidFill>
            <a:srgbClr val="0E24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457200" y="2395728"/>
            <a:ext cx="18288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 b="0" i="0">
                <a:solidFill>
                  <a:srgbClr val="FFFFFF"/>
                </a:solidFill>
              </a:rPr>
              <a:t>Transformer</a:t>
            </a:r>
          </a:p>
        </p:txBody>
      </p:sp>
      <p:sp>
        <p:nvSpPr>
          <p:cNvPr id="27" name="Rectangle 26"/>
          <p:cNvSpPr/>
          <p:nvPr/>
        </p:nvSpPr>
        <p:spPr>
          <a:xfrm>
            <a:off x="2377440" y="2322576"/>
            <a:ext cx="1783080" cy="576072"/>
          </a:xfrm>
          <a:prstGeom prst="rect">
            <a:avLst/>
          </a:prstGeom>
          <a:solidFill>
            <a:srgbClr val="0E24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2377440" y="2395728"/>
            <a:ext cx="18288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 b="0" i="0">
                <a:solidFill>
                  <a:srgbClr val="FFFFFF"/>
                </a:solidFill>
              </a:rPr>
              <a:t>97.65%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297680" y="2322576"/>
            <a:ext cx="1783080" cy="576072"/>
          </a:xfrm>
          <a:prstGeom prst="rect">
            <a:avLst/>
          </a:prstGeom>
          <a:solidFill>
            <a:srgbClr val="0E24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4297680" y="2395728"/>
            <a:ext cx="18288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 b="0" i="0">
                <a:solidFill>
                  <a:srgbClr val="FFFFFF"/>
                </a:solidFill>
              </a:rPr>
              <a:t>96.62%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217920" y="2322576"/>
            <a:ext cx="1600200" cy="576072"/>
          </a:xfrm>
          <a:prstGeom prst="rect">
            <a:avLst/>
          </a:prstGeom>
          <a:solidFill>
            <a:srgbClr val="0E24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6217920" y="2395728"/>
            <a:ext cx="16459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 b="0" i="0">
                <a:solidFill>
                  <a:srgbClr val="FFFFFF"/>
                </a:solidFill>
              </a:rPr>
              <a:t>−1.03%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001000" y="2400299"/>
            <a:ext cx="32004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 b="0" i="0">
                <a:solidFill>
                  <a:srgbClr val="FFFFFF"/>
                </a:solidFill>
              </a:rPr>
              <a:t>Strong, no convs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57200" y="2916936"/>
            <a:ext cx="1783080" cy="576072"/>
          </a:xfrm>
          <a:prstGeom prst="rect">
            <a:avLst/>
          </a:prstGeom>
          <a:solidFill>
            <a:srgbClr val="0A30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457200" y="2990088"/>
            <a:ext cx="18288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 b="1" i="0">
                <a:solidFill>
                  <a:srgbClr val="FFD700"/>
                </a:solidFill>
              </a:rPr>
              <a:t>CNN ★</a:t>
            </a:r>
          </a:p>
        </p:txBody>
      </p:sp>
      <p:sp>
        <p:nvSpPr>
          <p:cNvPr id="37" name="Rectangle 36"/>
          <p:cNvSpPr/>
          <p:nvPr/>
        </p:nvSpPr>
        <p:spPr>
          <a:xfrm>
            <a:off x="2377440" y="2916936"/>
            <a:ext cx="1783080" cy="576072"/>
          </a:xfrm>
          <a:prstGeom prst="rect">
            <a:avLst/>
          </a:prstGeom>
          <a:solidFill>
            <a:srgbClr val="0A30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TextBox 37"/>
          <p:cNvSpPr txBox="1"/>
          <p:nvPr/>
        </p:nvSpPr>
        <p:spPr>
          <a:xfrm>
            <a:off x="2377440" y="2990088"/>
            <a:ext cx="18288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 b="1" i="0">
                <a:solidFill>
                  <a:srgbClr val="FFD700"/>
                </a:solidFill>
              </a:rPr>
              <a:t>99.01%</a:t>
            </a:r>
          </a:p>
        </p:txBody>
      </p:sp>
      <p:sp>
        <p:nvSpPr>
          <p:cNvPr id="39" name="Rectangle 38"/>
          <p:cNvSpPr/>
          <p:nvPr/>
        </p:nvSpPr>
        <p:spPr>
          <a:xfrm>
            <a:off x="4297680" y="2916936"/>
            <a:ext cx="1783080" cy="576072"/>
          </a:xfrm>
          <a:prstGeom prst="rect">
            <a:avLst/>
          </a:prstGeom>
          <a:solidFill>
            <a:srgbClr val="0A30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TextBox 39"/>
          <p:cNvSpPr txBox="1"/>
          <p:nvPr/>
        </p:nvSpPr>
        <p:spPr>
          <a:xfrm>
            <a:off x="4297680" y="2990088"/>
            <a:ext cx="18288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 b="1" i="0">
                <a:solidFill>
                  <a:srgbClr val="FFD700"/>
                </a:solidFill>
              </a:rPr>
              <a:t>98.26%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217920" y="2916936"/>
            <a:ext cx="1600200" cy="576072"/>
          </a:xfrm>
          <a:prstGeom prst="rect">
            <a:avLst/>
          </a:prstGeom>
          <a:solidFill>
            <a:srgbClr val="0A30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TextBox 41"/>
          <p:cNvSpPr txBox="1"/>
          <p:nvPr/>
        </p:nvSpPr>
        <p:spPr>
          <a:xfrm>
            <a:off x="6217920" y="2990088"/>
            <a:ext cx="16459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 b="1" i="0">
                <a:solidFill>
                  <a:srgbClr val="FFD700"/>
                </a:solidFill>
              </a:rPr>
              <a:t>−0.75%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863840" y="3022162"/>
            <a:ext cx="32004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 b="1" i="0" dirty="0">
                <a:solidFill>
                  <a:srgbClr val="FFD700"/>
                </a:solidFill>
              </a:rPr>
              <a:t>Best overall</a:t>
            </a:r>
          </a:p>
        </p:txBody>
      </p:sp>
      <p:sp>
        <p:nvSpPr>
          <p:cNvPr id="45" name="Rectangle 44"/>
          <p:cNvSpPr/>
          <p:nvPr/>
        </p:nvSpPr>
        <p:spPr>
          <a:xfrm>
            <a:off x="457200" y="5191048"/>
            <a:ext cx="1371600" cy="1209751"/>
          </a:xfrm>
          <a:prstGeom prst="rect">
            <a:avLst/>
          </a:prstGeom>
          <a:solidFill>
            <a:srgbClr val="1A6B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TextBox 45"/>
          <p:cNvSpPr txBox="1"/>
          <p:nvPr/>
        </p:nvSpPr>
        <p:spPr>
          <a:xfrm>
            <a:off x="457200" y="4935016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96.94%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57200" y="6446520"/>
            <a:ext cx="137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AABBCC"/>
                </a:solidFill>
              </a:rPr>
              <a:t>MLP
Clean</a:t>
            </a:r>
          </a:p>
        </p:txBody>
      </p:sp>
      <p:sp>
        <p:nvSpPr>
          <p:cNvPr id="48" name="Rectangle 47"/>
          <p:cNvSpPr/>
          <p:nvPr/>
        </p:nvSpPr>
        <p:spPr>
          <a:xfrm>
            <a:off x="2148840" y="5544921"/>
            <a:ext cx="1371600" cy="855878"/>
          </a:xfrm>
          <a:prstGeom prst="rect">
            <a:avLst/>
          </a:prstGeom>
          <a:solidFill>
            <a:srgbClr val="0D4A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9" name="TextBox 48"/>
          <p:cNvSpPr txBox="1"/>
          <p:nvPr/>
        </p:nvSpPr>
        <p:spPr>
          <a:xfrm>
            <a:off x="2148840" y="5288889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96.08%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148840" y="6446520"/>
            <a:ext cx="137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AABBCC"/>
                </a:solidFill>
              </a:rPr>
              <a:t>MLP
Noisy</a:t>
            </a:r>
          </a:p>
        </p:txBody>
      </p:sp>
      <p:sp>
        <p:nvSpPr>
          <p:cNvPr id="51" name="Rectangle 50"/>
          <p:cNvSpPr/>
          <p:nvPr/>
        </p:nvSpPr>
        <p:spPr>
          <a:xfrm>
            <a:off x="3840480" y="4339285"/>
            <a:ext cx="1371600" cy="2061514"/>
          </a:xfrm>
          <a:prstGeom prst="rect">
            <a:avLst/>
          </a:prstGeom>
          <a:solidFill>
            <a:srgbClr val="4CAF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2" name="TextBox 51"/>
          <p:cNvSpPr txBox="1"/>
          <p:nvPr/>
        </p:nvSpPr>
        <p:spPr>
          <a:xfrm>
            <a:off x="3840480" y="4083253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99.01%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3840480" y="6446520"/>
            <a:ext cx="137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AABBCC"/>
                </a:solidFill>
              </a:rPr>
              <a:t>CNN
Clean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532120" y="4647895"/>
            <a:ext cx="1371600" cy="1752904"/>
          </a:xfrm>
          <a:prstGeom prst="rect">
            <a:avLst/>
          </a:prstGeom>
          <a:solidFill>
            <a:srgbClr val="2A7A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5" name="TextBox 54"/>
          <p:cNvSpPr txBox="1"/>
          <p:nvPr/>
        </p:nvSpPr>
        <p:spPr>
          <a:xfrm>
            <a:off x="5532120" y="4391863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98.26%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5532120" y="6446520"/>
            <a:ext cx="137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AABBCC"/>
                </a:solidFill>
              </a:rPr>
              <a:t>CNN
Noisy</a:t>
            </a:r>
          </a:p>
        </p:txBody>
      </p:sp>
      <p:sp>
        <p:nvSpPr>
          <p:cNvPr id="57" name="Rectangle 56"/>
          <p:cNvSpPr/>
          <p:nvPr/>
        </p:nvSpPr>
        <p:spPr>
          <a:xfrm>
            <a:off x="7223760" y="4898897"/>
            <a:ext cx="1371600" cy="1501902"/>
          </a:xfrm>
          <a:prstGeom prst="rect">
            <a:avLst/>
          </a:prstGeom>
          <a:solidFill>
            <a:srgbClr val="8A35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8" name="TextBox 57"/>
          <p:cNvSpPr txBox="1"/>
          <p:nvPr/>
        </p:nvSpPr>
        <p:spPr>
          <a:xfrm>
            <a:off x="7223760" y="4642865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97.65%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223760" y="6446520"/>
            <a:ext cx="137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AABBCC"/>
                </a:solidFill>
              </a:rPr>
              <a:t>Trans
Clean</a:t>
            </a:r>
          </a:p>
        </p:txBody>
      </p:sp>
      <p:sp>
        <p:nvSpPr>
          <p:cNvPr id="60" name="Rectangle 59"/>
          <p:cNvSpPr/>
          <p:nvPr/>
        </p:nvSpPr>
        <p:spPr>
          <a:xfrm>
            <a:off x="8915400" y="5322722"/>
            <a:ext cx="1371600" cy="1078077"/>
          </a:xfrm>
          <a:prstGeom prst="rect">
            <a:avLst/>
          </a:prstGeom>
          <a:solidFill>
            <a:srgbClr val="5A20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1" name="TextBox 60"/>
          <p:cNvSpPr txBox="1"/>
          <p:nvPr/>
        </p:nvSpPr>
        <p:spPr>
          <a:xfrm>
            <a:off x="8915400" y="5066690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96.62%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8915400" y="6446520"/>
            <a:ext cx="137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AABBCC"/>
                </a:solidFill>
              </a:rPr>
              <a:t>Trans
Noisy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/>
          <p:cNvSpPr txBox="1"/>
          <p:nvPr/>
        </p:nvSpPr>
        <p:spPr>
          <a:xfrm>
            <a:off x="457200" y="164592"/>
            <a:ext cx="82296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00C2FF"/>
                </a:solidFill>
              </a:rPr>
              <a:t>Key Takeaways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143000"/>
            <a:ext cx="109728" cy="1143000"/>
          </a:xfrm>
          <a:prstGeom prst="rect">
            <a:avLst/>
          </a:prstGeom>
          <a:solidFill>
            <a:srgbClr val="4CAF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85800" y="1197864"/>
            <a:ext cx="10789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1" i="0">
                <a:solidFill>
                  <a:srgbClr val="4CAF50"/>
                </a:solidFill>
              </a:rPr>
              <a:t>CNN is best for image tasks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618488"/>
            <a:ext cx="1078992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sz="1600" b="0" i="0" dirty="0">
                <a:solidFill>
                  <a:srgbClr val="CCE5FF"/>
                </a:solidFill>
              </a:rPr>
              <a:t>Because it understands the 2D structure of images, CNN scored the highest — 99.01% on clean images and only dropped by 0.75% under noise.</a:t>
            </a:r>
            <a:endParaRPr sz="1600" b="0" i="0" dirty="0">
              <a:solidFill>
                <a:srgbClr val="CCE5FF"/>
              </a:solidFill>
            </a:endParaRPr>
          </a:p>
        </p:txBody>
      </p:sp>
      <p:sp>
        <p:nvSpPr>
          <p:cNvPr id="10" name="Rectangle 9"/>
          <p:cNvSpPr/>
          <p:nvPr/>
        </p:nvSpPr>
        <p:spPr>
          <a:xfrm>
            <a:off x="457200" y="2404872"/>
            <a:ext cx="109728" cy="1143000"/>
          </a:xfrm>
          <a:prstGeom prst="rect">
            <a:avLst/>
          </a:prstGeom>
          <a:solidFill>
            <a:srgbClr val="AA5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85800" y="2459736"/>
            <a:ext cx="10789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1" i="0">
                <a:solidFill>
                  <a:srgbClr val="AA55FF"/>
                </a:solidFill>
              </a:rPr>
              <a:t>Transformers work — even without convolutions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" y="2880360"/>
            <a:ext cx="1078992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sz="1600" b="0" i="0" dirty="0">
                <a:solidFill>
                  <a:srgbClr val="CCE5FF"/>
                </a:solidFill>
              </a:rPr>
              <a:t>By splitting the image into patches and using attention to connect them, the Transformer achieved 97.65% accuracy without any convolutional layers.</a:t>
            </a:r>
            <a:endParaRPr sz="1600" b="0" i="0" dirty="0">
              <a:solidFill>
                <a:srgbClr val="CCE5FF"/>
              </a:solidFill>
            </a:endParaRPr>
          </a:p>
        </p:txBody>
      </p:sp>
      <p:sp>
        <p:nvSpPr>
          <p:cNvPr id="14" name="Rectangle 13"/>
          <p:cNvSpPr/>
          <p:nvPr/>
        </p:nvSpPr>
        <p:spPr>
          <a:xfrm>
            <a:off x="457200" y="3666744"/>
            <a:ext cx="109728" cy="1143000"/>
          </a:xfrm>
          <a:prstGeom prst="rect">
            <a:avLst/>
          </a:prstGeom>
          <a:solidFill>
            <a:srgbClr val="00C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685800" y="3721608"/>
            <a:ext cx="10789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1" i="0">
                <a:solidFill>
                  <a:srgbClr val="00C2FF"/>
                </a:solidFill>
              </a:rPr>
              <a:t>MLP is a strong baseline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5800" y="4142232"/>
            <a:ext cx="1078992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sz="1600" b="0" i="0" dirty="0">
                <a:solidFill>
                  <a:srgbClr val="CCE5FF"/>
                </a:solidFill>
              </a:rPr>
              <a:t>Even though MLP throws away all spatial information by flattening the image into a 1D vector, it still reached 96.94% — showing MNIST is simple enough for a plain fully-connected network.</a:t>
            </a:r>
            <a:endParaRPr sz="1600" b="0" i="0" dirty="0">
              <a:solidFill>
                <a:srgbClr val="CCE5FF"/>
              </a:solidFill>
            </a:endParaRPr>
          </a:p>
        </p:txBody>
      </p:sp>
      <p:sp>
        <p:nvSpPr>
          <p:cNvPr id="18" name="Rectangle 17"/>
          <p:cNvSpPr/>
          <p:nvPr/>
        </p:nvSpPr>
        <p:spPr>
          <a:xfrm>
            <a:off x="457200" y="4928616"/>
            <a:ext cx="109728" cy="1143000"/>
          </a:xfrm>
          <a:prstGeom prst="rect">
            <a:avLst/>
          </a:prstGeom>
          <a:solidFill>
            <a:srgbClr val="FFD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685800" y="4983480"/>
            <a:ext cx="10789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1" i="0">
                <a:solidFill>
                  <a:srgbClr val="FFD700"/>
                </a:solidFill>
              </a:rPr>
              <a:t>Gaussian noise affects all models, but minimally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85800" y="5404104"/>
            <a:ext cx="1078992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sz="1600" b="0" i="0" dirty="0">
                <a:solidFill>
                  <a:srgbClr val="CCE5FF"/>
                </a:solidFill>
              </a:rPr>
              <a:t>Adding random noise to test images dropped accuracy by less than 1.1% across all three models. CNN was the most resilient, losing only 0.75%.</a:t>
            </a:r>
            <a:endParaRPr sz="1600" b="0" i="0" dirty="0">
              <a:solidFill>
                <a:srgbClr val="CCE5FF"/>
              </a:solidFill>
            </a:endParaRPr>
          </a:p>
        </p:txBody>
      </p:sp>
    </p:spTree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Celestial">
  <a:themeElements>
    <a:clrScheme name="Celestial">
      <a:dk1>
        <a:sysClr val="windowText" lastClr="000000"/>
      </a:dk1>
      <a:lt1>
        <a:sysClr val="window" lastClr="FFFFFF"/>
      </a:lt1>
      <a:dk2>
        <a:srgbClr val="18276C"/>
      </a:dk2>
      <a:lt2>
        <a:srgbClr val="EBEBEB"/>
      </a:lt2>
      <a:accent1>
        <a:srgbClr val="AC3EC1"/>
      </a:accent1>
      <a:accent2>
        <a:srgbClr val="477BD1"/>
      </a:accent2>
      <a:accent3>
        <a:srgbClr val="46B298"/>
      </a:accent3>
      <a:accent4>
        <a:srgbClr val="90BA4C"/>
      </a:accent4>
      <a:accent5>
        <a:srgbClr val="DD9D31"/>
      </a:accent5>
      <a:accent6>
        <a:srgbClr val="E25247"/>
      </a:accent6>
      <a:hlink>
        <a:srgbClr val="C573D2"/>
      </a:hlink>
      <a:folHlink>
        <a:srgbClr val="CCAEE8"/>
      </a:folHlink>
    </a:clrScheme>
    <a:fontScheme name="Celestial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Celestial">
      <a:fillStyleLst>
        <a:solidFill>
          <a:schemeClr val="phClr"/>
        </a:solidFill>
        <a:gradFill rotWithShape="1">
          <a:gsLst>
            <a:gs pos="0">
              <a:schemeClr val="phClr">
                <a:tint val="70000"/>
                <a:lumMod val="110000"/>
              </a:schemeClr>
            </a:gs>
            <a:gs pos="100000">
              <a:schemeClr val="phClr">
                <a:tint val="82000"/>
                <a:alpha val="74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8000"/>
                <a:lumMod val="100000"/>
              </a:schemeClr>
            </a:gs>
            <a:gs pos="100000">
              <a:schemeClr val="phClr">
                <a:shade val="88000"/>
                <a:lumMod val="88000"/>
              </a:schemeClr>
            </a:gs>
          </a:gsLst>
          <a:lin ang="5400000" scaled="1"/>
        </a:gradFill>
      </a:fillStyleLst>
      <a:lnStyleLst>
        <a:ln w="9525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50800" dist="381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63500" dist="38100" dir="5400000" rotWithShape="0">
              <a:srgbClr val="000000">
                <a:alpha val="65000"/>
              </a:srgbClr>
            </a:outerShdw>
          </a:effectLst>
          <a:scene3d>
            <a:camera prst="orthographicFront">
              <a:rot lat="0" lon="0" rev="0"/>
            </a:camera>
            <a:lightRig rig="threePt" dir="tl">
              <a:rot lat="0" lon="0" rev="1200000"/>
            </a:lightRig>
          </a:scene3d>
          <a:sp3d>
            <a:bevelT w="38100" h="127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shade val="96000"/>
                <a:hueMod val="100000"/>
                <a:satMod val="180000"/>
                <a:lumMod val="110000"/>
              </a:schemeClr>
            </a:gs>
            <a:gs pos="100000">
              <a:schemeClr val="phClr">
                <a:shade val="96000"/>
                <a:satMod val="160000"/>
                <a:lumMod val="100000"/>
              </a:schemeClr>
            </a:gs>
          </a:gsLst>
          <a:lin ang="4740000" scaled="1"/>
        </a:gradFill>
        <a:blipFill>
          <a:blip xmlns:r="http://schemas.openxmlformats.org/officeDocument/2006/relationships" r:embed="rId1"/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Celestial" id="{C4BB2A3D-0E93-4C5F-B0D2-9D3FCE089CC5}" vid="{42E5908D-19A2-46FD-89FA-638B126129EF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Celestial</Template>
  <TotalTime>709</TotalTime>
  <Words>939</Words>
  <Application>Microsoft Macintosh PowerPoint</Application>
  <PresentationFormat>Custom</PresentationFormat>
  <Paragraphs>182</Paragraphs>
  <Slides>7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4" baseType="lpstr">
      <vt:lpstr>-apple-system</vt:lpstr>
      <vt:lpstr>Aptos</vt:lpstr>
      <vt:lpstr>Arial</vt:lpstr>
      <vt:lpstr>Calibri</vt:lpstr>
      <vt:lpstr>Calibri Light</vt:lpstr>
      <vt:lpstr>Cambria Math</vt:lpstr>
      <vt:lpstr>Celestial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Ziru Xu</cp:lastModifiedBy>
  <cp:revision>8</cp:revision>
  <dcterms:created xsi:type="dcterms:W3CDTF">2013-01-27T09:14:16Z</dcterms:created>
  <dcterms:modified xsi:type="dcterms:W3CDTF">2026-05-30T18:52:45Z</dcterms:modified>
  <cp:category/>
</cp:coreProperties>
</file>
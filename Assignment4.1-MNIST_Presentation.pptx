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66"/>
  </p:normalViewPr>
  <p:slideViewPr>
    <p:cSldViewPr snapToGrid="0" snapToObjects="1">
      <p:cViewPr>
        <p:scale>
          <a:sx n="70" d="100"/>
          <a:sy n="70" d="100"/>
        </p:scale>
        <p:origin x="1096" y="1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5A8BD-464B-8E48-9F68-EFE5E7A2E5E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91530-B6A9-9C4B-B6FD-24519C43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4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91530-B6A9-9C4B-B6FD-24519C43BC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43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Multi-Layer Perceptron (MLP) is a fully connected neural network that processes input data as a one-dimensional vector.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the MNIST dataset, each image has a size of 28 × 28 pixels. Since an MLP cannot directly handle 2D spatial structure, the image is first flattened into a vector of length 784 (28 × 28).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architecture used in this model is: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Input layer: 784 neurons (flattened image)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Hidden layer 1: 256 neurons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activation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Hidden layer 2: 128 neurons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activation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Output layer: 10 neurons (one for each digit class 0–9)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91530-B6A9-9C4B-B6FD-24519C43BC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52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1367" y="1964267"/>
            <a:ext cx="7195852" cy="2421464"/>
          </a:xfrm>
        </p:spPr>
        <p:txBody>
          <a:bodyPr anchor="b">
            <a:normAutofit/>
          </a:bodyPr>
          <a:lstStyle>
            <a:lvl1pPr algn="r">
              <a:defRPr sz="479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1367" y="4385733"/>
            <a:ext cx="7195852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799" cap="all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0232" y="5870576"/>
            <a:ext cx="159978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1367" y="5870576"/>
            <a:ext cx="4892684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6196" y="5870576"/>
            <a:ext cx="551023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6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1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3308581"/>
            <a:ext cx="10128789" cy="1468800"/>
          </a:xfrm>
        </p:spPr>
        <p:txBody>
          <a:bodyPr anchor="b"/>
          <a:lstStyle>
            <a:lvl1pPr algn="l">
              <a:defRPr sz="3999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0" y="4777381"/>
            <a:ext cx="101287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 cap="all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9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623" y="2142067"/>
            <a:ext cx="4994033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0379" y="2142068"/>
            <a:ext cx="4994031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9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416" y="2218267"/>
            <a:ext cx="4707828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623" y="2870201"/>
            <a:ext cx="4995622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6" y="2226734"/>
            <a:ext cx="4721583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1967" y="2870201"/>
            <a:ext cx="499403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8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2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0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2074333"/>
            <a:ext cx="3679926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6991" y="609601"/>
            <a:ext cx="6167419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3445933"/>
            <a:ext cx="3679926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0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1600200"/>
            <a:ext cx="6163048" cy="13716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4290" y="914400"/>
            <a:ext cx="328012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2971800"/>
            <a:ext cx="6163048" cy="1828800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4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2" y="4732865"/>
            <a:ext cx="1012878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243" y="932112"/>
            <a:ext cx="8757546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622" y="5299603"/>
            <a:ext cx="10128789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98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9" cy="3124199"/>
          </a:xfrm>
        </p:spPr>
        <p:txBody>
          <a:bodyPr anchor="ctr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1" y="4343400"/>
            <a:ext cx="1012879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7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5201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148" y="823337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09" y="609602"/>
            <a:ext cx="9547912" cy="2743199"/>
          </a:xfrm>
        </p:spPr>
        <p:txBody>
          <a:bodyPr anchor="ctr">
            <a:normAutofit/>
          </a:bodyPr>
          <a:lstStyle>
            <a:lvl1pPr algn="l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589" y="3352800"/>
            <a:ext cx="933675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287" y="4343400"/>
            <a:ext cx="1014972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06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4" y="3308581"/>
            <a:ext cx="10128787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2" y="4777381"/>
            <a:ext cx="1012878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03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5201" y="274320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148" y="823337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009" y="609602"/>
            <a:ext cx="9547912" cy="2743199"/>
          </a:xfrm>
        </p:spPr>
        <p:txBody>
          <a:bodyPr anchor="ctr">
            <a:normAutofit/>
          </a:bodyPr>
          <a:lstStyle>
            <a:lvl1pPr algn="l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621" y="3886200"/>
            <a:ext cx="10132797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0" y="4775200"/>
            <a:ext cx="10132797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12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3" y="609602"/>
            <a:ext cx="1012878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622" y="3505200"/>
            <a:ext cx="1012879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799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1" y="4343400"/>
            <a:ext cx="1012879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48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7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00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6420" y="609600"/>
            <a:ext cx="2157990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2" y="609600"/>
            <a:ext cx="783007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623" y="609601"/>
            <a:ext cx="10128787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623" y="2142068"/>
            <a:ext cx="10128787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7423" y="5870576"/>
            <a:ext cx="159978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622" y="5870576"/>
            <a:ext cx="782562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3387" y="5870576"/>
            <a:ext cx="55102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043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8052" y="211559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0" dirty="0">
                <a:solidFill>
                  <a:srgbClr val="FFFFFF"/>
                </a:solidFill>
              </a:rPr>
              <a:t>MNIST Handwritten Digit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052" y="369500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0" i="0" dirty="0">
                <a:solidFill>
                  <a:srgbClr val="00C2FF"/>
                </a:solidFill>
              </a:rPr>
              <a:t>Comparing MLP  ·  CNN  · 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052" y="5320146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solidFill>
                  <a:srgbClr val="AABBCC"/>
                </a:solidFill>
              </a:rPr>
              <a:t>Assignment 4.1  |  Ziru Xu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07811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Problem &amp;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79" y="1280160"/>
            <a:ext cx="5320045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dirty="0">
                <a:solidFill>
                  <a:srgbClr val="00C2FF"/>
                </a:solidFill>
              </a:rPr>
              <a:t>The Problem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Classify handwritten digits 0–9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MNIST: 60,000 train / 10,000 test images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Image size: 28 × 28 grayscale pixels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10 classes (digits 0 through 9)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40079" y="3291840"/>
                <a:ext cx="5989591" cy="3366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100" b="1" dirty="0">
                    <a:solidFill>
                      <a:srgbClr val="00C2FF"/>
                    </a:solidFill>
                  </a:rPr>
                  <a:t>Data Preprocessing</a:t>
                </a:r>
              </a:p>
              <a:p>
                <a:pPr>
                  <a:spcBef>
                    <a:spcPts val="300"/>
                  </a:spcBef>
                </a:pPr>
                <a:r>
                  <a:rPr sz="1900" dirty="0">
                    <a:solidFill>
                      <a:srgbClr val="CCE5FF"/>
                    </a:solidFill>
                  </a:rPr>
                  <a:t>• </a:t>
                </a:r>
                <a:r>
                  <a:rPr lang="en-US" sz="1900" dirty="0" err="1">
                    <a:solidFill>
                      <a:srgbClr val="CCE5FF"/>
                    </a:solidFill>
                  </a:rPr>
                  <a:t>ToTensor</a:t>
                </a:r>
                <a:r>
                  <a:rPr lang="en-US" sz="1900" dirty="0">
                    <a:solidFill>
                      <a:srgbClr val="CCE5FF"/>
                    </a:solidFill>
                  </a:rPr>
                  <a:t> converts pixel values from integers [0, 255] to floats [0,1]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1900" dirty="0">
                    <a:solidFill>
                      <a:srgbClr val="CCE5FF"/>
                    </a:solidFill>
                  </a:rPr>
                  <a:t>• Normalize(mean=0.5, std=0.5) — maps [0, 1] → [-1, 1] using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900">
                            <a:solidFill>
                              <a:srgbClr val="CCE5FF"/>
                            </a:solidFill>
                          </a:rPr>
                        </m:ctrlPr>
                      </m:sSupPr>
                      <m:e>
                        <m:r>
                          <a:rPr lang="ar-AE" sz="1900">
                            <a:solidFill>
                              <a:srgbClr val="CCE5FF"/>
                            </a:solidFill>
                          </a:rPr>
                          <m:t>𝑥</m:t>
                        </m:r>
                      </m:e>
                      <m:sup>
                        <m:r>
                          <a:rPr lang="ar-AE" sz="1900">
                            <a:solidFill>
                              <a:srgbClr val="CCE5FF"/>
                            </a:solidFill>
                          </a:rPr>
                          <m:t>′</m:t>
                        </m:r>
                      </m:sup>
                    </m:sSup>
                    <m:r>
                      <a:rPr lang="ar-AE" sz="1900">
                        <a:solidFill>
                          <a:srgbClr val="CCE5FF"/>
                        </a:solidFill>
                      </a:rPr>
                      <m:t>=</m:t>
                    </m:r>
                    <m:f>
                      <m:fPr>
                        <m:ctrlPr>
                          <a:rPr lang="ar-AE" sz="1900">
                            <a:solidFill>
                              <a:srgbClr val="CCE5FF"/>
                            </a:solidFill>
                          </a:rPr>
                        </m:ctrlPr>
                      </m:fPr>
                      <m:num>
                        <m:r>
                          <a:rPr lang="ar-AE" sz="1900">
                            <a:solidFill>
                              <a:srgbClr val="CCE5FF"/>
                            </a:solidFill>
                          </a:rPr>
                          <m:t>𝑥</m:t>
                        </m:r>
                        <m:r>
                          <a:rPr lang="ar-AE" sz="1900">
                            <a:solidFill>
                              <a:srgbClr val="CCE5FF"/>
                            </a:solidFill>
                          </a:rPr>
                          <m:t>−0.5</m:t>
                        </m:r>
                      </m:num>
                      <m:den>
                        <m:r>
                          <a:rPr lang="ar-AE" sz="1900">
                            <a:solidFill>
                              <a:srgbClr val="CCE5FF"/>
                            </a:solidFill>
                          </a:rPr>
                          <m:t>0.5</m:t>
                        </m:r>
                      </m:den>
                    </m:f>
                  </m:oMath>
                </a14:m>
                <a:br>
                  <a:rPr lang="ar-AE" dirty="0"/>
                </a:br>
                <a:r>
                  <a:rPr sz="1900" dirty="0">
                    <a:solidFill>
                      <a:srgbClr val="CCE5FF"/>
                    </a:solidFill>
                  </a:rPr>
                  <a:t>•  Noisy split</a:t>
                </a:r>
                <a:r>
                  <a:rPr lang="en-US" sz="1900" dirty="0">
                    <a:solidFill>
                      <a:srgbClr val="CCE5FF"/>
                    </a:solidFill>
                  </a:rPr>
                  <a:t> adds Gaussian noise sampled from 𝑁(0, 0.2</a:t>
                </a:r>
                <a:r>
                  <a:rPr lang="en-US" sz="1900" baseline="30000" dirty="0">
                    <a:solidFill>
                      <a:srgbClr val="CCE5FF"/>
                    </a:solidFill>
                  </a:rPr>
                  <a:t>2</a:t>
                </a:r>
                <a:r>
                  <a:rPr lang="en-US" sz="1900" dirty="0">
                    <a:solidFill>
                      <a:srgbClr val="CCE5FF"/>
                    </a:solidFill>
                  </a:rPr>
                  <a:t>) ) to each pixel </a:t>
                </a:r>
              </a:p>
              <a:p>
                <a:pPr>
                  <a:spcBef>
                    <a:spcPts val="300"/>
                  </a:spcBef>
                </a:pPr>
                <a:endParaRPr lang="en-US" sz="1900" dirty="0">
                  <a:solidFill>
                    <a:srgbClr val="CCE5FF"/>
                  </a:solidFill>
                </a:endParaRPr>
              </a:p>
              <a:p>
                <a:pPr>
                  <a:spcBef>
                    <a:spcPts val="300"/>
                  </a:spcBef>
                </a:pPr>
                <a:endParaRPr lang="en-US" sz="1900" dirty="0">
                  <a:solidFill>
                    <a:srgbClr val="CCE5FF"/>
                  </a:solidFill>
                </a:endParaRPr>
              </a:p>
              <a:p>
                <a:pPr>
                  <a:spcBef>
                    <a:spcPts val="300"/>
                  </a:spcBef>
                </a:pPr>
                <a:endParaRPr sz="1900" dirty="0">
                  <a:solidFill>
                    <a:srgbClr val="CCE5FF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3291840"/>
                <a:ext cx="5989591" cy="3366499"/>
              </a:xfrm>
              <a:prstGeom prst="rect">
                <a:avLst/>
              </a:prstGeom>
              <a:blipFill>
                <a:blip r:embed="rId3"/>
                <a:stretch>
                  <a:fillRect l="-1268" t="-1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</a:rPr>
              <a:t>Sample Digits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725443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AABBCC"/>
                </a:solidFill>
              </a:rPr>
              <a:t>Clean          vs         Noisy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2129EA-8D54-C13E-F346-5B44822DC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671" y="1756796"/>
            <a:ext cx="4571458" cy="1855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5F5EF1-7C5E-B387-262D-7612C9E1F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671" y="3755334"/>
            <a:ext cx="4571458" cy="18550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Model 1 — Multi-Layer Perceptron (MLP)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811012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dirty="0">
                <a:solidFill>
                  <a:srgbClr val="00C2FF"/>
                </a:solidFill>
              </a:rPr>
              <a:t>Overview</a:t>
            </a:r>
            <a:r>
              <a:rPr lang="en-US" sz="2100" b="1" dirty="0">
                <a:solidFill>
                  <a:srgbClr val="00C2FF"/>
                </a:solidFill>
              </a:rPr>
              <a:t> - No spatial awareness — pixels treated independently</a:t>
            </a:r>
            <a:endParaRPr sz="2100" b="1" dirty="0">
              <a:solidFill>
                <a:srgbClr val="00C2FF"/>
              </a:solidFill>
            </a:endParaRPr>
          </a:p>
          <a:p>
            <a:r>
              <a:rPr sz="1900" dirty="0">
                <a:solidFill>
                  <a:srgbClr val="CCE5FF"/>
                </a:solidFill>
              </a:rPr>
              <a:t>•</a:t>
            </a:r>
            <a:r>
              <a:rPr lang="en-US" sz="1900" dirty="0">
                <a:solidFill>
                  <a:srgbClr val="CCE5FF"/>
                </a:solidFill>
              </a:rPr>
              <a:t> </a:t>
            </a:r>
            <a:r>
              <a:rPr lang="en-US" dirty="0">
                <a:solidFill>
                  <a:srgbClr val="CCE5FF"/>
                </a:solidFill>
              </a:rPr>
              <a:t>The Multi-Layer Perceptron (MLP) is a fully connected neural network that processes input data as a one-dimensional </a:t>
            </a:r>
            <a:r>
              <a:rPr lang="en-US" dirty="0" err="1">
                <a:solidFill>
                  <a:srgbClr val="CCE5FF"/>
                </a:solidFill>
              </a:rPr>
              <a:t>vector.Since</a:t>
            </a:r>
            <a:r>
              <a:rPr lang="en-US" dirty="0">
                <a:solidFill>
                  <a:srgbClr val="CCE5FF"/>
                </a:solidFill>
              </a:rPr>
              <a:t> an MLP cannot directly handle 2D spatial structure, the image is first flattened into a vector of length 784 (28 × 28).</a:t>
            </a:r>
          </a:p>
          <a:p>
            <a:r>
              <a:rPr lang="en-US" dirty="0">
                <a:solidFill>
                  <a:srgbClr val="CCE5FF"/>
                </a:solidFill>
              </a:rPr>
              <a:t>•  Simple, fast baseline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04B9D1-3C76-4374-DA56-2C7546B1B525}"/>
              </a:ext>
            </a:extLst>
          </p:cNvPr>
          <p:cNvGrpSpPr/>
          <p:nvPr/>
        </p:nvGrpSpPr>
        <p:grpSpPr>
          <a:xfrm>
            <a:off x="594360" y="4963649"/>
            <a:ext cx="11247120" cy="1463040"/>
            <a:chOff x="457200" y="3520440"/>
            <a:chExt cx="11247120" cy="1463040"/>
          </a:xfrm>
        </p:grpSpPr>
        <p:sp>
          <p:nvSpPr>
            <p:cNvPr id="6" name="Rectangle 5"/>
            <p:cNvSpPr/>
            <p:nvPr/>
          </p:nvSpPr>
          <p:spPr>
            <a:xfrm>
              <a:off x="1549908" y="3931920"/>
              <a:ext cx="2011680" cy="1051560"/>
            </a:xfrm>
            <a:prstGeom prst="rect">
              <a:avLst/>
            </a:prstGeom>
            <a:solidFill>
              <a:srgbClr val="00C2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549908" y="4069080"/>
              <a:ext cx="201168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FFFFFF"/>
                  </a:solidFill>
                </a:rPr>
                <a:t>Input
784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61588" y="4251960"/>
              <a:ext cx="347472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 i="0">
                  <a:solidFill>
                    <a:srgbClr val="AABBCC"/>
                  </a:solidFill>
                </a:rPr>
                <a:t>→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909060" y="3931920"/>
              <a:ext cx="2011680" cy="1051560"/>
            </a:xfrm>
            <a:prstGeom prst="rect">
              <a:avLst/>
            </a:prstGeom>
            <a:solidFill>
              <a:srgbClr val="1A6B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9060" y="4069080"/>
              <a:ext cx="201168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FFFFFF"/>
                  </a:solidFill>
                </a:rPr>
                <a:t>Hidden 1
256  ReLU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20740" y="4251960"/>
              <a:ext cx="347472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 i="0">
                  <a:solidFill>
                    <a:srgbClr val="AABBCC"/>
                  </a:solidFill>
                </a:rPr>
                <a:t>→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68212" y="3931920"/>
              <a:ext cx="2011680" cy="1051560"/>
            </a:xfrm>
            <a:prstGeom prst="rect">
              <a:avLst/>
            </a:prstGeom>
            <a:solidFill>
              <a:srgbClr val="1A6B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68212" y="4069080"/>
              <a:ext cx="201168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FFFFFF"/>
                  </a:solidFill>
                </a:rPr>
                <a:t>Hidden 2
128  ReLU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79892" y="4251960"/>
              <a:ext cx="347472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0" i="0">
                  <a:solidFill>
                    <a:srgbClr val="AABBCC"/>
                  </a:solidFill>
                </a:rPr>
                <a:t>→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627364" y="3931920"/>
              <a:ext cx="2011680" cy="1051560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27364" y="4069080"/>
              <a:ext cx="201168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500" b="1" i="0">
                  <a:solidFill>
                    <a:srgbClr val="FFFFFF"/>
                  </a:solidFill>
                </a:rPr>
                <a:t>Output
10 classes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7200" y="3520440"/>
              <a:ext cx="112471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600" b="0" i="1" dirty="0">
                  <a:solidFill>
                    <a:srgbClr val="FFD700"/>
                  </a:solidFill>
                </a:rPr>
                <a:t>Flatten step: 28×28 → 784-dim vector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217920" y="1051560"/>
            <a:ext cx="530352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FD700"/>
                </a:solidFill>
              </a:rPr>
              <a:t>Hyperparameters</a:t>
            </a:r>
            <a:endParaRPr sz="2000" b="1" dirty="0">
              <a:solidFill>
                <a:srgbClr val="FFD700"/>
              </a:solidFill>
            </a:endParaRPr>
          </a:p>
          <a:p>
            <a:pPr algn="l">
              <a:spcBef>
                <a:spcPts val="300"/>
              </a:spcBef>
            </a:pPr>
            <a:endParaRPr sz="1800" dirty="0">
              <a:solidFill>
                <a:srgbClr val="CCE5FF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5D20C14-1A4E-5F86-E76F-3F606966B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129184"/>
              </p:ext>
            </p:extLst>
          </p:nvPr>
        </p:nvGraphicFramePr>
        <p:xfrm>
          <a:off x="6720289" y="1502951"/>
          <a:ext cx="3415394" cy="1752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3214">
                  <a:extLst>
                    <a:ext uri="{9D8B030D-6E8A-4147-A177-3AD203B41FA5}">
                      <a16:colId xmlns:a16="http://schemas.microsoft.com/office/drawing/2014/main" val="1940200092"/>
                    </a:ext>
                  </a:extLst>
                </a:gridCol>
                <a:gridCol w="1742180">
                  <a:extLst>
                    <a:ext uri="{9D8B030D-6E8A-4147-A177-3AD203B41FA5}">
                      <a16:colId xmlns:a16="http://schemas.microsoft.com/office/drawing/2014/main" val="76769100"/>
                    </a:ext>
                  </a:extLst>
                </a:gridCol>
              </a:tblGrid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Hyperparameter</a:t>
                      </a:r>
                      <a:endParaRPr lang="en-US" sz="1800" kern="12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Value</a:t>
                      </a:r>
                      <a:endParaRPr lang="en-US" sz="1800" kern="12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75561491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Optimizer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Adam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34817580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Learning rate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1e-3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80104865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</a:rPr>
                        <a:t>Loss function</a:t>
                      </a:r>
                      <a:endParaRPr lang="en-US" sz="1800" kern="120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 err="1">
                          <a:solidFill>
                            <a:srgbClr val="CCE5FF"/>
                          </a:solidFill>
                        </a:rPr>
                        <a:t>CrossEntropyLoss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10740029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Epochs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5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0199298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BE00F4E-62E5-A24A-1595-3C3BF897E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016891"/>
              </p:ext>
            </p:extLst>
          </p:nvPr>
        </p:nvGraphicFramePr>
        <p:xfrm>
          <a:off x="6094412" y="3332185"/>
          <a:ext cx="5811012" cy="1402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37004">
                  <a:extLst>
                    <a:ext uri="{9D8B030D-6E8A-4147-A177-3AD203B41FA5}">
                      <a16:colId xmlns:a16="http://schemas.microsoft.com/office/drawing/2014/main" val="3854524796"/>
                    </a:ext>
                  </a:extLst>
                </a:gridCol>
                <a:gridCol w="1937004">
                  <a:extLst>
                    <a:ext uri="{9D8B030D-6E8A-4147-A177-3AD203B41FA5}">
                      <a16:colId xmlns:a16="http://schemas.microsoft.com/office/drawing/2014/main" val="388700447"/>
                    </a:ext>
                  </a:extLst>
                </a:gridCol>
                <a:gridCol w="1937004">
                  <a:extLst>
                    <a:ext uri="{9D8B030D-6E8A-4147-A177-3AD203B41FA5}">
                      <a16:colId xmlns:a16="http://schemas.microsoft.com/office/drawing/2014/main" val="2429665962"/>
                    </a:ext>
                  </a:extLst>
                </a:gridCol>
              </a:tblGrid>
              <a:tr h="303975"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Layer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Calculation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Params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01029515"/>
                  </a:ext>
                </a:extLst>
              </a:tr>
              <a:tr h="303975"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  <a:latin typeface="+mn-lt"/>
                          <a:ea typeface="+mn-ea"/>
                          <a:cs typeface="+mn-cs"/>
                        </a:rPr>
                        <a:t>Linear(784 → 256)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  <a:latin typeface="+mn-lt"/>
                          <a:ea typeface="+mn-ea"/>
                          <a:cs typeface="+mn-cs"/>
                        </a:rPr>
                        <a:t>784×256 + 256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  <a:latin typeface="+mn-lt"/>
                          <a:ea typeface="+mn-ea"/>
                          <a:cs typeface="+mn-cs"/>
                        </a:rPr>
                        <a:t>200,960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44194146"/>
                  </a:ext>
                </a:extLst>
              </a:tr>
              <a:tr h="303975"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  <a:latin typeface="+mn-lt"/>
                          <a:ea typeface="+mn-ea"/>
                          <a:cs typeface="+mn-cs"/>
                        </a:rPr>
                        <a:t>Linear(256 → 128)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  <a:latin typeface="+mn-lt"/>
                          <a:ea typeface="+mn-ea"/>
                          <a:cs typeface="+mn-cs"/>
                        </a:rPr>
                        <a:t>256×128 + 128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  <a:latin typeface="+mn-lt"/>
                          <a:ea typeface="+mn-ea"/>
                          <a:cs typeface="+mn-cs"/>
                        </a:rPr>
                        <a:t>32,896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18573491"/>
                  </a:ext>
                </a:extLst>
              </a:tr>
              <a:tr h="303975"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  <a:latin typeface="+mn-lt"/>
                          <a:ea typeface="+mn-ea"/>
                          <a:cs typeface="+mn-cs"/>
                        </a:rPr>
                        <a:t>Linear(128 → 10)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  <a:latin typeface="+mn-lt"/>
                          <a:ea typeface="+mn-ea"/>
                          <a:cs typeface="+mn-cs"/>
                        </a:rPr>
                        <a:t>128×10 + 10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  <a:latin typeface="+mn-lt"/>
                          <a:ea typeface="+mn-ea"/>
                          <a:cs typeface="+mn-cs"/>
                        </a:rPr>
                        <a:t>1,290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444456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5156F814-2DAA-2569-92C5-7A42E5772A7E}"/>
              </a:ext>
            </a:extLst>
          </p:cNvPr>
          <p:cNvSpPr txBox="1"/>
          <p:nvPr/>
        </p:nvSpPr>
        <p:spPr>
          <a:xfrm>
            <a:off x="9845279" y="4714975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-apple-system"/>
              </a:rPr>
              <a:t>235,146 parameters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Model 2 — Convolutional Neural Network (CNN)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dirty="0">
                <a:solidFill>
                  <a:srgbClr val="00C2FF"/>
                </a:solidFill>
              </a:rPr>
              <a:t>Overview</a:t>
            </a:r>
          </a:p>
          <a:p>
            <a:r>
              <a:rPr lang="en-US" dirty="0">
                <a:solidFill>
                  <a:srgbClr val="CCE5FF"/>
                </a:solidFill>
              </a:rPr>
              <a:t>•</a:t>
            </a:r>
            <a:r>
              <a:rPr dirty="0">
                <a:solidFill>
                  <a:srgbClr val="CCE5FF"/>
                </a:solidFill>
              </a:rPr>
              <a:t>  </a:t>
            </a:r>
            <a:r>
              <a:rPr lang="en-US" dirty="0">
                <a:solidFill>
                  <a:srgbClr val="CCE5FF"/>
                </a:solidFill>
              </a:rPr>
              <a:t>The Convolutional Neural Network (CNN) is designed to process image data by preserving spatial structure and learning local patterns such as edges and shapes.</a:t>
            </a:r>
          </a:p>
          <a:p>
            <a:r>
              <a:rPr lang="en-US" dirty="0">
                <a:solidFill>
                  <a:srgbClr val="CCE5FF"/>
                </a:solidFill>
              </a:rPr>
              <a:t>•  Unlike the MLP, the CNN takes the input image in its original 28 × 28 grayscale format and applies convolutional filters to extract features.</a:t>
            </a:r>
          </a:p>
          <a:p>
            <a:r>
              <a:rPr sz="1900" dirty="0">
                <a:solidFill>
                  <a:srgbClr val="CCE5FF"/>
                </a:solidFill>
              </a:rPr>
              <a:t>•  Spatial hierarchy via two conv layers + pooling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Far fewer parameters than equivalent 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9052" y="5893308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AABBCC"/>
                </a:solidFill>
              </a:rPr>
              <a:t>→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59AF20-6BFE-9D1A-2A5D-A7CEF3B7ACE9}"/>
              </a:ext>
            </a:extLst>
          </p:cNvPr>
          <p:cNvGrpSpPr/>
          <p:nvPr/>
        </p:nvGrpSpPr>
        <p:grpSpPr>
          <a:xfrm>
            <a:off x="1293812" y="5504688"/>
            <a:ext cx="9601200" cy="1188720"/>
            <a:chOff x="1293876" y="3749039"/>
            <a:chExt cx="9601200" cy="1188720"/>
          </a:xfrm>
        </p:grpSpPr>
        <p:sp>
          <p:nvSpPr>
            <p:cNvPr id="6" name="Rectangle 5"/>
            <p:cNvSpPr/>
            <p:nvPr/>
          </p:nvSpPr>
          <p:spPr>
            <a:xfrm>
              <a:off x="1293876" y="3749039"/>
              <a:ext cx="1737360" cy="1188720"/>
            </a:xfrm>
            <a:prstGeom prst="rect">
              <a:avLst/>
            </a:prstGeom>
            <a:solidFill>
              <a:srgbClr val="1A6B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93876" y="3840479"/>
              <a:ext cx="17373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</a:rPr>
                <a:t>Conv1
32 filters 3×3
ReLU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31236" y="4114799"/>
              <a:ext cx="22860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 i="0">
                  <a:solidFill>
                    <a:srgbClr val="AABBCC"/>
                  </a:solidFill>
                </a:rPr>
                <a:t>→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259836" y="3749039"/>
              <a:ext cx="1737360" cy="1188720"/>
            </a:xfrm>
            <a:prstGeom prst="rect">
              <a:avLst/>
            </a:prstGeom>
            <a:solidFill>
              <a:srgbClr val="1A6B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59836" y="3840479"/>
              <a:ext cx="17373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</a:rPr>
                <a:t>Conv2
64 filters 3×3
ReLU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97196" y="4114799"/>
              <a:ext cx="22860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 i="0">
                  <a:solidFill>
                    <a:srgbClr val="AABBCC"/>
                  </a:solidFill>
                </a:rPr>
                <a:t>→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25796" y="3749039"/>
              <a:ext cx="1737360" cy="1188720"/>
            </a:xfrm>
            <a:prstGeom prst="rect">
              <a:avLst/>
            </a:prstGeom>
            <a:solidFill>
              <a:srgbClr val="6A35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25796" y="3840479"/>
              <a:ext cx="17373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</a:rPr>
                <a:t>MaxPool
2×2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63156" y="4114799"/>
              <a:ext cx="22860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0" i="0">
                  <a:solidFill>
                    <a:srgbClr val="AABBCC"/>
                  </a:solidFill>
                </a:rPr>
                <a:t>→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191756" y="3749039"/>
              <a:ext cx="1737360" cy="1188720"/>
            </a:xfrm>
            <a:prstGeom prst="rect">
              <a:avLst/>
            </a:prstGeom>
            <a:solidFill>
              <a:srgbClr val="1A6B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91756" y="3840479"/>
              <a:ext cx="17373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</a:rPr>
                <a:t>FC
128 ReLU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57716" y="3749039"/>
              <a:ext cx="1737360" cy="1188720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57716" y="3840479"/>
              <a:ext cx="17373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 dirty="0">
                  <a:solidFill>
                    <a:srgbClr val="FFFFFF"/>
                  </a:solidFill>
                </a:rPr>
                <a:t>Output
10 classes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323076" y="1051560"/>
            <a:ext cx="530352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D700"/>
                </a:solidFill>
              </a:rPr>
              <a:t>Hyperparameters</a:t>
            </a:r>
            <a:endParaRPr sz="2000" b="1" dirty="0">
              <a:solidFill>
                <a:srgbClr val="4CAF50"/>
              </a:solidFill>
            </a:endParaRPr>
          </a:p>
          <a:p>
            <a:pPr algn="l">
              <a:spcBef>
                <a:spcPts val="300"/>
              </a:spcBef>
            </a:pPr>
            <a:endParaRPr sz="1800" dirty="0">
              <a:solidFill>
                <a:srgbClr val="CCE5FF"/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B61977B-D74B-3697-7F5C-6E1DF4B47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398662"/>
              </p:ext>
            </p:extLst>
          </p:nvPr>
        </p:nvGraphicFramePr>
        <p:xfrm>
          <a:off x="6990515" y="1454721"/>
          <a:ext cx="3415394" cy="1402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3214">
                  <a:extLst>
                    <a:ext uri="{9D8B030D-6E8A-4147-A177-3AD203B41FA5}">
                      <a16:colId xmlns:a16="http://schemas.microsoft.com/office/drawing/2014/main" val="1940200092"/>
                    </a:ext>
                  </a:extLst>
                </a:gridCol>
                <a:gridCol w="1742180">
                  <a:extLst>
                    <a:ext uri="{9D8B030D-6E8A-4147-A177-3AD203B41FA5}">
                      <a16:colId xmlns:a16="http://schemas.microsoft.com/office/drawing/2014/main" val="76769100"/>
                    </a:ext>
                  </a:extLst>
                </a:gridCol>
              </a:tblGrid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Optimizer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Adam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34817580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Learning rate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1e-3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80104865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</a:rPr>
                        <a:t>Loss function</a:t>
                      </a:r>
                      <a:endParaRPr lang="en-US" sz="1800" kern="120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 err="1">
                          <a:solidFill>
                            <a:srgbClr val="CCE5FF"/>
                          </a:solidFill>
                        </a:rPr>
                        <a:t>CrossEntropyLoss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10740029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Epochs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5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0199298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4B6E662-E4DD-BD4F-25B9-C31F873D7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239416"/>
              </p:ext>
            </p:extLst>
          </p:nvPr>
        </p:nvGraphicFramePr>
        <p:xfrm>
          <a:off x="6265964" y="2866643"/>
          <a:ext cx="5417743" cy="2439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89427">
                  <a:extLst>
                    <a:ext uri="{9D8B030D-6E8A-4147-A177-3AD203B41FA5}">
                      <a16:colId xmlns:a16="http://schemas.microsoft.com/office/drawing/2014/main" val="123614511"/>
                    </a:ext>
                  </a:extLst>
                </a:gridCol>
                <a:gridCol w="1714158">
                  <a:extLst>
                    <a:ext uri="{9D8B030D-6E8A-4147-A177-3AD203B41FA5}">
                      <a16:colId xmlns:a16="http://schemas.microsoft.com/office/drawing/2014/main" val="2267495501"/>
                    </a:ext>
                  </a:extLst>
                </a:gridCol>
                <a:gridCol w="1714158">
                  <a:extLst>
                    <a:ext uri="{9D8B030D-6E8A-4147-A177-3AD203B41FA5}">
                      <a16:colId xmlns:a16="http://schemas.microsoft.com/office/drawing/2014/main" val="424811450"/>
                    </a:ext>
                  </a:extLst>
                </a:gridCol>
              </a:tblGrid>
              <a:tr h="306553"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Layer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600" kern="120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Calculation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algn="ctr" defTabSz="457063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Params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07915163"/>
                  </a:ext>
                </a:extLst>
              </a:tr>
              <a:tr h="5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Conv2d(1→32, 3×3)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1×32×3×3 + 32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320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25260943"/>
                  </a:ext>
                </a:extLst>
              </a:tr>
              <a:tr h="5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Conv2d(32→64, 3×3)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32×64×3×3 + 64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18,496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858126329"/>
                  </a:ext>
                </a:extLst>
              </a:tr>
              <a:tr h="5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Linear(12544 → 128)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12544×128 + 128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1,605,760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71357990"/>
                  </a:ext>
                </a:extLst>
              </a:tr>
              <a:tr h="52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Linear(128 → 10)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128×10 + 10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1,290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9899371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7698F5F-086E-E996-466F-0EEB7145C0E7}"/>
              </a:ext>
            </a:extLst>
          </p:cNvPr>
          <p:cNvSpPr txBox="1"/>
          <p:nvPr/>
        </p:nvSpPr>
        <p:spPr>
          <a:xfrm>
            <a:off x="10026332" y="5135356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-apple-system"/>
              </a:rPr>
              <a:t>1,625,866 parameters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Model 3 — Transformer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669280" cy="3085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dirty="0">
                <a:solidFill>
                  <a:srgbClr val="00C2FF"/>
                </a:solidFill>
              </a:rPr>
              <a:t>Architecture</a:t>
            </a:r>
          </a:p>
          <a:p>
            <a:r>
              <a:rPr sz="1900" dirty="0">
                <a:solidFill>
                  <a:srgbClr val="CCE5FF"/>
                </a:solidFill>
              </a:rPr>
              <a:t>• </a:t>
            </a:r>
            <a:r>
              <a:rPr lang="en-US" sz="1900" dirty="0">
                <a:solidFill>
                  <a:srgbClr val="CCE5FF"/>
                </a:solidFill>
              </a:rPr>
              <a:t>The Transformer model is based on a self-attention mechanism, which allows it to model relationships between different parts of the input. Instead of using convolutions, it processes the image as a sequence of patches.</a:t>
            </a:r>
          </a:p>
          <a:p>
            <a:r>
              <a:rPr lang="en-US" dirty="0">
                <a:solidFill>
                  <a:srgbClr val="CCE5FF"/>
                </a:solidFill>
              </a:rPr>
              <a:t>•  </a:t>
            </a:r>
            <a:r>
              <a:rPr lang="en-US" sz="1900" dirty="0">
                <a:solidFill>
                  <a:srgbClr val="CCE5FF"/>
                </a:solidFill>
              </a:rPr>
              <a:t>The 28 × 28 image is divided into smaller patches (e.g., 4 × 4), and each patch is treated as a token in a sequence.</a:t>
            </a:r>
          </a:p>
          <a:p>
            <a:pPr algn="l">
              <a:spcBef>
                <a:spcPts val="300"/>
              </a:spcBef>
            </a:pPr>
            <a:r>
              <a:rPr sz="1900" dirty="0">
                <a:solidFill>
                  <a:srgbClr val="CCE5FF"/>
                </a:solidFill>
              </a:rPr>
              <a:t>•  Learnable positional encoding preserves order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8E359E7-AD9C-F23B-A271-A8BB382616C1}"/>
              </a:ext>
            </a:extLst>
          </p:cNvPr>
          <p:cNvGrpSpPr/>
          <p:nvPr/>
        </p:nvGrpSpPr>
        <p:grpSpPr>
          <a:xfrm>
            <a:off x="6457448" y="968151"/>
            <a:ext cx="1463040" cy="5212080"/>
            <a:chOff x="6858000" y="1188720"/>
            <a:chExt cx="1463040" cy="5212080"/>
          </a:xfrm>
        </p:grpSpPr>
        <p:sp>
          <p:nvSpPr>
            <p:cNvPr id="6" name="Rectangle 5"/>
            <p:cNvSpPr/>
            <p:nvPr/>
          </p:nvSpPr>
          <p:spPr>
            <a:xfrm>
              <a:off x="6858000" y="1188720"/>
              <a:ext cx="1463040" cy="777240"/>
            </a:xfrm>
            <a:prstGeom prst="rect">
              <a:avLst/>
            </a:prstGeom>
            <a:solidFill>
              <a:srgbClr val="2A2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0" y="1275588"/>
              <a:ext cx="146304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 dirty="0">
                  <a:solidFill>
                    <a:srgbClr val="FFFFFF"/>
                  </a:solidFill>
                </a:rPr>
                <a:t>28×28 image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0" y="1965960"/>
              <a:ext cx="1463040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AABBCC"/>
                  </a:solidFill>
                </a:rPr>
                <a:t>↓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8000" y="2075688"/>
              <a:ext cx="1463040" cy="777240"/>
            </a:xfrm>
            <a:prstGeom prst="rect">
              <a:avLst/>
            </a:prstGeom>
            <a:solidFill>
              <a:srgbClr val="1A5B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0" y="2121408"/>
              <a:ext cx="146304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</a:rPr>
                <a:t>Patch Embed
4×4 patches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0" y="2852928"/>
              <a:ext cx="1463040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AABBCC"/>
                  </a:solidFill>
                </a:rPr>
                <a:t>↓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858000" y="2962656"/>
              <a:ext cx="1463040" cy="777240"/>
            </a:xfrm>
            <a:prstGeom prst="rect">
              <a:avLst/>
            </a:prstGeom>
            <a:solidFill>
              <a:srgbClr val="1A5B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58000" y="3008376"/>
              <a:ext cx="146304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</a:rPr>
                <a:t>+ Pos. Encoding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58000" y="3739896"/>
              <a:ext cx="1463040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AABBCC"/>
                  </a:solidFill>
                </a:rPr>
                <a:t>↓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0" y="3849624"/>
              <a:ext cx="1463040" cy="777240"/>
            </a:xfrm>
            <a:prstGeom prst="rect">
              <a:avLst/>
            </a:prstGeom>
            <a:solidFill>
              <a:srgbClr val="5A2A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58000" y="3895344"/>
              <a:ext cx="146304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 dirty="0">
                  <a:solidFill>
                    <a:srgbClr val="FFFFFF"/>
                  </a:solidFill>
                </a:rPr>
                <a:t>Transformer
Encoder ×2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58000" y="4626864"/>
              <a:ext cx="1463040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AABBCC"/>
                  </a:solidFill>
                </a:rPr>
                <a:t>↓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858000" y="4736592"/>
              <a:ext cx="1463040" cy="777240"/>
            </a:xfrm>
            <a:prstGeom prst="rect">
              <a:avLst/>
            </a:prstGeom>
            <a:solidFill>
              <a:srgbClr val="5A2A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58000" y="4782312"/>
              <a:ext cx="146304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</a:rPr>
                <a:t>Global
Avg Pool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858000" y="5513832"/>
              <a:ext cx="1463040" cy="128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AABBCC"/>
                  </a:solidFill>
                </a:rPr>
                <a:t>↓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858000" y="5623560"/>
              <a:ext cx="1463040" cy="777240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58000" y="5669280"/>
              <a:ext cx="146304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</a:rPr>
                <a:t>Classifier
10 classes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57200" y="4467038"/>
            <a:ext cx="5669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D700"/>
                </a:solidFill>
              </a:rPr>
              <a:t>Hyperparameters</a:t>
            </a:r>
            <a:endParaRPr sz="2000" b="1" dirty="0">
              <a:solidFill>
                <a:srgbClr val="AA55FF"/>
              </a:solidFill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4942C34-8A8F-2F77-04F0-6E40CDD11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676127"/>
              </p:ext>
            </p:extLst>
          </p:nvPr>
        </p:nvGraphicFramePr>
        <p:xfrm>
          <a:off x="1168873" y="4927503"/>
          <a:ext cx="3415394" cy="1402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3214">
                  <a:extLst>
                    <a:ext uri="{9D8B030D-6E8A-4147-A177-3AD203B41FA5}">
                      <a16:colId xmlns:a16="http://schemas.microsoft.com/office/drawing/2014/main" val="1940200092"/>
                    </a:ext>
                  </a:extLst>
                </a:gridCol>
                <a:gridCol w="1742180">
                  <a:extLst>
                    <a:ext uri="{9D8B030D-6E8A-4147-A177-3AD203B41FA5}">
                      <a16:colId xmlns:a16="http://schemas.microsoft.com/office/drawing/2014/main" val="76769100"/>
                    </a:ext>
                  </a:extLst>
                </a:gridCol>
              </a:tblGrid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Optimizer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Adam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34817580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Learning rate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1e-3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80104865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>
                          <a:solidFill>
                            <a:srgbClr val="CCE5FF"/>
                          </a:solidFill>
                        </a:rPr>
                        <a:t>Loss function</a:t>
                      </a:r>
                      <a:endParaRPr lang="en-US" sz="1800" kern="120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 err="1">
                          <a:solidFill>
                            <a:srgbClr val="CCE5FF"/>
                          </a:solidFill>
                        </a:rPr>
                        <a:t>CrossEntropyLoss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10740029"/>
                  </a:ext>
                </a:extLst>
              </a:tr>
              <a:tr h="24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Epochs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kern="1200" dirty="0">
                          <a:solidFill>
                            <a:srgbClr val="CCE5FF"/>
                          </a:solidFill>
                        </a:rPr>
                        <a:t>5</a:t>
                      </a:r>
                      <a:endParaRPr lang="en-US" sz="1800" kern="1200" dirty="0">
                        <a:solidFill>
                          <a:srgbClr val="CCE5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01992980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6D096AA-B4FD-C143-9BCD-8D1488C5F1F1}"/>
              </a:ext>
            </a:extLst>
          </p:cNvPr>
          <p:cNvSpPr txBox="1"/>
          <p:nvPr/>
        </p:nvSpPr>
        <p:spPr>
          <a:xfrm>
            <a:off x="9714497" y="4100971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567,178 parameters</a:t>
            </a:r>
            <a:endParaRPr lang="en-US" dirty="0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495F201-0EB7-E572-E7F8-6B195F3B4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301481"/>
              </p:ext>
            </p:extLst>
          </p:nvPr>
        </p:nvGraphicFramePr>
        <p:xfrm>
          <a:off x="8412480" y="1014090"/>
          <a:ext cx="4206240" cy="31229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4873794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36637008"/>
                    </a:ext>
                  </a:extLst>
                </a:gridCol>
              </a:tblGrid>
              <a:tr h="205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Component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Params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060918699"/>
                  </a:ext>
                </a:extLst>
              </a:tr>
              <a:tr h="365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Patch projection Linear(16→64)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1,088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95414286"/>
                  </a:ext>
                </a:extLst>
              </a:tr>
              <a:tr h="365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Positional embedding (49×64)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3,136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96375089"/>
                  </a:ext>
                </a:extLst>
              </a:tr>
              <a:tr h="84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2× </a:t>
                      </a:r>
                      <a:r>
                        <a:rPr lang="en-US" dirty="0" err="1">
                          <a:effectLst/>
                        </a:rPr>
                        <a:t>TransformerEncoderLayer</a:t>
                      </a:r>
                      <a:r>
                        <a:rPr lang="en-US" dirty="0">
                          <a:effectLst/>
                        </a:rPr>
                        <a:t> (attn + FFN)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562,304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524337551"/>
                  </a:ext>
                </a:extLst>
              </a:tr>
              <a:tr h="365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Classifier Linear(64→10)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650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80464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Model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783080" cy="594360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097280"/>
            <a:ext cx="1783080" cy="594360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11704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Clean Acc.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1783080" cy="594360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1704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Noisy Acc.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1600200" cy="594360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1704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Δ (drop)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28216"/>
            <a:ext cx="1783080" cy="576072"/>
          </a:xfrm>
          <a:prstGeom prst="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8013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MLP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1728216"/>
            <a:ext cx="1783080" cy="576072"/>
          </a:xfrm>
          <a:prstGeom prst="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0" y="18013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96.94%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728216"/>
            <a:ext cx="1783080" cy="576072"/>
          </a:xfrm>
          <a:prstGeom prst="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18013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96.08%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28216"/>
            <a:ext cx="1600200" cy="576072"/>
          </a:xfrm>
          <a:prstGeom prst="rect">
            <a:avLst/>
          </a:prstGeom>
          <a:solidFill>
            <a:srgbClr val="12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80136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−0.86%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1801368"/>
            <a:ext cx="3200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 dirty="0">
                <a:solidFill>
                  <a:srgbClr val="FFFFFF"/>
                </a:solidFill>
              </a:rPr>
              <a:t>Solid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22576"/>
            <a:ext cx="1783080" cy="576072"/>
          </a:xfrm>
          <a:prstGeom prst="rect">
            <a:avLst/>
          </a:prstGeom>
          <a:solidFill>
            <a:srgbClr val="0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39572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Transformer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322576"/>
            <a:ext cx="1783080" cy="576072"/>
          </a:xfrm>
          <a:prstGeom prst="rect">
            <a:avLst/>
          </a:prstGeom>
          <a:solidFill>
            <a:srgbClr val="0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77440" y="239572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97.65%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322576"/>
            <a:ext cx="1783080" cy="576072"/>
          </a:xfrm>
          <a:prstGeom prst="rect">
            <a:avLst/>
          </a:prstGeom>
          <a:solidFill>
            <a:srgbClr val="0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0" y="239572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96.62%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322576"/>
            <a:ext cx="1600200" cy="576072"/>
          </a:xfrm>
          <a:prstGeom prst="rect">
            <a:avLst/>
          </a:prstGeom>
          <a:solidFill>
            <a:srgbClr val="0E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239572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−1.03%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40029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Strong, no convs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916936"/>
            <a:ext cx="1783080" cy="576072"/>
          </a:xfrm>
          <a:prstGeom prst="rect">
            <a:avLst/>
          </a:prstGeom>
          <a:solidFill>
            <a:srgbClr val="0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99008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CNN 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2916936"/>
            <a:ext cx="1783080" cy="576072"/>
          </a:xfrm>
          <a:prstGeom prst="rect">
            <a:avLst/>
          </a:prstGeom>
          <a:solidFill>
            <a:srgbClr val="0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77440" y="299008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99.01%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916936"/>
            <a:ext cx="1783080" cy="576072"/>
          </a:xfrm>
          <a:prstGeom prst="rect">
            <a:avLst/>
          </a:prstGeom>
          <a:solidFill>
            <a:srgbClr val="0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0" y="299008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98.26%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916936"/>
            <a:ext cx="1600200" cy="576072"/>
          </a:xfrm>
          <a:prstGeom prst="rect">
            <a:avLst/>
          </a:prstGeom>
          <a:solidFill>
            <a:srgbClr val="0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299008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</a:rPr>
              <a:t>−0.75%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02216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D700"/>
                </a:solidFill>
              </a:rPr>
              <a:t>Best overall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91048"/>
            <a:ext cx="1371600" cy="1209751"/>
          </a:xfrm>
          <a:prstGeom prst="rect">
            <a:avLst/>
          </a:prstGeom>
          <a:solidFill>
            <a:srgbClr val="1A6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49350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96.94%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MLP
Clean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8840" y="5544921"/>
            <a:ext cx="1371600" cy="855878"/>
          </a:xfrm>
          <a:prstGeom prst="rect">
            <a:avLst/>
          </a:prstGeom>
          <a:solidFill>
            <a:srgbClr val="0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48840" y="528888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96.08%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8840" y="6446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MLP
Noisy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4339285"/>
            <a:ext cx="1371600" cy="206151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840480" y="408325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99.01%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6446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CNN
Clean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4647895"/>
            <a:ext cx="1371600" cy="1752904"/>
          </a:xfrm>
          <a:prstGeom prst="rect">
            <a:avLst/>
          </a:prstGeom>
          <a:solidFill>
            <a:srgbClr val="2A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32120" y="439186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98.26%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2120" y="6446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CNN
Noisy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23760" y="4898897"/>
            <a:ext cx="1371600" cy="1501902"/>
          </a:xfrm>
          <a:prstGeom prst="rect">
            <a:avLst/>
          </a:prstGeom>
          <a:solidFill>
            <a:srgbClr val="8A3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23760" y="464286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97.65%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6446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Trans
Clean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15400" y="5322722"/>
            <a:ext cx="1371600" cy="1078077"/>
          </a:xfrm>
          <a:prstGeom prst="rect">
            <a:avLst/>
          </a:prstGeom>
          <a:solidFill>
            <a:srgbClr val="5A2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15400" y="506669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96.62%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15400" y="6446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Trans
Noisy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09728" cy="1143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19786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CAF50"/>
                </a:solidFill>
              </a:rPr>
              <a:t>CNN is best for image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1848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Spatial inductive bias → highest accuracy + best noise robustness (99.01% clean, −0.75% noise drop).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09728" cy="1143000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45973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AA55FF"/>
                </a:solidFill>
              </a:rPr>
              <a:t>Transformers work — even without convolutions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Self-attention captures global context; 97.65% clean accuracy with pure attention on 28×28 images.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66744"/>
            <a:ext cx="109728" cy="1143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721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2FF"/>
                </a:solidFill>
              </a:rPr>
              <a:t>MLP is a strong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422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96.94% accuracy despite zero spatial awareness — flattening loses structure but MNIST is simple enough.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28616"/>
            <a:ext cx="109728" cy="114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700"/>
                </a:solidFill>
              </a:rPr>
              <a:t>Gaussian noise affects all models, but minimally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04104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All models drop &lt; 1.1%; CNN loses the least (−0.75%), showing convolutions learn robust features.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706</TotalTime>
  <Words>895</Words>
  <Application>Microsoft Macintosh PowerPoint</Application>
  <PresentationFormat>Custom</PresentationFormat>
  <Paragraphs>182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-apple-system</vt:lpstr>
      <vt:lpstr>Aptos</vt:lpstr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Ziru Xu</cp:lastModifiedBy>
  <cp:revision>6</cp:revision>
  <dcterms:created xsi:type="dcterms:W3CDTF">2013-01-27T09:14:16Z</dcterms:created>
  <dcterms:modified xsi:type="dcterms:W3CDTF">2026-05-30T18:48:07Z</dcterms:modified>
  <cp:category/>
</cp:coreProperties>
</file>
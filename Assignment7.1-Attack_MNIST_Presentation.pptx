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78" r:id="rId2"/>
    <p:sldMasterId id="2147483707" r:id="rId3"/>
  </p:sldMasterIdLst>
  <p:notesMasterIdLst>
    <p:notesMasterId r:id="rId12"/>
  </p:notesMasterIdLst>
  <p:sldIdLst>
    <p:sldId id="256" r:id="rId4"/>
    <p:sldId id="258" r:id="rId5"/>
    <p:sldId id="259" r:id="rId6"/>
    <p:sldId id="265" r:id="rId7"/>
    <p:sldId id="261" r:id="rId8"/>
    <p:sldId id="262" r:id="rId9"/>
    <p:sldId id="257" r:id="rId10"/>
    <p:sldId id="260" r:id="rId11"/>
  </p:sldIdLst>
  <p:sldSz cx="12188825"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11"/>
    <p:restoredTop sz="94666"/>
  </p:normalViewPr>
  <p:slideViewPr>
    <p:cSldViewPr snapToGrid="0" snapToObjects="1">
      <p:cViewPr varScale="1">
        <p:scale>
          <a:sx n="93" d="100"/>
          <a:sy n="93" d="100"/>
        </p:scale>
        <p:origin x="240" y="6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theme" Target="theme/theme1.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8396E9-43EF-7E4F-8CCE-54570B0AB4EB}" type="datetimeFigureOut">
              <a:rPr lang="en-US" smtClean="0"/>
              <a:t>5/30/26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70B60B-44A9-7F47-8298-E0EB77EACFE7}" type="slidenum">
              <a:rPr lang="en-US" smtClean="0"/>
              <a:t>‹#›</a:t>
            </a:fld>
            <a:endParaRPr lang="en-US"/>
          </a:p>
        </p:txBody>
      </p:sp>
    </p:spTree>
    <p:extLst>
      <p:ext uri="{BB962C8B-B14F-4D97-AF65-F5344CB8AC3E}">
        <p14:creationId xmlns:p14="http://schemas.microsoft.com/office/powerpoint/2010/main" val="20235508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Alpha is the </a:t>
                </a:r>
                <a:r>
                  <a:rPr lang="en-US" sz="1200" b="1" i="0" kern="1200" dirty="0">
                    <a:solidFill>
                      <a:schemeClr val="tx1"/>
                    </a:solidFill>
                    <a:effectLst/>
                    <a:latin typeface="+mn-lt"/>
                    <a:ea typeface="+mn-ea"/>
                    <a:cs typeface="+mn-cs"/>
                  </a:rPr>
                  <a:t>per-step perturbation size</a:t>
                </a:r>
                <a:r>
                  <a:rPr lang="en-US" sz="1200" b="0" i="0" kern="1200" dirty="0">
                    <a:solidFill>
                      <a:schemeClr val="tx1"/>
                    </a:solidFill>
                    <a:effectLst/>
                    <a:latin typeface="+mn-lt"/>
                    <a:ea typeface="+mn-ea"/>
                    <a:cs typeface="+mn-cs"/>
                  </a:rPr>
                  <a:t> in the iterative attacks , think of it as the learning rate for the attack</a:t>
                </a:r>
              </a:p>
              <a:p>
                <a:r>
                  <a:rPr lang="en-US" sz="1200" b="0" i="0" kern="1200" dirty="0">
                    <a:solidFill>
                      <a:schemeClr val="tx1"/>
                    </a:solidFill>
                    <a:effectLst/>
                    <a:latin typeface="+mn-lt"/>
                    <a:ea typeface="+mn-ea"/>
                    <a:cs typeface="+mn-cs"/>
                  </a:rPr>
                  <a:t>Mu is momentum decay — 1.0 means full carry of all past gradients (no decay)</a:t>
                </a:r>
              </a:p>
              <a:p>
                <a:r>
                  <a:rPr lang="en-US" sz="1200" b="0" i="0" kern="1200" dirty="0">
                    <a:solidFill>
                      <a:schemeClr val="tx1"/>
                    </a:solidFill>
                    <a:effectLst/>
                    <a:latin typeface="+mn-lt"/>
                    <a:ea typeface="+mn-ea"/>
                    <a:cs typeface="+mn-cs"/>
                  </a:rPr>
                  <a:t>Without it (plain I-FGSM), every attack starts from the exact same point </a:t>
                </a:r>
                <a14:m>
                  <m:oMath xmlns:m="http://schemas.openxmlformats.org/officeDocument/2006/math">
                    <m:r>
                      <a:rPr lang="en-US" sz="1200" i="1" kern="1200">
                        <a:solidFill>
                          <a:schemeClr val="tx1"/>
                        </a:solidFill>
                        <a:latin typeface="+mn-lt"/>
                        <a:ea typeface="+mn-ea"/>
                        <a:cs typeface="+mn-cs"/>
                      </a:rPr>
                      <m:t>𝑥</m:t>
                    </m:r>
                  </m:oMath>
                </a14:m>
                <a:r>
                  <a:rPr lang="en-US" sz="1200" b="0" i="0" kern="1200" dirty="0">
                    <a:solidFill>
                      <a:schemeClr val="tx1"/>
                    </a:solidFill>
                    <a:effectLst/>
                    <a:latin typeface="+mn-lt"/>
                    <a:ea typeface="+mn-ea"/>
                    <a:cs typeface="+mn-cs"/>
                  </a:rPr>
                  <a:t> and follows the same gradient — so it always finds the same local maximum of the loss. With random </a:t>
                </a:r>
                <a:r>
                  <a:rPr lang="en-US" sz="1200" b="0" i="0" kern="1200" dirty="0" err="1">
                    <a:solidFill>
                      <a:schemeClr val="tx1"/>
                    </a:solidFill>
                    <a:effectLst/>
                    <a:latin typeface="+mn-lt"/>
                    <a:ea typeface="+mn-ea"/>
                    <a:cs typeface="+mn-cs"/>
                  </a:rPr>
                  <a:t>initialisation</a:t>
                </a:r>
                <a:r>
                  <a:rPr lang="en-US" sz="1200" b="0" i="0" kern="1200" dirty="0">
                    <a:solidFill>
                      <a:schemeClr val="tx1"/>
                    </a:solidFill>
                    <a:effectLst/>
                    <a:latin typeface="+mn-lt"/>
                    <a:ea typeface="+mn-ea"/>
                    <a:cs typeface="+mn-cs"/>
                  </a:rPr>
                  <a:t>, each run starts from a different corner of the </a:t>
                </a:r>
                <a:r>
                  <a:rPr lang="el-GR" sz="1200" b="0" i="0" kern="1200" dirty="0">
                    <a:solidFill>
                      <a:schemeClr val="tx1"/>
                    </a:solidFill>
                    <a:effectLst/>
                    <a:latin typeface="+mn-lt"/>
                    <a:ea typeface="+mn-ea"/>
                    <a:cs typeface="+mn-cs"/>
                  </a:rPr>
                  <a:t>ε-</a:t>
                </a:r>
                <a:r>
                  <a:rPr lang="en-US" sz="1200" b="0" i="0" kern="1200" dirty="0">
                    <a:solidFill>
                      <a:schemeClr val="tx1"/>
                    </a:solidFill>
                    <a:effectLst/>
                    <a:latin typeface="+mn-lt"/>
                    <a:ea typeface="+mn-ea"/>
                    <a:cs typeface="+mn-cs"/>
                  </a:rPr>
                  <a:t>ball and explores a different path:</a:t>
                </a:r>
                <a:endParaRPr lang="en-US" dirty="0"/>
              </a:p>
            </p:txBody>
          </p:sp>
        </mc:Choice>
        <mc:Fallback>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Alpha is the </a:t>
                </a:r>
                <a:r>
                  <a:rPr lang="en-US" sz="1200" b="1" i="0" kern="1200" dirty="0">
                    <a:solidFill>
                      <a:schemeClr val="tx1"/>
                    </a:solidFill>
                    <a:effectLst/>
                    <a:latin typeface="+mn-lt"/>
                    <a:ea typeface="+mn-ea"/>
                    <a:cs typeface="+mn-cs"/>
                  </a:rPr>
                  <a:t>per-step perturbation size</a:t>
                </a:r>
                <a:r>
                  <a:rPr lang="en-US" sz="1200" b="0" i="0" kern="1200" dirty="0">
                    <a:solidFill>
                      <a:schemeClr val="tx1"/>
                    </a:solidFill>
                    <a:effectLst/>
                    <a:latin typeface="+mn-lt"/>
                    <a:ea typeface="+mn-ea"/>
                    <a:cs typeface="+mn-cs"/>
                  </a:rPr>
                  <a:t> in the iterative attacks , think of it as the learning rate for the attack</a:t>
                </a:r>
              </a:p>
              <a:p>
                <a:r>
                  <a:rPr lang="en-US" sz="1200" b="0" i="0" kern="1200" dirty="0">
                    <a:solidFill>
                      <a:schemeClr val="tx1"/>
                    </a:solidFill>
                    <a:effectLst/>
                    <a:latin typeface="+mn-lt"/>
                    <a:ea typeface="+mn-ea"/>
                    <a:cs typeface="+mn-cs"/>
                  </a:rPr>
                  <a:t>Mu is momentum decay — 1.0 means full carry of all past gradients (no decay)</a:t>
                </a:r>
              </a:p>
              <a:p>
                <a:r>
                  <a:rPr lang="en-US" sz="1200" b="0" i="0" kern="1200" dirty="0">
                    <a:solidFill>
                      <a:schemeClr val="tx1"/>
                    </a:solidFill>
                    <a:effectLst/>
                    <a:latin typeface="+mn-lt"/>
                    <a:ea typeface="+mn-ea"/>
                    <a:cs typeface="+mn-cs"/>
                  </a:rPr>
                  <a:t>Without it (plain I-FGSM), every attack starts from the exact same point </a:t>
                </a:r>
                <a:r>
                  <a:rPr lang="en-US" sz="1200" i="0" kern="1200">
                    <a:solidFill>
                      <a:schemeClr val="tx1"/>
                    </a:solidFill>
                    <a:latin typeface="+mn-lt"/>
                    <a:ea typeface="+mn-ea"/>
                    <a:cs typeface="+mn-cs"/>
                  </a:rPr>
                  <a:t>𝑥</a:t>
                </a:r>
                <a:r>
                  <a:rPr lang="en-US" sz="1200" b="0" i="0" kern="1200" dirty="0">
                    <a:solidFill>
                      <a:schemeClr val="tx1"/>
                    </a:solidFill>
                    <a:effectLst/>
                    <a:latin typeface="+mn-lt"/>
                    <a:ea typeface="+mn-ea"/>
                    <a:cs typeface="+mn-cs"/>
                  </a:rPr>
                  <a:t> and follows the same gradient — so it always finds the same local maximum of the loss. With random </a:t>
                </a:r>
                <a:r>
                  <a:rPr lang="en-US" sz="1200" b="0" i="0" kern="1200" dirty="0" err="1">
                    <a:solidFill>
                      <a:schemeClr val="tx1"/>
                    </a:solidFill>
                    <a:effectLst/>
                    <a:latin typeface="+mn-lt"/>
                    <a:ea typeface="+mn-ea"/>
                    <a:cs typeface="+mn-cs"/>
                  </a:rPr>
                  <a:t>initialisation</a:t>
                </a:r>
                <a:r>
                  <a:rPr lang="en-US" sz="1200" b="0" i="0" kern="1200" dirty="0">
                    <a:solidFill>
                      <a:schemeClr val="tx1"/>
                    </a:solidFill>
                    <a:effectLst/>
                    <a:latin typeface="+mn-lt"/>
                    <a:ea typeface="+mn-ea"/>
                    <a:cs typeface="+mn-cs"/>
                  </a:rPr>
                  <a:t>, each run starts from a different corner of the </a:t>
                </a:r>
                <a:r>
                  <a:rPr lang="el-GR" sz="1200" b="0" i="0" kern="1200" dirty="0">
                    <a:solidFill>
                      <a:schemeClr val="tx1"/>
                    </a:solidFill>
                    <a:effectLst/>
                    <a:latin typeface="+mn-lt"/>
                    <a:ea typeface="+mn-ea"/>
                    <a:cs typeface="+mn-cs"/>
                  </a:rPr>
                  <a:t>ε-</a:t>
                </a:r>
                <a:r>
                  <a:rPr lang="en-US" sz="1200" b="0" i="0" kern="1200" dirty="0">
                    <a:solidFill>
                      <a:schemeClr val="tx1"/>
                    </a:solidFill>
                    <a:effectLst/>
                    <a:latin typeface="+mn-lt"/>
                    <a:ea typeface="+mn-ea"/>
                    <a:cs typeface="+mn-cs"/>
                  </a:rPr>
                  <a:t>ball and explores a different path:</a:t>
                </a:r>
                <a:endParaRPr lang="en-US" dirty="0"/>
              </a:p>
            </p:txBody>
          </p:sp>
        </mc:Fallback>
      </mc:AlternateContent>
      <p:sp>
        <p:nvSpPr>
          <p:cNvPr id="4" name="Slide Number Placeholder 3"/>
          <p:cNvSpPr>
            <a:spLocks noGrp="1"/>
          </p:cNvSpPr>
          <p:nvPr>
            <p:ph type="sldNum" sz="quarter" idx="5"/>
          </p:nvPr>
        </p:nvSpPr>
        <p:spPr/>
        <p:txBody>
          <a:bodyPr/>
          <a:lstStyle/>
          <a:p>
            <a:fld id="{1270B60B-44A9-7F47-8298-E0EB77EACFE7}" type="slidenum">
              <a:rPr lang="en-US" smtClean="0"/>
              <a:t>3</a:t>
            </a:fld>
            <a:endParaRPr lang="en-US"/>
          </a:p>
        </p:txBody>
      </p:sp>
    </p:spTree>
    <p:extLst>
      <p:ext uri="{BB962C8B-B14F-4D97-AF65-F5344CB8AC3E}">
        <p14:creationId xmlns:p14="http://schemas.microsoft.com/office/powerpoint/2010/main" val="22261453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7C3B8-4ABC-39CB-BF78-F3E35065F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72B47-9F21-1D1A-479F-C88DC3A2E3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6A854D-E5D3-AA92-51DF-F0798CD13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4A15A6-5CC6-66FD-1565-3C5576FAD60A}"/>
              </a:ext>
            </a:extLst>
          </p:cNvPr>
          <p:cNvSpPr>
            <a:spLocks noGrp="1"/>
          </p:cNvSpPr>
          <p:nvPr>
            <p:ph type="sldNum" sz="quarter" idx="5"/>
          </p:nvPr>
        </p:nvSpPr>
        <p:spPr/>
        <p:txBody>
          <a:bodyPr/>
          <a:lstStyle/>
          <a:p>
            <a:fld id="{1270B60B-44A9-7F47-8298-E0EB77EACFE7}" type="slidenum">
              <a:rPr lang="en-US" smtClean="0"/>
              <a:t>4</a:t>
            </a:fld>
            <a:endParaRPr lang="en-US"/>
          </a:p>
        </p:txBody>
      </p:sp>
    </p:spTree>
    <p:extLst>
      <p:ext uri="{BB962C8B-B14F-4D97-AF65-F5344CB8AC3E}">
        <p14:creationId xmlns:p14="http://schemas.microsoft.com/office/powerpoint/2010/main" val="3166458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IT Generic Footer">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4C8BFEF-7BC2-F4A8-777B-982A1199413B}"/>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7" name="Content Placeholder 6">
            <a:extLst>
              <a:ext uri="{FF2B5EF4-FFF2-40B4-BE49-F238E27FC236}">
                <a16:creationId xmlns:a16="http://schemas.microsoft.com/office/drawing/2014/main" id="{9B133F49-F944-AAE0-F7A1-007F18F8ACEC}"/>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41310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ustomizable Name">
    <p:spTree>
      <p:nvGrpSpPr>
        <p:cNvPr id="1" name=""/>
        <p:cNvGrpSpPr/>
        <p:nvPr/>
      </p:nvGrpSpPr>
      <p:grpSpPr>
        <a:xfrm>
          <a:off x="0" y="0"/>
          <a:ext cx="0" cy="0"/>
          <a:chOff x="0" y="0"/>
          <a:chExt cx="0" cy="0"/>
        </a:xfrm>
      </p:grpSpPr>
      <p:pic>
        <p:nvPicPr>
          <p:cNvPr id="2" name="Picture 1" descr="Graphical user interface&#10;&#10;Description automatically generated with low confidence">
            <a:extLst>
              <a:ext uri="{FF2B5EF4-FFF2-40B4-BE49-F238E27FC236}">
                <a16:creationId xmlns:a16="http://schemas.microsoft.com/office/drawing/2014/main" id="{0304A662-1C6F-58E7-327E-0BD1668AB17B}"/>
              </a:ext>
            </a:extLst>
          </p:cNvPr>
          <p:cNvPicPr>
            <a:picLocks noChangeAspect="1"/>
          </p:cNvPicPr>
          <p:nvPr/>
        </p:nvPicPr>
        <p:blipFill>
          <a:blip r:embed="rId2"/>
          <a:stretch>
            <a:fillRect/>
          </a:stretch>
        </p:blipFill>
        <p:spPr>
          <a:xfrm>
            <a:off x="0" y="0"/>
            <a:ext cx="12188825" cy="6858000"/>
          </a:xfrm>
          <a:prstGeom prst="rect">
            <a:avLst/>
          </a:prstGeom>
        </p:spPr>
      </p:pic>
      <p:sp>
        <p:nvSpPr>
          <p:cNvPr id="3" name="TextBox 2">
            <a:extLst>
              <a:ext uri="{FF2B5EF4-FFF2-40B4-BE49-F238E27FC236}">
                <a16:creationId xmlns:a16="http://schemas.microsoft.com/office/drawing/2014/main" id="{96800A64-842E-B75F-EB60-D962B578FF6A}"/>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8" name="Text Placeholder 7">
            <a:extLst>
              <a:ext uri="{FF2B5EF4-FFF2-40B4-BE49-F238E27FC236}">
                <a16:creationId xmlns:a16="http://schemas.microsoft.com/office/drawing/2014/main" id="{174B0CE8-B6EC-C64A-67F1-3D4BF3E5A21B}"/>
              </a:ext>
            </a:extLst>
          </p:cNvPr>
          <p:cNvSpPr>
            <a:spLocks noGrp="1"/>
          </p:cNvSpPr>
          <p:nvPr>
            <p:ph type="body" sz="quarter" idx="13" hasCustomPrompt="1"/>
          </p:nvPr>
        </p:nvSpPr>
        <p:spPr>
          <a:xfrm>
            <a:off x="11361727" y="6356096"/>
            <a:ext cx="742017" cy="352425"/>
          </a:xfrm>
          <a:solidFill>
            <a:schemeClr val="bg1"/>
          </a:solidFill>
        </p:spPr>
        <p:txBody>
          <a:bodyPr>
            <a:normAutofit/>
          </a:bodyPr>
          <a:lstStyle>
            <a:lvl1pPr>
              <a:defRPr sz="500"/>
            </a:lvl1pPr>
            <a:lvl2pPr>
              <a:defRPr sz="400"/>
            </a:lvl2pPr>
            <a:lvl3pPr marL="0" indent="0">
              <a:lnSpc>
                <a:spcPct val="100000"/>
              </a:lnSpc>
              <a:spcBef>
                <a:spcPts val="0"/>
              </a:spcBef>
              <a:buNone/>
              <a:defRPr sz="800" b="1">
                <a:solidFill>
                  <a:schemeClr val="bg1">
                    <a:lumMod val="75000"/>
                  </a:schemeClr>
                </a:solidFill>
              </a:defRPr>
            </a:lvl3pPr>
          </a:lstStyle>
          <a:p>
            <a:pPr lvl="2"/>
            <a:r>
              <a:rPr lang="en-US" sz="800"/>
              <a:t>Team </a:t>
            </a:r>
          </a:p>
          <a:p>
            <a:pPr lvl="2"/>
            <a:r>
              <a:rPr lang="en-US" sz="800"/>
              <a:t>Name</a:t>
            </a:r>
            <a:endParaRPr lang="en-US"/>
          </a:p>
        </p:txBody>
      </p:sp>
      <p:sp>
        <p:nvSpPr>
          <p:cNvPr id="10" name="Text Placeholder 4">
            <a:extLst>
              <a:ext uri="{FF2B5EF4-FFF2-40B4-BE49-F238E27FC236}">
                <a16:creationId xmlns:a16="http://schemas.microsoft.com/office/drawing/2014/main" id="{112847C0-3671-B70C-028A-4A1F5A476DAA}"/>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4" name="Content Placeholder 6">
            <a:extLst>
              <a:ext uri="{FF2B5EF4-FFF2-40B4-BE49-F238E27FC236}">
                <a16:creationId xmlns:a16="http://schemas.microsoft.com/office/drawing/2014/main" id="{F5CB0BB7-761F-E4BD-1C94-D98669D6AA28}"/>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443279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No Footer">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5C91F3-D7D6-3174-3F53-E5BE5774414A}"/>
              </a:ext>
            </a:extLst>
          </p:cNvPr>
          <p:cNvPicPr>
            <a:picLocks noChangeAspect="1"/>
          </p:cNvPicPr>
          <p:nvPr/>
        </p:nvPicPr>
        <p:blipFill>
          <a:blip r:embed="rId2"/>
          <a:stretch>
            <a:fillRect/>
          </a:stretch>
        </p:blipFill>
        <p:spPr>
          <a:xfrm>
            <a:off x="0" y="0"/>
            <a:ext cx="12188825" cy="6858000"/>
          </a:xfrm>
          <a:prstGeom prst="rect">
            <a:avLst/>
          </a:prstGeom>
        </p:spPr>
      </p:pic>
      <p:sp>
        <p:nvSpPr>
          <p:cNvPr id="3" name="TextBox 2">
            <a:extLst>
              <a:ext uri="{FF2B5EF4-FFF2-40B4-BE49-F238E27FC236}">
                <a16:creationId xmlns:a16="http://schemas.microsoft.com/office/drawing/2014/main" id="{680AA308-647D-367A-1567-1D3317473B21}"/>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8" name="Text Placeholder 4">
            <a:extLst>
              <a:ext uri="{FF2B5EF4-FFF2-40B4-BE49-F238E27FC236}">
                <a16:creationId xmlns:a16="http://schemas.microsoft.com/office/drawing/2014/main" id="{BD61A110-8524-62B2-125D-1056F4A2E547}"/>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4" name="Content Placeholder 6">
            <a:extLst>
              <a:ext uri="{FF2B5EF4-FFF2-40B4-BE49-F238E27FC236}">
                <a16:creationId xmlns:a16="http://schemas.microsoft.com/office/drawing/2014/main" id="{6714FA7D-8413-9197-10B1-6B8E52C3562D}"/>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10274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Innovations Solutions Service in Footer">
    <p:spTree>
      <p:nvGrpSpPr>
        <p:cNvPr id="1" name=""/>
        <p:cNvGrpSpPr/>
        <p:nvPr/>
      </p:nvGrpSpPr>
      <p:grpSpPr>
        <a:xfrm>
          <a:off x="0" y="0"/>
          <a:ext cx="0" cy="0"/>
          <a:chOff x="0" y="0"/>
          <a:chExt cx="0" cy="0"/>
        </a:xfrm>
      </p:grpSpPr>
      <p:pic>
        <p:nvPicPr>
          <p:cNvPr id="2" name="Picture 1" descr="Graphical user interface&#10;&#10;Description automatically generated with low confidence">
            <a:extLst>
              <a:ext uri="{FF2B5EF4-FFF2-40B4-BE49-F238E27FC236}">
                <a16:creationId xmlns:a16="http://schemas.microsoft.com/office/drawing/2014/main" id="{B5891F51-2B94-7C3C-984B-E817DFE704C2}"/>
              </a:ext>
            </a:extLst>
          </p:cNvPr>
          <p:cNvPicPr>
            <a:picLocks noChangeAspect="1"/>
          </p:cNvPicPr>
          <p:nvPr/>
        </p:nvPicPr>
        <p:blipFill>
          <a:blip r:embed="rId2"/>
          <a:stretch>
            <a:fillRect/>
          </a:stretch>
        </p:blipFill>
        <p:spPr>
          <a:xfrm>
            <a:off x="0" y="0"/>
            <a:ext cx="12188825" cy="6858000"/>
          </a:xfrm>
          <a:prstGeom prst="rect">
            <a:avLst/>
          </a:prstGeom>
        </p:spPr>
      </p:pic>
      <p:sp>
        <p:nvSpPr>
          <p:cNvPr id="4" name="Text Placeholder 4">
            <a:extLst>
              <a:ext uri="{FF2B5EF4-FFF2-40B4-BE49-F238E27FC236}">
                <a16:creationId xmlns:a16="http://schemas.microsoft.com/office/drawing/2014/main" id="{5E6EA4AE-91EE-E57C-5A10-DE6B1999FC85}"/>
              </a:ext>
            </a:extLst>
          </p:cNvPr>
          <p:cNvSpPr>
            <a:spLocks noGrp="1"/>
          </p:cNvSpPr>
          <p:nvPr>
            <p:ph type="body" sz="quarter" idx="10" hasCustomPrompt="1"/>
          </p:nvPr>
        </p:nvSpPr>
        <p:spPr>
          <a:xfrm>
            <a:off x="457081" y="203200"/>
            <a:ext cx="7533901" cy="541338"/>
          </a:xfrm>
          <a:prstGeom prst="rect">
            <a:avLst/>
          </a:prstGeom>
        </p:spPr>
        <p:txBody>
          <a:bodyPr anchor="ctr"/>
          <a:lstStyle>
            <a:lvl1pPr marL="0" indent="0">
              <a:buNone/>
              <a:defRPr>
                <a:solidFill>
                  <a:schemeClr val="bg1"/>
                </a:solidFill>
                <a:latin typeface="+mj-lt"/>
              </a:defRPr>
            </a:lvl1pPr>
            <a:lvl2pPr marL="457063" indent="0">
              <a:buNone/>
              <a:defRPr>
                <a:solidFill>
                  <a:schemeClr val="bg1"/>
                </a:solidFill>
              </a:defRPr>
            </a:lvl2pPr>
            <a:lvl3pPr marL="914126" indent="0">
              <a:buNone/>
              <a:defRPr>
                <a:solidFill>
                  <a:schemeClr val="bg1"/>
                </a:solidFill>
              </a:defRPr>
            </a:lvl3pPr>
            <a:lvl4pPr marL="1371189" indent="0">
              <a:buNone/>
              <a:defRPr>
                <a:solidFill>
                  <a:schemeClr val="bg1"/>
                </a:solidFill>
              </a:defRPr>
            </a:lvl4pPr>
            <a:lvl5pPr marL="1828251" indent="0">
              <a:buNone/>
              <a:defRPr>
                <a:solidFill>
                  <a:schemeClr val="bg1"/>
                </a:solidFill>
              </a:defRPr>
            </a:lvl5pPr>
          </a:lstStyle>
          <a:p>
            <a:pPr lvl="0"/>
            <a:r>
              <a:rPr lang="en-US"/>
              <a:t>Click to edit slide title</a:t>
            </a:r>
          </a:p>
        </p:txBody>
      </p:sp>
      <p:sp>
        <p:nvSpPr>
          <p:cNvPr id="6" name="Content Placeholder 6">
            <a:extLst>
              <a:ext uri="{FF2B5EF4-FFF2-40B4-BE49-F238E27FC236}">
                <a16:creationId xmlns:a16="http://schemas.microsoft.com/office/drawing/2014/main" id="{C497BE07-B28A-9DFB-0B88-0754B6185AC7}"/>
              </a:ext>
            </a:extLst>
          </p:cNvPr>
          <p:cNvSpPr>
            <a:spLocks noGrp="1"/>
          </p:cNvSpPr>
          <p:nvPr>
            <p:ph sz="quarter" idx="11" hasCustomPrompt="1"/>
          </p:nvPr>
        </p:nvSpPr>
        <p:spPr>
          <a:xfrm>
            <a:off x="457082" y="1227138"/>
            <a:ext cx="11342377" cy="5054600"/>
          </a:xfrm>
          <a:prstGeom prst="rect">
            <a:avLst/>
          </a:prstGeom>
        </p:spPr>
        <p:txBody>
          <a:bodyPr/>
          <a:lstStyle>
            <a:lvl1pPr marL="0" indent="0">
              <a:buNone/>
              <a:defRPr/>
            </a:lvl1pPr>
          </a:lstStyle>
          <a:p>
            <a:pPr lvl="0"/>
            <a:r>
              <a:rPr lang="en-US"/>
              <a:t>Click to edit slide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1612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D3CD64-E2B3-E132-80C7-A45DF9A51314}"/>
              </a:ext>
            </a:extLst>
          </p:cNvPr>
          <p:cNvSpPr>
            <a:spLocks noGrp="1"/>
          </p:cNvSpPr>
          <p:nvPr>
            <p:ph type="dt" sz="half" idx="10"/>
          </p:nvPr>
        </p:nvSpPr>
        <p:spPr/>
        <p:txBody>
          <a:bodyPr/>
          <a:lstStyle/>
          <a:p>
            <a:fld id="{5BCAD085-E8A6-8845-BD4E-CB4CCA059FC4}" type="datetimeFigureOut">
              <a:rPr lang="en-US" smtClean="0"/>
              <a:t>5/30/26</a:t>
            </a:fld>
            <a:endParaRPr lang="en-US"/>
          </a:p>
        </p:txBody>
      </p:sp>
      <p:sp>
        <p:nvSpPr>
          <p:cNvPr id="3" name="Footer Placeholder 2">
            <a:extLst>
              <a:ext uri="{FF2B5EF4-FFF2-40B4-BE49-F238E27FC236}">
                <a16:creationId xmlns:a16="http://schemas.microsoft.com/office/drawing/2014/main" id="{8E6617BE-C0CA-68DA-6A44-CB67A46698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DC8F73B-DE01-7A93-8070-E5E38A592E9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7501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Standard TItle Slide">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E880C540-3141-71C5-5B32-5723F980E529}"/>
              </a:ext>
            </a:extLst>
          </p:cNvPr>
          <p:cNvPicPr>
            <a:picLocks noChangeAspect="1"/>
          </p:cNvPicPr>
          <p:nvPr/>
        </p:nvPicPr>
        <p:blipFill>
          <a:blip r:embed="rId2"/>
          <a:stretch>
            <a:fillRect/>
          </a:stretch>
        </p:blipFill>
        <p:spPr>
          <a:xfrm>
            <a:off x="0" y="0"/>
            <a:ext cx="12188825" cy="6858000"/>
          </a:xfrm>
          <a:prstGeom prst="rect">
            <a:avLst/>
          </a:prstGeom>
        </p:spPr>
      </p:pic>
      <p:sp>
        <p:nvSpPr>
          <p:cNvPr id="4" name="Text Placeholder 2">
            <a:extLst>
              <a:ext uri="{FF2B5EF4-FFF2-40B4-BE49-F238E27FC236}">
                <a16:creationId xmlns:a16="http://schemas.microsoft.com/office/drawing/2014/main" id="{C49713DB-4A8F-F0A8-3E69-4C27F067EB65}"/>
              </a:ext>
            </a:extLst>
          </p:cNvPr>
          <p:cNvSpPr>
            <a:spLocks noGrp="1"/>
          </p:cNvSpPr>
          <p:nvPr>
            <p:ph type="body" sz="quarter" idx="10" hasCustomPrompt="1"/>
          </p:nvPr>
        </p:nvSpPr>
        <p:spPr>
          <a:xfrm>
            <a:off x="1501384" y="3429001"/>
            <a:ext cx="7368844" cy="773113"/>
          </a:xfrm>
          <a:prstGeom prst="rect">
            <a:avLst/>
          </a:prstGeom>
        </p:spPr>
        <p:txBody>
          <a:bodyPr anchor="ctr"/>
          <a:lstStyle>
            <a:lvl1pPr>
              <a:defRPr sz="4399">
                <a:latin typeface="+mj-lt"/>
              </a:defRPr>
            </a:lvl1pPr>
          </a:lstStyle>
          <a:p>
            <a:pPr lvl="0"/>
            <a:r>
              <a:rPr lang="en-US" dirty="0"/>
              <a:t>Click to edit presentation title</a:t>
            </a:r>
          </a:p>
        </p:txBody>
      </p:sp>
      <p:sp>
        <p:nvSpPr>
          <p:cNvPr id="2" name="Text Placeholder 2">
            <a:extLst>
              <a:ext uri="{FF2B5EF4-FFF2-40B4-BE49-F238E27FC236}">
                <a16:creationId xmlns:a16="http://schemas.microsoft.com/office/drawing/2014/main" id="{B6FC7BEA-BCAA-E653-010B-D8DD4DF0D7C3}"/>
              </a:ext>
            </a:extLst>
          </p:cNvPr>
          <p:cNvSpPr>
            <a:spLocks noGrp="1"/>
          </p:cNvSpPr>
          <p:nvPr>
            <p:ph type="body" sz="quarter" idx="11" hasCustomPrompt="1"/>
          </p:nvPr>
        </p:nvSpPr>
        <p:spPr>
          <a:xfrm>
            <a:off x="1501385" y="4202114"/>
            <a:ext cx="9849459" cy="773113"/>
          </a:xfrm>
          <a:prstGeom prst="rect">
            <a:avLst/>
          </a:prstGeom>
        </p:spPr>
        <p:txBody>
          <a:bodyPr anchor="ctr"/>
          <a:lstStyle>
            <a:lvl1pPr>
              <a:defRPr sz="2399">
                <a:latin typeface="+mj-lt"/>
              </a:defRPr>
            </a:lvl1pPr>
          </a:lstStyle>
          <a:p>
            <a:pPr lvl="0"/>
            <a:r>
              <a:rPr lang="en-US"/>
              <a:t>Click to edit location, date or presenter</a:t>
            </a:r>
          </a:p>
        </p:txBody>
      </p:sp>
    </p:spTree>
    <p:extLst>
      <p:ext uri="{BB962C8B-B14F-4D97-AF65-F5344CB8AC3E}">
        <p14:creationId xmlns:p14="http://schemas.microsoft.com/office/powerpoint/2010/main" val="2251955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ndard Section Slid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A8EF103-5D35-14B9-8758-EF135D90DD2F}"/>
              </a:ext>
            </a:extLst>
          </p:cNvPr>
          <p:cNvSpPr>
            <a:spLocks noGrp="1"/>
          </p:cNvSpPr>
          <p:nvPr>
            <p:ph type="body" sz="quarter" idx="10" hasCustomPrompt="1"/>
          </p:nvPr>
        </p:nvSpPr>
        <p:spPr>
          <a:xfrm>
            <a:off x="1501384" y="3429001"/>
            <a:ext cx="7368844" cy="773113"/>
          </a:xfrm>
          <a:prstGeom prst="rect">
            <a:avLst/>
          </a:prstGeom>
        </p:spPr>
        <p:txBody>
          <a:bodyPr anchor="ctr"/>
          <a:lstStyle>
            <a:lvl1pPr>
              <a:defRPr sz="4399">
                <a:latin typeface="+mj-lt"/>
              </a:defRPr>
            </a:lvl1pPr>
          </a:lstStyle>
          <a:p>
            <a:pPr lvl="0"/>
            <a:r>
              <a:rPr lang="en-US" dirty="0"/>
              <a:t>Click to edit section title</a:t>
            </a:r>
          </a:p>
        </p:txBody>
      </p:sp>
    </p:spTree>
    <p:extLst>
      <p:ext uri="{BB962C8B-B14F-4D97-AF65-F5344CB8AC3E}">
        <p14:creationId xmlns:p14="http://schemas.microsoft.com/office/powerpoint/2010/main" val="3906362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losing Slide - No Text with Logo">
    <p:spTree>
      <p:nvGrpSpPr>
        <p:cNvPr id="1" name=""/>
        <p:cNvGrpSpPr/>
        <p:nvPr/>
      </p:nvGrpSpPr>
      <p:grpSpPr>
        <a:xfrm>
          <a:off x="0" y="0"/>
          <a:ext cx="0" cy="0"/>
          <a:chOff x="0" y="0"/>
          <a:chExt cx="0" cy="0"/>
        </a:xfrm>
      </p:grpSpPr>
      <p:pic>
        <p:nvPicPr>
          <p:cNvPr id="2" name="Picture 1" descr="Background pattern&#10;&#10;Description automatically generated with medium confidence">
            <a:extLst>
              <a:ext uri="{FF2B5EF4-FFF2-40B4-BE49-F238E27FC236}">
                <a16:creationId xmlns:a16="http://schemas.microsoft.com/office/drawing/2014/main" id="{E84A1C44-ADEC-EF94-2F07-0FA81146B947}"/>
              </a:ext>
            </a:extLst>
          </p:cNvPr>
          <p:cNvPicPr>
            <a:picLocks noChangeAspect="1"/>
          </p:cNvPicPr>
          <p:nvPr/>
        </p:nvPicPr>
        <p:blipFill>
          <a:blip r:embed="rId2"/>
          <a:stretch>
            <a:fillRect/>
          </a:stretch>
        </p:blipFill>
        <p:spPr>
          <a:xfrm>
            <a:off x="-1" y="0"/>
            <a:ext cx="12188826" cy="6858000"/>
          </a:xfrm>
          <a:prstGeom prst="rect">
            <a:avLst/>
          </a:prstGeom>
        </p:spPr>
      </p:pic>
    </p:spTree>
    <p:extLst>
      <p:ext uri="{BB962C8B-B14F-4D97-AF65-F5344CB8AC3E}">
        <p14:creationId xmlns:p14="http://schemas.microsoft.com/office/powerpoint/2010/main" val="4117264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747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ctrTitle"/>
          </p:nvPr>
        </p:nvSpPr>
        <p:spPr>
          <a:xfrm>
            <a:off x="3961367" y="1964267"/>
            <a:ext cx="7195852"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1367" y="4385733"/>
            <a:ext cx="7195852"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0232" y="5870576"/>
            <a:ext cx="1599783" cy="377825"/>
          </a:xfrm>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a:xfrm>
            <a:off x="3961367" y="5870576"/>
            <a:ext cx="4892684" cy="377825"/>
          </a:xfrm>
        </p:spPr>
        <p:txBody>
          <a:bodyPr/>
          <a:lstStyle/>
          <a:p>
            <a:endParaRPr lang="en-US" dirty="0"/>
          </a:p>
        </p:txBody>
      </p:sp>
      <p:sp>
        <p:nvSpPr>
          <p:cNvPr id="6" name="Slide Number Placeholder 5"/>
          <p:cNvSpPr>
            <a:spLocks noGrp="1"/>
          </p:cNvSpPr>
          <p:nvPr>
            <p:ph type="sldNum" sz="quarter" idx="12"/>
          </p:nvPr>
        </p:nvSpPr>
        <p:spPr>
          <a:xfrm>
            <a:off x="10606196" y="5870576"/>
            <a:ext cx="551023" cy="377825"/>
          </a:xfrm>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617994768"/>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1739227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3308581"/>
            <a:ext cx="10128789"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620" y="4777381"/>
            <a:ext cx="10128790"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81574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623" y="2142067"/>
            <a:ext cx="4994033"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0379" y="2142068"/>
            <a:ext cx="4994031"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90993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416" y="2218267"/>
            <a:ext cx="4707828"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623" y="2870201"/>
            <a:ext cx="4995622"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4416" y="2226734"/>
            <a:ext cx="472158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1967" y="2870201"/>
            <a:ext cx="499403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smtClean="0"/>
              <a:t>5/30/26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4288172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5/30/26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02509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5/30/26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77851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2074333"/>
            <a:ext cx="3679926"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6991" y="609601"/>
            <a:ext cx="6167419"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622" y="3445933"/>
            <a:ext cx="3679926"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79079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1600200"/>
            <a:ext cx="6163048"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4290" y="914400"/>
            <a:ext cx="3280120"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622" y="2971800"/>
            <a:ext cx="6163048"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912426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2" y="4732865"/>
            <a:ext cx="10128789"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243" y="932112"/>
            <a:ext cx="8757546"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622" y="5299603"/>
            <a:ext cx="10128789"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160EA64-D806-43AC-9DF2-F8C432F32B4C}" type="datetimeFigureOut">
              <a:rPr lang="en-US" smtClean="0"/>
              <a:t>5/30/26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5543542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3" y="609601"/>
            <a:ext cx="10128789"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621" y="4343400"/>
            <a:ext cx="10128790"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2381151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15" name="TextBox 14"/>
          <p:cNvSpPr txBox="1"/>
          <p:nvPr/>
        </p:nvSpPr>
        <p:spPr>
          <a:xfrm>
            <a:off x="10235201" y="2743200"/>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148" y="823337"/>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009" y="609602"/>
            <a:ext cx="9547912"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589" y="3352800"/>
            <a:ext cx="9336752"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287" y="4343400"/>
            <a:ext cx="10149723"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28556024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4" y="3308581"/>
            <a:ext cx="10128787"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622" y="4777381"/>
            <a:ext cx="10128788"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690993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13" name="TextBox 12"/>
          <p:cNvSpPr txBox="1"/>
          <p:nvPr/>
        </p:nvSpPr>
        <p:spPr>
          <a:xfrm>
            <a:off x="10235201" y="2743200"/>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148" y="823337"/>
            <a:ext cx="609441"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009" y="609602"/>
            <a:ext cx="9547912"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621" y="3886200"/>
            <a:ext cx="10132797"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620" y="4775200"/>
            <a:ext cx="10132797"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9978761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Title 1"/>
          <p:cNvSpPr>
            <a:spLocks noGrp="1"/>
          </p:cNvSpPr>
          <p:nvPr>
            <p:ph type="title"/>
          </p:nvPr>
        </p:nvSpPr>
        <p:spPr>
          <a:xfrm>
            <a:off x="685623" y="609602"/>
            <a:ext cx="1012878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622" y="3505200"/>
            <a:ext cx="10128790"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621" y="4343400"/>
            <a:ext cx="10128790"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4929687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
        <p:nvSpPr>
          <p:cNvPr id="8" name="Title 1"/>
          <p:cNvSpPr>
            <a:spLocks noGrp="1"/>
          </p:cNvSpPr>
          <p:nvPr>
            <p:ph type="title"/>
          </p:nvPr>
        </p:nvSpPr>
        <p:spPr>
          <a:xfrm>
            <a:off x="685623" y="609601"/>
            <a:ext cx="10128787"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381726631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5651" cy="6856214"/>
          </a:xfrm>
          <a:prstGeom prst="rect">
            <a:avLst/>
          </a:prstGeom>
        </p:spPr>
      </p:pic>
      <p:sp>
        <p:nvSpPr>
          <p:cNvPr id="2" name="Vertical Title 1"/>
          <p:cNvSpPr>
            <a:spLocks noGrp="1"/>
          </p:cNvSpPr>
          <p:nvPr>
            <p:ph type="title" orient="vert"/>
          </p:nvPr>
        </p:nvSpPr>
        <p:spPr>
          <a:xfrm>
            <a:off x="8656420" y="609600"/>
            <a:ext cx="2157990"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622" y="609600"/>
            <a:ext cx="783007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749787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theme" Target="../theme/theme3.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Picture 2" descr="Graphical user interface&#10;&#10;Description automatically generated with low confidence">
            <a:extLst>
              <a:ext uri="{FF2B5EF4-FFF2-40B4-BE49-F238E27FC236}">
                <a16:creationId xmlns:a16="http://schemas.microsoft.com/office/drawing/2014/main" id="{A5539033-C0C6-7E30-2E5F-43B91D382BE4}"/>
              </a:ext>
            </a:extLst>
          </p:cNvPr>
          <p:cNvPicPr>
            <a:picLocks noChangeAspect="1"/>
          </p:cNvPicPr>
          <p:nvPr/>
        </p:nvPicPr>
        <p:blipFill>
          <a:blip r:embed="rId7"/>
          <a:stretch>
            <a:fillRect/>
          </a:stretch>
        </p:blipFill>
        <p:spPr>
          <a:xfrm>
            <a:off x="0" y="0"/>
            <a:ext cx="12188825" cy="6858000"/>
          </a:xfrm>
          <a:prstGeom prst="rect">
            <a:avLst/>
          </a:prstGeom>
        </p:spPr>
      </p:pic>
      <p:sp>
        <p:nvSpPr>
          <p:cNvPr id="2" name="TextBox 1">
            <a:extLst>
              <a:ext uri="{FF2B5EF4-FFF2-40B4-BE49-F238E27FC236}">
                <a16:creationId xmlns:a16="http://schemas.microsoft.com/office/drawing/2014/main" id="{2860A96D-A065-7A9B-9FAA-1F11416E6DF0}"/>
              </a:ext>
            </a:extLst>
          </p:cNvPr>
          <p:cNvSpPr txBox="1"/>
          <p:nvPr/>
        </p:nvSpPr>
        <p:spPr>
          <a:xfrm>
            <a:off x="5916658" y="6412469"/>
            <a:ext cx="558654" cy="276999"/>
          </a:xfrm>
          <a:prstGeom prst="rect">
            <a:avLst/>
          </a:prstGeom>
          <a:noFill/>
        </p:spPr>
        <p:txBody>
          <a:bodyPr wrap="square" rtlCol="0">
            <a:spAutoFit/>
          </a:bodyPr>
          <a:lstStyle/>
          <a:p>
            <a:fld id="{5E10DED2-F0BD-48AD-B262-DCA3F2B5B873}" type="slidenum">
              <a:rPr lang="en-US" sz="1200" smtClean="0">
                <a:latin typeface="+mj-lt"/>
              </a:rPr>
              <a:t>‹#›</a:t>
            </a:fld>
            <a:endParaRPr lang="en-US" sz="1799">
              <a:latin typeface="+mj-lt"/>
            </a:endParaRPr>
          </a:p>
        </p:txBody>
      </p:sp>
      <p:sp>
        <p:nvSpPr>
          <p:cNvPr id="4" name="Title Placeholder 3">
            <a:extLst>
              <a:ext uri="{FF2B5EF4-FFF2-40B4-BE49-F238E27FC236}">
                <a16:creationId xmlns:a16="http://schemas.microsoft.com/office/drawing/2014/main" id="{FB40A20C-A2ED-28D6-C3D5-B3661E81A332}"/>
              </a:ext>
            </a:extLst>
          </p:cNvPr>
          <p:cNvSpPr>
            <a:spLocks noGrp="1"/>
          </p:cNvSpPr>
          <p:nvPr>
            <p:ph type="title"/>
          </p:nvPr>
        </p:nvSpPr>
        <p:spPr>
          <a:xfrm>
            <a:off x="279328" y="255058"/>
            <a:ext cx="6399133" cy="422275"/>
          </a:xfrm>
          <a:prstGeom prst="rect">
            <a:avLst/>
          </a:prstGeom>
        </p:spPr>
        <p:txBody>
          <a:bodyPr vert="horz" lIns="91440" tIns="45720" rIns="91440" bIns="45720" rtlCol="0" anchor="ctr">
            <a:noAutofit/>
          </a:bodyPr>
          <a:lstStyle/>
          <a:p>
            <a:r>
              <a:rPr lang="en-US"/>
              <a:t>Click to edit Master title style</a:t>
            </a:r>
          </a:p>
        </p:txBody>
      </p:sp>
      <p:sp>
        <p:nvSpPr>
          <p:cNvPr id="5" name="Text Placeholder 4">
            <a:extLst>
              <a:ext uri="{FF2B5EF4-FFF2-40B4-BE49-F238E27FC236}">
                <a16:creationId xmlns:a16="http://schemas.microsoft.com/office/drawing/2014/main" id="{F2916DF7-1270-AE7D-6F2B-2CDF3BF447EA}"/>
              </a:ext>
            </a:extLst>
          </p:cNvPr>
          <p:cNvSpPr>
            <a:spLocks noGrp="1"/>
          </p:cNvSpPr>
          <p:nvPr>
            <p:ph type="body" idx="1"/>
          </p:nvPr>
        </p:nvSpPr>
        <p:spPr>
          <a:xfrm>
            <a:off x="279327" y="1139825"/>
            <a:ext cx="11350843"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6380706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Lst>
  <p:txStyles>
    <p:titleStyle>
      <a:lvl1pPr algn="l" defTabSz="914126" rtl="0" eaLnBrk="1" latinLnBrk="0" hangingPunct="1">
        <a:lnSpc>
          <a:spcPct val="90000"/>
        </a:lnSpc>
        <a:spcBef>
          <a:spcPct val="0"/>
        </a:spcBef>
        <a:buNone/>
        <a:defRPr sz="3999" kern="1200">
          <a:solidFill>
            <a:schemeClr val="bg1"/>
          </a:solidFill>
          <a:latin typeface="+mj-lt"/>
          <a:ea typeface="+mj-ea"/>
          <a:cs typeface="+mj-cs"/>
        </a:defRPr>
      </a:lvl1pPr>
    </p:titleStyle>
    <p:bodyStyle>
      <a:lvl1pPr marL="0" indent="0" algn="l" defTabSz="914126" rtl="0" eaLnBrk="1" latinLnBrk="0" hangingPunct="1">
        <a:lnSpc>
          <a:spcPct val="90000"/>
        </a:lnSpc>
        <a:spcBef>
          <a:spcPts val="1000"/>
        </a:spcBef>
        <a:buFont typeface="Arial" panose="020B0604020202020204" pitchFamily="34" charset="0"/>
        <a:buNone/>
        <a:defRPr sz="2799" kern="1200">
          <a:solidFill>
            <a:schemeClr val="tx1"/>
          </a:solidFill>
          <a:latin typeface="+mj-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j-lt"/>
          <a:ea typeface="+mn-ea"/>
          <a:cs typeface="+mn-cs"/>
        </a:defRPr>
      </a:lvl2pPr>
      <a:lvl3pPr marL="1142657" indent="-228531" algn="l" defTabSz="914126" rtl="0" eaLnBrk="1" latinLnBrk="0" hangingPunct="1">
        <a:lnSpc>
          <a:spcPct val="90000"/>
        </a:lnSpc>
        <a:spcBef>
          <a:spcPts val="500"/>
        </a:spcBef>
        <a:buFont typeface="Wingdings" panose="05000000000000000000" pitchFamily="2" charset="2"/>
        <a:buChar char="§"/>
        <a:defRPr sz="1999" kern="1200">
          <a:solidFill>
            <a:schemeClr val="tx1"/>
          </a:solidFill>
          <a:latin typeface="+mj-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j-lt"/>
          <a:ea typeface="+mn-ea"/>
          <a:cs typeface="+mn-cs"/>
        </a:defRPr>
      </a:lvl4pPr>
      <a:lvl5pPr marL="2056783"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mj-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descr="Background pattern&#10;&#10;Description automatically generated">
            <a:extLst>
              <a:ext uri="{FF2B5EF4-FFF2-40B4-BE49-F238E27FC236}">
                <a16:creationId xmlns:a16="http://schemas.microsoft.com/office/drawing/2014/main" id="{DC2A4AC3-A212-B0FE-10D6-B30B996AC1C2}"/>
              </a:ext>
            </a:extLst>
          </p:cNvPr>
          <p:cNvPicPr>
            <a:picLocks noChangeAspect="1"/>
          </p:cNvPicPr>
          <p:nvPr/>
        </p:nvPicPr>
        <p:blipFill>
          <a:blip r:embed="rId6"/>
          <a:stretch>
            <a:fillRect/>
          </a:stretch>
        </p:blipFill>
        <p:spPr>
          <a:xfrm>
            <a:off x="0" y="0"/>
            <a:ext cx="12188825" cy="6858000"/>
          </a:xfrm>
          <a:prstGeom prst="rect">
            <a:avLst/>
          </a:prstGeom>
        </p:spPr>
      </p:pic>
    </p:spTree>
    <p:extLst>
      <p:ext uri="{BB962C8B-B14F-4D97-AF65-F5344CB8AC3E}">
        <p14:creationId xmlns:p14="http://schemas.microsoft.com/office/powerpoint/2010/main" val="2557199035"/>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Lst>
  <p:hf hdr="0" dt="0"/>
  <p:txStyles>
    <p:titleStyle>
      <a:lvl1pPr algn="l" defTabSz="914126" rtl="0" eaLnBrk="1" latinLnBrk="0" hangingPunct="1">
        <a:lnSpc>
          <a:spcPct val="90000"/>
        </a:lnSpc>
        <a:spcBef>
          <a:spcPct val="0"/>
        </a:spcBef>
        <a:buNone/>
        <a:defRPr sz="4399" kern="1200">
          <a:solidFill>
            <a:schemeClr val="bg1"/>
          </a:solidFill>
          <a:latin typeface="+mj-lt"/>
          <a:ea typeface="+mj-ea"/>
          <a:cs typeface="+mj-cs"/>
        </a:defRPr>
      </a:lvl1pPr>
    </p:titleStyle>
    <p:bodyStyle>
      <a:lvl1pPr marL="0" indent="0" algn="l" defTabSz="914126" rtl="0" eaLnBrk="1" latinLnBrk="0" hangingPunct="1">
        <a:lnSpc>
          <a:spcPct val="90000"/>
        </a:lnSpc>
        <a:spcBef>
          <a:spcPts val="1000"/>
        </a:spcBef>
        <a:buFontTx/>
        <a:buNone/>
        <a:defRPr sz="2799" kern="1200">
          <a:solidFill>
            <a:schemeClr val="bg1"/>
          </a:solidFill>
          <a:latin typeface="+mn-lt"/>
          <a:ea typeface="+mn-ea"/>
          <a:cs typeface="+mn-cs"/>
        </a:defRPr>
      </a:lvl1pPr>
      <a:lvl2pPr marL="457063" indent="0" algn="l" defTabSz="914126" rtl="0" eaLnBrk="1" latinLnBrk="0" hangingPunct="1">
        <a:lnSpc>
          <a:spcPct val="90000"/>
        </a:lnSpc>
        <a:spcBef>
          <a:spcPts val="500"/>
        </a:spcBef>
        <a:buFontTx/>
        <a:buNone/>
        <a:defRPr sz="2399" kern="1200">
          <a:solidFill>
            <a:schemeClr val="bg1"/>
          </a:solidFill>
          <a:latin typeface="+mn-lt"/>
          <a:ea typeface="+mn-ea"/>
          <a:cs typeface="+mn-cs"/>
        </a:defRPr>
      </a:lvl2pPr>
      <a:lvl3pPr marL="914126" indent="0" algn="l" defTabSz="914126" rtl="0" eaLnBrk="1" latinLnBrk="0" hangingPunct="1">
        <a:lnSpc>
          <a:spcPct val="90000"/>
        </a:lnSpc>
        <a:spcBef>
          <a:spcPts val="500"/>
        </a:spcBef>
        <a:buFontTx/>
        <a:buNone/>
        <a:defRPr sz="1999" kern="1200">
          <a:solidFill>
            <a:schemeClr val="bg1"/>
          </a:solidFill>
          <a:latin typeface="+mn-lt"/>
          <a:ea typeface="+mn-ea"/>
          <a:cs typeface="+mn-cs"/>
        </a:defRPr>
      </a:lvl3pPr>
      <a:lvl4pPr marL="1371189" indent="0" algn="l" defTabSz="914126" rtl="0" eaLnBrk="1" latinLnBrk="0" hangingPunct="1">
        <a:lnSpc>
          <a:spcPct val="90000"/>
        </a:lnSpc>
        <a:spcBef>
          <a:spcPts val="500"/>
        </a:spcBef>
        <a:buFontTx/>
        <a:buNone/>
        <a:defRPr sz="1799" kern="1200">
          <a:solidFill>
            <a:schemeClr val="bg1"/>
          </a:solidFill>
          <a:latin typeface="+mn-lt"/>
          <a:ea typeface="+mn-ea"/>
          <a:cs typeface="+mn-cs"/>
        </a:defRPr>
      </a:lvl4pPr>
      <a:lvl5pPr marL="1828251" indent="0" algn="l" defTabSz="914126" rtl="0" eaLnBrk="1" latinLnBrk="0" hangingPunct="1">
        <a:lnSpc>
          <a:spcPct val="90000"/>
        </a:lnSpc>
        <a:spcBef>
          <a:spcPts val="500"/>
        </a:spcBef>
        <a:buFontTx/>
        <a:buNone/>
        <a:defRPr sz="1799" kern="1200">
          <a:solidFill>
            <a:schemeClr val="bg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623" y="609601"/>
            <a:ext cx="10128787"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623" y="2142068"/>
            <a:ext cx="10128787"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7423" y="5870576"/>
            <a:ext cx="159978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5/30/26</a:t>
            </a:fld>
            <a:endParaRPr lang="en-US" dirty="0"/>
          </a:p>
        </p:txBody>
      </p:sp>
      <p:sp>
        <p:nvSpPr>
          <p:cNvPr id="5" name="Footer Placeholder 4"/>
          <p:cNvSpPr>
            <a:spLocks noGrp="1"/>
          </p:cNvSpPr>
          <p:nvPr>
            <p:ph type="ftr" sz="quarter" idx="3"/>
          </p:nvPr>
        </p:nvSpPr>
        <p:spPr>
          <a:xfrm>
            <a:off x="685622" y="5870576"/>
            <a:ext cx="7825621"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3387" y="5870576"/>
            <a:ext cx="55102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921122696"/>
      </p:ext>
    </p:extLst>
  </p:cSld>
  <p:clrMap bg1="dk1" tx1="lt1" bg2="dk2" tx2="lt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 id="2147483724"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2148840"/>
            <a:ext cx="10698480" cy="1280160"/>
          </a:xfrm>
          <a:prstGeom prst="rect">
            <a:avLst/>
          </a:prstGeom>
          <a:noFill/>
        </p:spPr>
        <p:txBody>
          <a:bodyPr wrap="square">
            <a:spAutoFit/>
          </a:bodyPr>
          <a:lstStyle/>
          <a:p>
            <a:pPr algn="ctr"/>
            <a:r>
              <a:rPr sz="4200" b="1" i="0" dirty="0">
                <a:solidFill>
                  <a:srgbClr val="FFFFFF"/>
                </a:solidFill>
              </a:rPr>
              <a:t>Adversarial Attacks on MNIST</a:t>
            </a:r>
          </a:p>
        </p:txBody>
      </p:sp>
      <p:sp>
        <p:nvSpPr>
          <p:cNvPr id="11" name="TextBox 10">
            <a:extLst>
              <a:ext uri="{FF2B5EF4-FFF2-40B4-BE49-F238E27FC236}">
                <a16:creationId xmlns:a16="http://schemas.microsoft.com/office/drawing/2014/main" id="{54458145-5110-B6DB-930B-A40BED17E159}"/>
              </a:ext>
            </a:extLst>
          </p:cNvPr>
          <p:cNvSpPr txBox="1"/>
          <p:nvPr/>
        </p:nvSpPr>
        <p:spPr>
          <a:xfrm>
            <a:off x="928052" y="5320146"/>
            <a:ext cx="10332720" cy="400110"/>
          </a:xfrm>
          <a:prstGeom prst="rect">
            <a:avLst/>
          </a:prstGeom>
          <a:noFill/>
        </p:spPr>
        <p:txBody>
          <a:bodyPr wrap="square">
            <a:spAutoFit/>
          </a:bodyPr>
          <a:lstStyle/>
          <a:p>
            <a:pPr algn="ctr"/>
            <a:r>
              <a:rPr lang="en-US" sz="2000" b="0" i="0" dirty="0">
                <a:solidFill>
                  <a:srgbClr val="AABBCC"/>
                </a:solidFill>
              </a:rPr>
              <a:t>Assignment 7.1  |  Ziru Xu</a:t>
            </a:r>
          </a:p>
        </p:txBody>
      </p:sp>
      <p:sp>
        <p:nvSpPr>
          <p:cNvPr id="12" name="TextBox 11">
            <a:extLst>
              <a:ext uri="{FF2B5EF4-FFF2-40B4-BE49-F238E27FC236}">
                <a16:creationId xmlns:a16="http://schemas.microsoft.com/office/drawing/2014/main" id="{9C4099A8-8503-43D1-6781-0CF62D83EDD8}"/>
              </a:ext>
            </a:extLst>
          </p:cNvPr>
          <p:cNvSpPr txBox="1"/>
          <p:nvPr/>
        </p:nvSpPr>
        <p:spPr>
          <a:xfrm>
            <a:off x="928052" y="3695008"/>
            <a:ext cx="10332720" cy="492443"/>
          </a:xfrm>
          <a:prstGeom prst="rect">
            <a:avLst/>
          </a:prstGeom>
          <a:noFill/>
        </p:spPr>
        <p:txBody>
          <a:bodyPr wrap="square">
            <a:spAutoFit/>
          </a:bodyPr>
          <a:lstStyle/>
          <a:p>
            <a:pPr algn="ctr"/>
            <a:r>
              <a:rPr lang="en-US" sz="2600" b="0" i="0" dirty="0">
                <a:solidFill>
                  <a:srgbClr val="00C2FF"/>
                </a:solidFill>
              </a:rPr>
              <a:t>Comparing Different Attack Methods on CNN Model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553998"/>
          </a:xfrm>
          <a:prstGeom prst="rect">
            <a:avLst/>
          </a:prstGeom>
          <a:noFill/>
        </p:spPr>
        <p:txBody>
          <a:bodyPr wrap="square">
            <a:spAutoFit/>
          </a:bodyPr>
          <a:lstStyle/>
          <a:p>
            <a:pPr algn="l"/>
            <a:r>
              <a:rPr sz="3000" b="1" i="0" dirty="0">
                <a:solidFill>
                  <a:srgbClr val="00C2FF"/>
                </a:solidFill>
              </a:rPr>
              <a:t>Target Model — CNN (</a:t>
            </a:r>
            <a:r>
              <a:rPr lang="en-US" sz="3000" b="1" i="0" dirty="0">
                <a:solidFill>
                  <a:srgbClr val="00C2FF"/>
                </a:solidFill>
              </a:rPr>
              <a:t>Best Model Trained Before</a:t>
            </a:r>
            <a:r>
              <a:rPr sz="3000" b="1" i="0" dirty="0">
                <a:solidFill>
                  <a:srgbClr val="00C2FF"/>
                </a:solidFill>
              </a:rPr>
              <a:t>)</a:t>
            </a:r>
          </a:p>
        </p:txBody>
      </p:sp>
      <p:sp>
        <p:nvSpPr>
          <p:cNvPr id="5" name="TextBox 4"/>
          <p:cNvSpPr txBox="1"/>
          <p:nvPr/>
        </p:nvSpPr>
        <p:spPr>
          <a:xfrm>
            <a:off x="457200" y="1097280"/>
            <a:ext cx="11247120" cy="1738938"/>
          </a:xfrm>
          <a:prstGeom prst="rect">
            <a:avLst/>
          </a:prstGeom>
          <a:noFill/>
        </p:spPr>
        <p:txBody>
          <a:bodyPr wrap="square">
            <a:spAutoFit/>
          </a:bodyPr>
          <a:lstStyle/>
          <a:p>
            <a:pPr algn="l"/>
            <a:endParaRPr sz="2100" b="1" dirty="0">
              <a:solidFill>
                <a:srgbClr val="00C2FF"/>
              </a:solidFill>
            </a:endParaRPr>
          </a:p>
          <a:p>
            <a:pPr algn="l">
              <a:spcBef>
                <a:spcPts val="300"/>
              </a:spcBef>
            </a:pPr>
            <a:r>
              <a:rPr sz="1900" dirty="0">
                <a:solidFill>
                  <a:srgbClr val="CCE5FF"/>
                </a:solidFill>
              </a:rPr>
              <a:t>•  Trained on MNIST (60k images, 5 epochs)</a:t>
            </a:r>
          </a:p>
          <a:p>
            <a:pPr algn="l">
              <a:spcBef>
                <a:spcPts val="300"/>
              </a:spcBef>
            </a:pPr>
            <a:r>
              <a:rPr sz="1900" dirty="0">
                <a:solidFill>
                  <a:srgbClr val="CCE5FF"/>
                </a:solidFill>
              </a:rPr>
              <a:t>•  Optimizer: Adam  (</a:t>
            </a:r>
            <a:r>
              <a:rPr sz="1900" dirty="0" err="1">
                <a:solidFill>
                  <a:srgbClr val="CCE5FF"/>
                </a:solidFill>
              </a:rPr>
              <a:t>lr</a:t>
            </a:r>
            <a:r>
              <a:rPr sz="1900" dirty="0">
                <a:solidFill>
                  <a:srgbClr val="CCE5FF"/>
                </a:solidFill>
              </a:rPr>
              <a:t> = 1e-3)  |  Loss: </a:t>
            </a:r>
            <a:r>
              <a:rPr sz="1900" dirty="0" err="1">
                <a:solidFill>
                  <a:srgbClr val="CCE5FF"/>
                </a:solidFill>
              </a:rPr>
              <a:t>CrossEntropyLoss</a:t>
            </a:r>
            <a:endParaRPr sz="1900" dirty="0">
              <a:solidFill>
                <a:srgbClr val="CCE5FF"/>
              </a:solidFill>
            </a:endParaRPr>
          </a:p>
          <a:p>
            <a:pPr algn="l">
              <a:spcBef>
                <a:spcPts val="300"/>
              </a:spcBef>
            </a:pPr>
            <a:r>
              <a:rPr sz="1900" dirty="0">
                <a:solidFill>
                  <a:srgbClr val="CCE5FF"/>
                </a:solidFill>
              </a:rPr>
              <a:t>•  Achieves 99.1% Recognition Rate on 10,000 clean test images</a:t>
            </a:r>
          </a:p>
          <a:p>
            <a:pPr algn="l">
              <a:spcBef>
                <a:spcPts val="300"/>
              </a:spcBef>
            </a:pPr>
            <a:r>
              <a:rPr sz="1900" dirty="0">
                <a:solidFill>
                  <a:srgbClr val="CCE5FF"/>
                </a:solidFill>
              </a:rPr>
              <a:t>•  Attacks evaluated on a 2,000-sample subset  (</a:t>
            </a:r>
            <a:r>
              <a:rPr sz="1900" dirty="0" err="1">
                <a:solidFill>
                  <a:srgbClr val="CCE5FF"/>
                </a:solidFill>
              </a:rPr>
              <a:t>ε</a:t>
            </a:r>
            <a:r>
              <a:rPr sz="1900" dirty="0">
                <a:solidFill>
                  <a:srgbClr val="CCE5FF"/>
                </a:solidFill>
              </a:rPr>
              <a:t> = 0.3)</a:t>
            </a:r>
          </a:p>
        </p:txBody>
      </p:sp>
      <p:sp>
        <p:nvSpPr>
          <p:cNvPr id="6" name="Rectangle 5"/>
          <p:cNvSpPr/>
          <p:nvPr/>
        </p:nvSpPr>
        <p:spPr>
          <a:xfrm>
            <a:off x="790956" y="3429000"/>
            <a:ext cx="1600200" cy="1188720"/>
          </a:xfrm>
          <a:prstGeom prst="rect">
            <a:avLst/>
          </a:prstGeom>
          <a:solidFill>
            <a:srgbClr val="2A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 y="3520440"/>
            <a:ext cx="1600200" cy="1097280"/>
          </a:xfrm>
          <a:prstGeom prst="rect">
            <a:avLst/>
          </a:prstGeom>
          <a:noFill/>
        </p:spPr>
        <p:txBody>
          <a:bodyPr wrap="square">
            <a:spAutoFit/>
          </a:bodyPr>
          <a:lstStyle/>
          <a:p>
            <a:pPr algn="ctr"/>
            <a:r>
              <a:rPr sz="1300" b="0" i="0">
                <a:solidFill>
                  <a:srgbClr val="FFFFFF"/>
                </a:solidFill>
              </a:rPr>
              <a:t>Input
28×28</a:t>
            </a:r>
          </a:p>
        </p:txBody>
      </p:sp>
      <p:sp>
        <p:nvSpPr>
          <p:cNvPr id="8" name="TextBox 7"/>
          <p:cNvSpPr txBox="1"/>
          <p:nvPr/>
        </p:nvSpPr>
        <p:spPr>
          <a:xfrm>
            <a:off x="2391156" y="3813048"/>
            <a:ext cx="201168" cy="457200"/>
          </a:xfrm>
          <a:prstGeom prst="rect">
            <a:avLst/>
          </a:prstGeom>
          <a:noFill/>
        </p:spPr>
        <p:txBody>
          <a:bodyPr wrap="square">
            <a:spAutoFit/>
          </a:bodyPr>
          <a:lstStyle/>
          <a:p>
            <a:pPr algn="ctr"/>
            <a:r>
              <a:rPr sz="2000" b="0" i="0">
                <a:solidFill>
                  <a:srgbClr val="AABBCC"/>
                </a:solidFill>
              </a:rPr>
              <a:t>→</a:t>
            </a:r>
          </a:p>
        </p:txBody>
      </p:sp>
      <p:sp>
        <p:nvSpPr>
          <p:cNvPr id="9" name="Rectangle 8"/>
          <p:cNvSpPr/>
          <p:nvPr/>
        </p:nvSpPr>
        <p:spPr>
          <a:xfrm>
            <a:off x="2592324"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92324" y="3520440"/>
            <a:ext cx="1600200" cy="1097280"/>
          </a:xfrm>
          <a:prstGeom prst="rect">
            <a:avLst/>
          </a:prstGeom>
          <a:noFill/>
        </p:spPr>
        <p:txBody>
          <a:bodyPr wrap="square">
            <a:spAutoFit/>
          </a:bodyPr>
          <a:lstStyle/>
          <a:p>
            <a:pPr algn="ctr"/>
            <a:r>
              <a:rPr sz="1300" b="0" i="0">
                <a:solidFill>
                  <a:srgbClr val="FFFFFF"/>
                </a:solidFill>
              </a:rPr>
              <a:t>Conv1
32 filters
3×3 ReLU</a:t>
            </a:r>
          </a:p>
        </p:txBody>
      </p:sp>
      <p:sp>
        <p:nvSpPr>
          <p:cNvPr id="11" name="TextBox 10"/>
          <p:cNvSpPr txBox="1"/>
          <p:nvPr/>
        </p:nvSpPr>
        <p:spPr>
          <a:xfrm>
            <a:off x="4192524" y="3813048"/>
            <a:ext cx="201168" cy="457200"/>
          </a:xfrm>
          <a:prstGeom prst="rect">
            <a:avLst/>
          </a:prstGeom>
          <a:noFill/>
        </p:spPr>
        <p:txBody>
          <a:bodyPr wrap="square">
            <a:spAutoFit/>
          </a:bodyPr>
          <a:lstStyle/>
          <a:p>
            <a:pPr algn="ctr"/>
            <a:r>
              <a:rPr sz="2000" b="0" i="0">
                <a:solidFill>
                  <a:srgbClr val="AABBCC"/>
                </a:solidFill>
              </a:rPr>
              <a:t>→</a:t>
            </a:r>
          </a:p>
        </p:txBody>
      </p:sp>
      <p:sp>
        <p:nvSpPr>
          <p:cNvPr id="12" name="Rectangle 11"/>
          <p:cNvSpPr/>
          <p:nvPr/>
        </p:nvSpPr>
        <p:spPr>
          <a:xfrm>
            <a:off x="4393692"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93692" y="3520440"/>
            <a:ext cx="1600200" cy="1097280"/>
          </a:xfrm>
          <a:prstGeom prst="rect">
            <a:avLst/>
          </a:prstGeom>
          <a:noFill/>
        </p:spPr>
        <p:txBody>
          <a:bodyPr wrap="square">
            <a:spAutoFit/>
          </a:bodyPr>
          <a:lstStyle/>
          <a:p>
            <a:pPr algn="ctr"/>
            <a:r>
              <a:rPr sz="1300" b="0" i="0">
                <a:solidFill>
                  <a:srgbClr val="FFFFFF"/>
                </a:solidFill>
              </a:rPr>
              <a:t>Conv2
64 filters
3×3 ReLU</a:t>
            </a:r>
          </a:p>
        </p:txBody>
      </p:sp>
      <p:sp>
        <p:nvSpPr>
          <p:cNvPr id="14" name="TextBox 13"/>
          <p:cNvSpPr txBox="1"/>
          <p:nvPr/>
        </p:nvSpPr>
        <p:spPr>
          <a:xfrm>
            <a:off x="5993892" y="3813048"/>
            <a:ext cx="201168" cy="457200"/>
          </a:xfrm>
          <a:prstGeom prst="rect">
            <a:avLst/>
          </a:prstGeom>
          <a:noFill/>
        </p:spPr>
        <p:txBody>
          <a:bodyPr wrap="square">
            <a:spAutoFit/>
          </a:bodyPr>
          <a:lstStyle/>
          <a:p>
            <a:pPr algn="ctr"/>
            <a:r>
              <a:rPr sz="2000" b="0" i="0">
                <a:solidFill>
                  <a:srgbClr val="AABBCC"/>
                </a:solidFill>
              </a:rPr>
              <a:t>→</a:t>
            </a:r>
          </a:p>
        </p:txBody>
      </p:sp>
      <p:sp>
        <p:nvSpPr>
          <p:cNvPr id="15" name="Rectangle 14"/>
          <p:cNvSpPr/>
          <p:nvPr/>
        </p:nvSpPr>
        <p:spPr>
          <a:xfrm>
            <a:off x="6195060" y="3429000"/>
            <a:ext cx="1600200" cy="1188720"/>
          </a:xfrm>
          <a:prstGeom prst="rect">
            <a:avLst/>
          </a:prstGeom>
          <a:solidFill>
            <a:srgbClr val="6A3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5060" y="3520440"/>
            <a:ext cx="1600200" cy="1097280"/>
          </a:xfrm>
          <a:prstGeom prst="rect">
            <a:avLst/>
          </a:prstGeom>
          <a:noFill/>
        </p:spPr>
        <p:txBody>
          <a:bodyPr wrap="square">
            <a:spAutoFit/>
          </a:bodyPr>
          <a:lstStyle/>
          <a:p>
            <a:pPr algn="ctr"/>
            <a:r>
              <a:rPr sz="1300" b="0" i="0">
                <a:solidFill>
                  <a:srgbClr val="FFFFFF"/>
                </a:solidFill>
              </a:rPr>
              <a:t>MaxPool
2×2</a:t>
            </a:r>
          </a:p>
        </p:txBody>
      </p:sp>
      <p:sp>
        <p:nvSpPr>
          <p:cNvPr id="17" name="TextBox 16"/>
          <p:cNvSpPr txBox="1"/>
          <p:nvPr/>
        </p:nvSpPr>
        <p:spPr>
          <a:xfrm>
            <a:off x="7795260" y="3813048"/>
            <a:ext cx="201168" cy="457200"/>
          </a:xfrm>
          <a:prstGeom prst="rect">
            <a:avLst/>
          </a:prstGeom>
          <a:noFill/>
        </p:spPr>
        <p:txBody>
          <a:bodyPr wrap="square">
            <a:spAutoFit/>
          </a:bodyPr>
          <a:lstStyle/>
          <a:p>
            <a:pPr algn="ctr"/>
            <a:r>
              <a:rPr sz="2000" b="0" i="0">
                <a:solidFill>
                  <a:srgbClr val="AABBCC"/>
                </a:solidFill>
              </a:rPr>
              <a:t>→</a:t>
            </a:r>
          </a:p>
        </p:txBody>
      </p:sp>
      <p:sp>
        <p:nvSpPr>
          <p:cNvPr id="18" name="Rectangle 17"/>
          <p:cNvSpPr/>
          <p:nvPr/>
        </p:nvSpPr>
        <p:spPr>
          <a:xfrm>
            <a:off x="7996428" y="3429000"/>
            <a:ext cx="1600200" cy="1188720"/>
          </a:xfrm>
          <a:prstGeom prst="rect">
            <a:avLst/>
          </a:prstGeom>
          <a:solidFill>
            <a:srgbClr val="1A6B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96428" y="3520440"/>
            <a:ext cx="1600200" cy="1097280"/>
          </a:xfrm>
          <a:prstGeom prst="rect">
            <a:avLst/>
          </a:prstGeom>
          <a:noFill/>
        </p:spPr>
        <p:txBody>
          <a:bodyPr wrap="square">
            <a:spAutoFit/>
          </a:bodyPr>
          <a:lstStyle/>
          <a:p>
            <a:pPr algn="ctr"/>
            <a:r>
              <a:rPr sz="1300" b="0" i="0">
                <a:solidFill>
                  <a:srgbClr val="FFFFFF"/>
                </a:solidFill>
              </a:rPr>
              <a:t>FC 128
ReLU</a:t>
            </a:r>
          </a:p>
        </p:txBody>
      </p:sp>
      <p:sp>
        <p:nvSpPr>
          <p:cNvPr id="20" name="TextBox 19"/>
          <p:cNvSpPr txBox="1"/>
          <p:nvPr/>
        </p:nvSpPr>
        <p:spPr>
          <a:xfrm>
            <a:off x="9596628" y="3813048"/>
            <a:ext cx="201168" cy="457200"/>
          </a:xfrm>
          <a:prstGeom prst="rect">
            <a:avLst/>
          </a:prstGeom>
          <a:noFill/>
        </p:spPr>
        <p:txBody>
          <a:bodyPr wrap="square">
            <a:spAutoFit/>
          </a:bodyPr>
          <a:lstStyle/>
          <a:p>
            <a:pPr algn="ctr"/>
            <a:r>
              <a:rPr sz="2000" b="0" i="0">
                <a:solidFill>
                  <a:srgbClr val="AABBCC"/>
                </a:solidFill>
              </a:rPr>
              <a:t>→</a:t>
            </a:r>
          </a:p>
        </p:txBody>
      </p:sp>
      <p:sp>
        <p:nvSpPr>
          <p:cNvPr id="21" name="Rectangle 20"/>
          <p:cNvSpPr/>
          <p:nvPr/>
        </p:nvSpPr>
        <p:spPr>
          <a:xfrm>
            <a:off x="9797796" y="3429000"/>
            <a:ext cx="1600200" cy="11887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97796" y="3520440"/>
            <a:ext cx="1600200" cy="1097280"/>
          </a:xfrm>
          <a:prstGeom prst="rect">
            <a:avLst/>
          </a:prstGeom>
          <a:noFill/>
        </p:spPr>
        <p:txBody>
          <a:bodyPr wrap="square">
            <a:spAutoFit/>
          </a:bodyPr>
          <a:lstStyle/>
          <a:p>
            <a:pPr algn="ctr"/>
            <a:r>
              <a:rPr sz="1300" b="0" i="0">
                <a:solidFill>
                  <a:srgbClr val="FFFFFF"/>
                </a:solidFill>
              </a:rPr>
              <a:t>Output
10 classes</a:t>
            </a:r>
          </a:p>
        </p:txBody>
      </p:sp>
      <p:sp>
        <p:nvSpPr>
          <p:cNvPr id="23" name="TextBox 22"/>
          <p:cNvSpPr txBox="1"/>
          <p:nvPr/>
        </p:nvSpPr>
        <p:spPr>
          <a:xfrm>
            <a:off x="457200" y="4846320"/>
            <a:ext cx="11247120" cy="411480"/>
          </a:xfrm>
          <a:prstGeom prst="rect">
            <a:avLst/>
          </a:prstGeom>
          <a:noFill/>
        </p:spPr>
        <p:txBody>
          <a:bodyPr wrap="square">
            <a:spAutoFit/>
          </a:bodyPr>
          <a:lstStyle/>
          <a:p>
            <a:pPr algn="ctr"/>
            <a:r>
              <a:rPr sz="1800" b="1" i="0" dirty="0">
                <a:solidFill>
                  <a:srgbClr val="FFD700"/>
                </a:solidFill>
              </a:rPr>
              <a:t>Recognition Rate (RR) = 99.1% on clean test set</a:t>
            </a:r>
          </a:p>
        </p:txBody>
      </p:sp>
      <p:sp>
        <p:nvSpPr>
          <p:cNvPr id="24" name="TextBox 23"/>
          <p:cNvSpPr txBox="1"/>
          <p:nvPr/>
        </p:nvSpPr>
        <p:spPr>
          <a:xfrm>
            <a:off x="457200" y="5257800"/>
            <a:ext cx="11247120" cy="365760"/>
          </a:xfrm>
          <a:prstGeom prst="rect">
            <a:avLst/>
          </a:prstGeom>
          <a:noFill/>
        </p:spPr>
        <p:txBody>
          <a:bodyPr wrap="square">
            <a:spAutoFit/>
          </a:bodyPr>
          <a:lstStyle/>
          <a:p>
            <a:pPr algn="ctr"/>
            <a:r>
              <a:rPr sz="1600" b="0" i="1" dirty="0">
                <a:solidFill>
                  <a:srgbClr val="CCE5FF"/>
                </a:solidFill>
              </a:rPr>
              <a:t>High clean accuracy ≠ adversarial robustness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Three Gradient-Based Attacks  (ε = 0.3)</a:t>
            </a:r>
          </a:p>
        </p:txBody>
      </p:sp>
      <p:sp>
        <p:nvSpPr>
          <p:cNvPr id="6" name="Rectangle 5"/>
          <p:cNvSpPr/>
          <p:nvPr/>
        </p:nvSpPr>
        <p:spPr>
          <a:xfrm>
            <a:off x="457200" y="1097280"/>
            <a:ext cx="3657600" cy="914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234440"/>
            <a:ext cx="3383280" cy="502920"/>
          </a:xfrm>
          <a:prstGeom prst="rect">
            <a:avLst/>
          </a:prstGeom>
          <a:noFill/>
        </p:spPr>
        <p:txBody>
          <a:bodyPr wrap="square">
            <a:spAutoFit/>
          </a:bodyPr>
          <a:lstStyle/>
          <a:p>
            <a:pPr algn="l"/>
            <a:r>
              <a:rPr sz="2200" b="1" i="0">
                <a:solidFill>
                  <a:srgbClr val="FF4545"/>
                </a:solidFill>
              </a:rPr>
              <a:t>FGSM</a:t>
            </a:r>
          </a:p>
        </p:txBody>
      </p:sp>
      <p:sp>
        <p:nvSpPr>
          <p:cNvPr id="8" name="TextBox 7"/>
          <p:cNvSpPr txBox="1"/>
          <p:nvPr/>
        </p:nvSpPr>
        <p:spPr>
          <a:xfrm>
            <a:off x="594360" y="1755648"/>
            <a:ext cx="3383280" cy="307777"/>
          </a:xfrm>
          <a:prstGeom prst="rect">
            <a:avLst/>
          </a:prstGeom>
          <a:noFill/>
        </p:spPr>
        <p:txBody>
          <a:bodyPr wrap="square">
            <a:spAutoFit/>
          </a:bodyPr>
          <a:lstStyle/>
          <a:p>
            <a:pPr algn="l"/>
            <a:r>
              <a:rPr lang="en-US" sz="1400" b="0" i="1" dirty="0">
                <a:solidFill>
                  <a:srgbClr val="AABBCC"/>
                </a:solidFill>
              </a:rPr>
              <a:t>Single-step gradient sign attack</a:t>
            </a:r>
          </a:p>
        </p:txBody>
      </p:sp>
      <p:sp>
        <p:nvSpPr>
          <p:cNvPr id="9" name="TextBox 8"/>
          <p:cNvSpPr txBox="1"/>
          <p:nvPr/>
        </p:nvSpPr>
        <p:spPr>
          <a:xfrm>
            <a:off x="594360" y="2240280"/>
            <a:ext cx="3383280" cy="3123932"/>
          </a:xfrm>
          <a:prstGeom prst="rect">
            <a:avLst/>
          </a:prstGeom>
          <a:noFill/>
        </p:spPr>
        <p:txBody>
          <a:bodyPr wrap="square">
            <a:spAutoFit/>
          </a:bodyPr>
          <a:lstStyle/>
          <a:p>
            <a:pPr marL="285750" indent="-285750" algn="l">
              <a:spcBef>
                <a:spcPts val="300"/>
              </a:spcBef>
              <a:buFont typeface="Arial" panose="020B0604020202020204" pitchFamily="34" charset="0"/>
              <a:buChar char="•"/>
            </a:pPr>
            <a:r>
              <a:rPr lang="en-US" sz="1700" dirty="0">
                <a:solidFill>
                  <a:srgbClr val="CCE5FF"/>
                </a:solidFill>
              </a:rPr>
              <a:t>FGSM is a one-step adversarial attack designed for </a:t>
            </a:r>
            <a:r>
              <a:rPr lang="en-US" sz="1700" b="1" dirty="0">
                <a:solidFill>
                  <a:srgbClr val="CCE5FF"/>
                </a:solidFill>
              </a:rPr>
              <a:t>speed</a:t>
            </a:r>
            <a:r>
              <a:rPr lang="en-US" sz="1700" dirty="0">
                <a:solidFill>
                  <a:srgbClr val="CCE5FF"/>
                </a:solidFill>
              </a:rPr>
              <a:t>. It computes the gradient of the loss function with respect to the input image just once and moves the pixels a fixed step size in the direction that increases the loss.</a:t>
            </a:r>
          </a:p>
          <a:p>
            <a:pPr marL="285750" indent="-285750">
              <a:spcBef>
                <a:spcPts val="300"/>
              </a:spcBef>
              <a:buFont typeface="Arial" panose="020B0604020202020204" pitchFamily="34" charset="0"/>
              <a:buChar char="•"/>
            </a:pPr>
            <a:r>
              <a:rPr lang="en-US" sz="1700" dirty="0">
                <a:solidFill>
                  <a:srgbClr val="CCE5FF"/>
                </a:solidFill>
              </a:rPr>
              <a:t>Hyperparameter: </a:t>
            </a:r>
          </a:p>
          <a:p>
            <a:pPr marL="742950" lvl="1" indent="-285750">
              <a:spcBef>
                <a:spcPts val="300"/>
              </a:spcBef>
              <a:buFont typeface="Arial" panose="020B0604020202020204" pitchFamily="34" charset="0"/>
              <a:buChar char="•"/>
            </a:pPr>
            <a:r>
              <a:rPr lang="en-US" sz="1700" dirty="0">
                <a:solidFill>
                  <a:srgbClr val="CCE5FF"/>
                </a:solidFill>
              </a:rPr>
              <a:t>Single step</a:t>
            </a:r>
          </a:p>
          <a:p>
            <a:pPr marL="742950" lvl="1" indent="-285750">
              <a:spcBef>
                <a:spcPts val="300"/>
              </a:spcBef>
              <a:buFont typeface="Arial" panose="020B0604020202020204" pitchFamily="34" charset="0"/>
              <a:buChar char="•"/>
            </a:pPr>
            <a:r>
              <a:rPr lang="el-GR" sz="1700" dirty="0">
                <a:solidFill>
                  <a:srgbClr val="CCE5FF"/>
                </a:solidFill>
              </a:rPr>
              <a:t>α = 0.</a:t>
            </a:r>
            <a:r>
              <a:rPr lang="en-US" sz="1700" dirty="0">
                <a:solidFill>
                  <a:srgbClr val="CCE5FF"/>
                </a:solidFill>
              </a:rPr>
              <a:t>3</a:t>
            </a:r>
          </a:p>
          <a:p>
            <a:pPr algn="l">
              <a:spcBef>
                <a:spcPts val="300"/>
              </a:spcBef>
            </a:pPr>
            <a:endParaRPr sz="1700" dirty="0">
              <a:solidFill>
                <a:srgbClr val="CCE5FF"/>
              </a:solidFill>
            </a:endParaRPr>
          </a:p>
        </p:txBody>
      </p:sp>
      <p:sp>
        <p:nvSpPr>
          <p:cNvPr id="11" name="Rectangle 10"/>
          <p:cNvSpPr/>
          <p:nvPr/>
        </p:nvSpPr>
        <p:spPr>
          <a:xfrm>
            <a:off x="4251960" y="1097280"/>
            <a:ext cx="3657600" cy="914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9120" y="1234440"/>
            <a:ext cx="3383280" cy="502920"/>
          </a:xfrm>
          <a:prstGeom prst="rect">
            <a:avLst/>
          </a:prstGeom>
          <a:noFill/>
        </p:spPr>
        <p:txBody>
          <a:bodyPr wrap="square">
            <a:spAutoFit/>
          </a:bodyPr>
          <a:lstStyle/>
          <a:p>
            <a:pPr algn="l"/>
            <a:r>
              <a:rPr sz="2200" b="1" i="0">
                <a:solidFill>
                  <a:srgbClr val="4CAF50"/>
                </a:solidFill>
              </a:rPr>
              <a:t>I-FGSM / PGD</a:t>
            </a:r>
          </a:p>
        </p:txBody>
      </p:sp>
      <p:sp>
        <p:nvSpPr>
          <p:cNvPr id="13" name="TextBox 12"/>
          <p:cNvSpPr txBox="1"/>
          <p:nvPr/>
        </p:nvSpPr>
        <p:spPr>
          <a:xfrm>
            <a:off x="4389120" y="1755648"/>
            <a:ext cx="3383280" cy="457200"/>
          </a:xfrm>
          <a:prstGeom prst="rect">
            <a:avLst/>
          </a:prstGeom>
          <a:noFill/>
        </p:spPr>
        <p:txBody>
          <a:bodyPr wrap="square">
            <a:spAutoFit/>
          </a:bodyPr>
          <a:lstStyle/>
          <a:p>
            <a:pPr algn="l"/>
            <a:r>
              <a:rPr sz="1400" b="0" i="1" dirty="0">
                <a:solidFill>
                  <a:srgbClr val="AABBCC"/>
                </a:solidFill>
              </a:rPr>
              <a:t>Iterative Projected Gradient Descent</a:t>
            </a:r>
          </a:p>
        </p:txBody>
      </p:sp>
      <p:sp>
        <p:nvSpPr>
          <p:cNvPr id="14" name="TextBox 13"/>
          <p:cNvSpPr txBox="1"/>
          <p:nvPr/>
        </p:nvSpPr>
        <p:spPr>
          <a:xfrm>
            <a:off x="4389120" y="2240280"/>
            <a:ext cx="3383280" cy="2862322"/>
          </a:xfrm>
          <a:prstGeom prst="rect">
            <a:avLst/>
          </a:prstGeom>
          <a:noFill/>
        </p:spPr>
        <p:txBody>
          <a:bodyPr wrap="square">
            <a:spAutoFit/>
          </a:bodyPr>
          <a:lstStyle/>
          <a:p>
            <a:pPr>
              <a:spcBef>
                <a:spcPts val="300"/>
              </a:spcBef>
            </a:pPr>
            <a:r>
              <a:rPr sz="1700" dirty="0">
                <a:solidFill>
                  <a:srgbClr val="CCE5FF"/>
                </a:solidFill>
              </a:rPr>
              <a:t>• </a:t>
            </a:r>
            <a:r>
              <a:rPr lang="en-US" sz="1700" dirty="0">
                <a:solidFill>
                  <a:srgbClr val="CCE5FF"/>
                </a:solidFill>
              </a:rPr>
              <a:t>I-FGSM and PGD improve upon FGSM by applying the gradient step iteratively over multiple small steps. PGD adds a random initialization step to explore a wider space.</a:t>
            </a:r>
          </a:p>
          <a:p>
            <a:pPr>
              <a:spcBef>
                <a:spcPts val="300"/>
              </a:spcBef>
            </a:pPr>
            <a:r>
              <a:rPr sz="1700" dirty="0">
                <a:solidFill>
                  <a:srgbClr val="CCE5FF"/>
                </a:solidFill>
              </a:rPr>
              <a:t>•  </a:t>
            </a:r>
            <a:r>
              <a:rPr lang="en-US" sz="1700" dirty="0">
                <a:solidFill>
                  <a:srgbClr val="CCE5FF"/>
                </a:solidFill>
              </a:rPr>
              <a:t>Hyperparameter: </a:t>
            </a:r>
          </a:p>
          <a:p>
            <a:pPr marL="742950" lvl="1" indent="-285750">
              <a:spcBef>
                <a:spcPts val="300"/>
              </a:spcBef>
              <a:buFont typeface="Arial" panose="020B0604020202020204" pitchFamily="34" charset="0"/>
              <a:buChar char="•"/>
            </a:pPr>
            <a:r>
              <a:rPr sz="1700" dirty="0">
                <a:solidFill>
                  <a:srgbClr val="CCE5FF"/>
                </a:solidFill>
              </a:rPr>
              <a:t>50 steps  </a:t>
            </a:r>
            <a:endParaRPr lang="en-US" sz="1700" dirty="0">
              <a:solidFill>
                <a:srgbClr val="CCE5FF"/>
              </a:solidFill>
            </a:endParaRPr>
          </a:p>
          <a:p>
            <a:pPr marL="742950" lvl="1" indent="-285750">
              <a:spcBef>
                <a:spcPts val="300"/>
              </a:spcBef>
              <a:buFont typeface="Arial" panose="020B0604020202020204" pitchFamily="34" charset="0"/>
              <a:buChar char="•"/>
            </a:pPr>
            <a:r>
              <a:rPr sz="1700" dirty="0">
                <a:solidFill>
                  <a:srgbClr val="CCE5FF"/>
                </a:solidFill>
              </a:rPr>
              <a:t>α = 0.01</a:t>
            </a:r>
            <a:r>
              <a:rPr lang="en-US" sz="1700" dirty="0">
                <a:solidFill>
                  <a:srgbClr val="CCE5FF"/>
                </a:solidFill>
              </a:rPr>
              <a:t> per-step perturbation size </a:t>
            </a:r>
          </a:p>
          <a:p>
            <a:pPr marL="742950" lvl="1" indent="-285750">
              <a:spcBef>
                <a:spcPts val="300"/>
              </a:spcBef>
              <a:buFont typeface="Arial" panose="020B0604020202020204" pitchFamily="34" charset="0"/>
              <a:buChar char="•"/>
            </a:pPr>
            <a:r>
              <a:rPr sz="1700" dirty="0">
                <a:solidFill>
                  <a:srgbClr val="CCE5FF"/>
                </a:solidFill>
              </a:rPr>
              <a:t>random ℓ∞ initiali</a:t>
            </a:r>
            <a:r>
              <a:rPr lang="en-US" sz="1700" dirty="0">
                <a:solidFill>
                  <a:srgbClr val="CCE5FF"/>
                </a:solidFill>
              </a:rPr>
              <a:t>za</a:t>
            </a:r>
            <a:r>
              <a:rPr sz="1700" dirty="0">
                <a:solidFill>
                  <a:srgbClr val="CCE5FF"/>
                </a:solidFill>
              </a:rPr>
              <a:t>tion</a:t>
            </a:r>
          </a:p>
        </p:txBody>
      </p:sp>
      <p:sp>
        <p:nvSpPr>
          <p:cNvPr id="16" name="Rectangle 15"/>
          <p:cNvSpPr/>
          <p:nvPr/>
        </p:nvSpPr>
        <p:spPr>
          <a:xfrm>
            <a:off x="8046720" y="1097280"/>
            <a:ext cx="3657600" cy="9144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80" y="1234440"/>
            <a:ext cx="3383280" cy="502920"/>
          </a:xfrm>
          <a:prstGeom prst="rect">
            <a:avLst/>
          </a:prstGeom>
          <a:noFill/>
        </p:spPr>
        <p:txBody>
          <a:bodyPr wrap="square">
            <a:spAutoFit/>
          </a:bodyPr>
          <a:lstStyle/>
          <a:p>
            <a:pPr algn="l"/>
            <a:r>
              <a:rPr sz="2200" b="1" i="0">
                <a:solidFill>
                  <a:srgbClr val="FF9933"/>
                </a:solidFill>
              </a:rPr>
              <a:t>MI-FGSM</a:t>
            </a:r>
          </a:p>
        </p:txBody>
      </p:sp>
      <p:sp>
        <p:nvSpPr>
          <p:cNvPr id="18" name="TextBox 17"/>
          <p:cNvSpPr txBox="1"/>
          <p:nvPr/>
        </p:nvSpPr>
        <p:spPr>
          <a:xfrm>
            <a:off x="8183880" y="1755648"/>
            <a:ext cx="3383280" cy="457200"/>
          </a:xfrm>
          <a:prstGeom prst="rect">
            <a:avLst/>
          </a:prstGeom>
          <a:noFill/>
        </p:spPr>
        <p:txBody>
          <a:bodyPr wrap="square">
            <a:spAutoFit/>
          </a:bodyPr>
          <a:lstStyle/>
          <a:p>
            <a:pPr algn="l"/>
            <a:r>
              <a:rPr sz="1400" b="0" i="1">
                <a:solidFill>
                  <a:srgbClr val="AABBCC"/>
                </a:solidFill>
              </a:rPr>
              <a:t>Momentum Iterative FGSM</a:t>
            </a:r>
          </a:p>
        </p:txBody>
      </p:sp>
      <p:sp>
        <p:nvSpPr>
          <p:cNvPr id="19" name="TextBox 18"/>
          <p:cNvSpPr txBox="1"/>
          <p:nvPr/>
        </p:nvSpPr>
        <p:spPr>
          <a:xfrm>
            <a:off x="8183880" y="2240280"/>
            <a:ext cx="3657600" cy="3385542"/>
          </a:xfrm>
          <a:prstGeom prst="rect">
            <a:avLst/>
          </a:prstGeom>
          <a:noFill/>
        </p:spPr>
        <p:txBody>
          <a:bodyPr wrap="square">
            <a:spAutoFit/>
          </a:bodyPr>
          <a:lstStyle/>
          <a:p>
            <a:pPr marL="285750" indent="-285750">
              <a:spcBef>
                <a:spcPts val="300"/>
              </a:spcBef>
              <a:buFont typeface="Arial" panose="020B0604020202020204" pitchFamily="34" charset="0"/>
              <a:buChar char="•"/>
            </a:pPr>
            <a:r>
              <a:rPr lang="en-US" sz="1700" dirty="0">
                <a:solidFill>
                  <a:srgbClr val="CCE5FF"/>
                </a:solidFill>
              </a:rPr>
              <a:t>MI-FGSM integrates a momentum term into the iterative process. This prevents the attack from getting trapped in poor local maxima or oscillating wildly in narrow valleys, making the generated adversarial examples much more effective at transferring to break other models.</a:t>
            </a:r>
          </a:p>
          <a:p>
            <a:pPr marL="285750" indent="-285750">
              <a:spcBef>
                <a:spcPts val="300"/>
              </a:spcBef>
              <a:buFont typeface="Arial" panose="020B0604020202020204" pitchFamily="34" charset="0"/>
              <a:buChar char="•"/>
            </a:pPr>
            <a:r>
              <a:rPr lang="en-US" sz="1700" dirty="0">
                <a:solidFill>
                  <a:srgbClr val="CCE5FF"/>
                </a:solidFill>
              </a:rPr>
              <a:t>Hyperparameter: </a:t>
            </a:r>
          </a:p>
          <a:p>
            <a:pPr marL="742950" lvl="1" indent="-285750">
              <a:spcBef>
                <a:spcPts val="300"/>
              </a:spcBef>
              <a:buFont typeface="Arial" panose="020B0604020202020204" pitchFamily="34" charset="0"/>
              <a:buChar char="•"/>
            </a:pPr>
            <a:r>
              <a:rPr sz="1700" dirty="0">
                <a:solidFill>
                  <a:srgbClr val="CCE5FF"/>
                </a:solidFill>
              </a:rPr>
              <a:t>50 steps</a:t>
            </a:r>
            <a:endParaRPr lang="en-US" sz="1700" dirty="0">
              <a:solidFill>
                <a:srgbClr val="CCE5FF"/>
              </a:solidFill>
            </a:endParaRPr>
          </a:p>
          <a:p>
            <a:pPr marL="742950" lvl="1" indent="-285750">
              <a:spcBef>
                <a:spcPts val="300"/>
              </a:spcBef>
              <a:buFont typeface="Arial" panose="020B0604020202020204" pitchFamily="34" charset="0"/>
              <a:buChar char="•"/>
            </a:pPr>
            <a:r>
              <a:rPr lang="el-GR" sz="1700" dirty="0">
                <a:solidFill>
                  <a:srgbClr val="CCE5FF"/>
                </a:solidFill>
              </a:rPr>
              <a:t>α = 0.01</a:t>
            </a:r>
            <a:endParaRPr lang="en-US" sz="1700" dirty="0">
              <a:solidFill>
                <a:srgbClr val="CCE5FF"/>
              </a:solidFill>
            </a:endParaRPr>
          </a:p>
          <a:p>
            <a:pPr marL="742950" lvl="1" indent="-285750">
              <a:spcBef>
                <a:spcPts val="300"/>
              </a:spcBef>
              <a:buFont typeface="Arial" panose="020B0604020202020204" pitchFamily="34" charset="0"/>
              <a:buChar char="•"/>
            </a:pPr>
            <a:r>
              <a:rPr lang="el-GR" sz="1700" dirty="0">
                <a:solidFill>
                  <a:srgbClr val="CCE5FF"/>
                </a:solidFill>
              </a:rPr>
              <a:t>μ</a:t>
            </a:r>
            <a:r>
              <a:rPr lang="en-US" sz="1700" dirty="0">
                <a:solidFill>
                  <a:srgbClr val="CCE5FF"/>
                </a:solidFill>
              </a:rPr>
              <a:t> = 1.0 momentum decay</a:t>
            </a:r>
            <a:endParaRPr sz="1700" dirty="0">
              <a:solidFill>
                <a:srgbClr val="CCE5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58891-7227-4B91-E3C3-A16AC4D436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2D06F5-E26A-0FA0-A4BA-ED4B075C3FEE}"/>
              </a:ext>
            </a:extLst>
          </p:cNvPr>
          <p:cNvSpPr txBox="1"/>
          <p:nvPr/>
        </p:nvSpPr>
        <p:spPr>
          <a:xfrm>
            <a:off x="457200" y="164592"/>
            <a:ext cx="10972800" cy="553998"/>
          </a:xfrm>
          <a:prstGeom prst="rect">
            <a:avLst/>
          </a:prstGeom>
          <a:noFill/>
        </p:spPr>
        <p:txBody>
          <a:bodyPr wrap="square">
            <a:spAutoFit/>
          </a:bodyPr>
          <a:lstStyle/>
          <a:p>
            <a:pPr algn="l"/>
            <a:r>
              <a:rPr lang="en-US" sz="3000" b="1" i="0" dirty="0">
                <a:solidFill>
                  <a:srgbClr val="00C2FF"/>
                </a:solidFill>
              </a:rPr>
              <a:t>Evaluation Metrics</a:t>
            </a:r>
            <a:endParaRPr sz="3000" b="1" i="0" dirty="0">
              <a:solidFill>
                <a:srgbClr val="00C2FF"/>
              </a:solidFill>
            </a:endParaRPr>
          </a:p>
        </p:txBody>
      </p:sp>
      <p:sp>
        <p:nvSpPr>
          <p:cNvPr id="6" name="Rectangle 5">
            <a:extLst>
              <a:ext uri="{FF2B5EF4-FFF2-40B4-BE49-F238E27FC236}">
                <a16:creationId xmlns:a16="http://schemas.microsoft.com/office/drawing/2014/main" id="{B7172A60-274B-21CC-E28D-F0BC9EB76BFF}"/>
              </a:ext>
            </a:extLst>
          </p:cNvPr>
          <p:cNvSpPr/>
          <p:nvPr/>
        </p:nvSpPr>
        <p:spPr>
          <a:xfrm>
            <a:off x="457200" y="1097280"/>
            <a:ext cx="3657600" cy="914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B0584C15-18F2-76D9-CC2E-EBB44A951816}"/>
              </a:ext>
            </a:extLst>
          </p:cNvPr>
          <p:cNvSpPr txBox="1"/>
          <p:nvPr/>
        </p:nvSpPr>
        <p:spPr>
          <a:xfrm>
            <a:off x="594360" y="1234440"/>
            <a:ext cx="3383280" cy="430887"/>
          </a:xfrm>
          <a:prstGeom prst="rect">
            <a:avLst/>
          </a:prstGeom>
          <a:noFill/>
        </p:spPr>
        <p:txBody>
          <a:bodyPr wrap="square">
            <a:spAutoFit/>
          </a:bodyPr>
          <a:lstStyle/>
          <a:p>
            <a:pPr algn="l"/>
            <a:r>
              <a:rPr lang="en-US" sz="2200" b="1" i="0" dirty="0">
                <a:solidFill>
                  <a:srgbClr val="FF4545"/>
                </a:solidFill>
              </a:rPr>
              <a:t>Recognition Rate</a:t>
            </a:r>
            <a:endParaRPr sz="2200" b="1" i="0" dirty="0">
              <a:solidFill>
                <a:srgbClr val="FF4545"/>
              </a:solidFill>
            </a:endParaRPr>
          </a:p>
        </p:txBody>
      </p:sp>
      <p:sp>
        <p:nvSpPr>
          <p:cNvPr id="9" name="TextBox 8">
            <a:extLst>
              <a:ext uri="{FF2B5EF4-FFF2-40B4-BE49-F238E27FC236}">
                <a16:creationId xmlns:a16="http://schemas.microsoft.com/office/drawing/2014/main" id="{448BE19C-37D2-BAE3-9FA6-D8ACA42CF39B}"/>
              </a:ext>
            </a:extLst>
          </p:cNvPr>
          <p:cNvSpPr txBox="1"/>
          <p:nvPr/>
        </p:nvSpPr>
        <p:spPr>
          <a:xfrm>
            <a:off x="457200" y="1685835"/>
            <a:ext cx="6596149" cy="692497"/>
          </a:xfrm>
          <a:prstGeom prst="rect">
            <a:avLst/>
          </a:prstGeom>
          <a:noFill/>
        </p:spPr>
        <p:txBody>
          <a:bodyPr wrap="square">
            <a:spAutoFit/>
          </a:bodyPr>
          <a:lstStyle/>
          <a:p>
            <a:pPr marL="285750" indent="-285750">
              <a:buFont typeface="Arial" panose="020B0604020202020204" pitchFamily="34" charset="0"/>
              <a:buChar char="•"/>
            </a:pPr>
            <a:r>
              <a:rPr lang="en-US" sz="1900" dirty="0">
                <a:solidFill>
                  <a:srgbClr val="CCE5FF"/>
                </a:solidFill>
              </a:rPr>
              <a:t>Accuracy on clean (</a:t>
            </a:r>
            <a:r>
              <a:rPr lang="en-US" sz="1900" dirty="0" err="1">
                <a:solidFill>
                  <a:srgbClr val="CCE5FF"/>
                </a:solidFill>
              </a:rPr>
              <a:t>unattacked</a:t>
            </a:r>
            <a:r>
              <a:rPr lang="en-US" sz="1900" dirty="0">
                <a:solidFill>
                  <a:srgbClr val="CCE5FF"/>
                </a:solidFill>
              </a:rPr>
              <a:t>) test images</a:t>
            </a:r>
          </a:p>
          <a:p>
            <a:pPr marL="285750" indent="-285750">
              <a:buFont typeface="Arial" panose="020B0604020202020204" pitchFamily="34" charset="0"/>
              <a:buChar char="•"/>
            </a:pPr>
            <a:r>
              <a:rPr lang="en-US" sz="1900" dirty="0">
                <a:solidFill>
                  <a:srgbClr val="CCE5FF"/>
                </a:solidFill>
              </a:rPr>
              <a:t>Tells how strong the model is normally</a:t>
            </a:r>
          </a:p>
        </p:txBody>
      </p:sp>
      <p:sp>
        <p:nvSpPr>
          <p:cNvPr id="11" name="Rectangle 10">
            <a:extLst>
              <a:ext uri="{FF2B5EF4-FFF2-40B4-BE49-F238E27FC236}">
                <a16:creationId xmlns:a16="http://schemas.microsoft.com/office/drawing/2014/main" id="{887A50B4-AE9F-98F7-2EA5-A5BF2A8723DB}"/>
              </a:ext>
            </a:extLst>
          </p:cNvPr>
          <p:cNvSpPr/>
          <p:nvPr/>
        </p:nvSpPr>
        <p:spPr>
          <a:xfrm>
            <a:off x="594360" y="3429000"/>
            <a:ext cx="3657600" cy="914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583D90D2-2D04-7763-40DA-F77BAD7A5F47}"/>
              </a:ext>
            </a:extLst>
          </p:cNvPr>
          <p:cNvSpPr txBox="1"/>
          <p:nvPr/>
        </p:nvSpPr>
        <p:spPr>
          <a:xfrm>
            <a:off x="457200" y="4133755"/>
            <a:ext cx="8674331" cy="677108"/>
          </a:xfrm>
          <a:prstGeom prst="rect">
            <a:avLst/>
          </a:prstGeom>
          <a:noFill/>
        </p:spPr>
        <p:txBody>
          <a:bodyPr wrap="square">
            <a:spAutoFit/>
          </a:bodyPr>
          <a:lstStyle/>
          <a:p>
            <a:pPr marL="285750" indent="-285750">
              <a:buFont typeface="Arial" panose="020B0604020202020204" pitchFamily="34" charset="0"/>
              <a:buChar char="•"/>
            </a:pPr>
            <a:r>
              <a:rPr lang="en-US" sz="1900" dirty="0">
                <a:solidFill>
                  <a:srgbClr val="CCE5FF"/>
                </a:solidFill>
              </a:rPr>
              <a:t>% of correctly-classified samples that are misclassified after the attack</a:t>
            </a:r>
          </a:p>
          <a:p>
            <a:pPr marL="285750" indent="-285750">
              <a:buFont typeface="Arial" panose="020B0604020202020204" pitchFamily="34" charset="0"/>
              <a:buChar char="•"/>
            </a:pPr>
            <a:r>
              <a:rPr lang="en-US" sz="1900" dirty="0">
                <a:solidFill>
                  <a:srgbClr val="CCE5FF"/>
                </a:solidFill>
              </a:rPr>
              <a:t>Tells how easily strength of  model collapses under attack </a:t>
            </a:r>
          </a:p>
        </p:txBody>
      </p:sp>
      <p:sp>
        <p:nvSpPr>
          <p:cNvPr id="2" name="TextBox 1">
            <a:extLst>
              <a:ext uri="{FF2B5EF4-FFF2-40B4-BE49-F238E27FC236}">
                <a16:creationId xmlns:a16="http://schemas.microsoft.com/office/drawing/2014/main" id="{2F54D5A6-A6C7-A375-7C70-F993AFD2305D}"/>
              </a:ext>
            </a:extLst>
          </p:cNvPr>
          <p:cNvSpPr txBox="1"/>
          <p:nvPr/>
        </p:nvSpPr>
        <p:spPr>
          <a:xfrm>
            <a:off x="731520" y="3611654"/>
            <a:ext cx="3383280" cy="430887"/>
          </a:xfrm>
          <a:prstGeom prst="rect">
            <a:avLst/>
          </a:prstGeom>
          <a:noFill/>
        </p:spPr>
        <p:txBody>
          <a:bodyPr wrap="square">
            <a:spAutoFit/>
          </a:bodyPr>
          <a:lstStyle/>
          <a:p>
            <a:pPr algn="l"/>
            <a:r>
              <a:rPr lang="en-US" sz="2200" b="1" i="0" dirty="0">
                <a:solidFill>
                  <a:srgbClr val="00B050"/>
                </a:solidFill>
              </a:rPr>
              <a:t>Attack Success Rate (ASR) </a:t>
            </a:r>
          </a:p>
        </p:txBody>
      </p:sp>
    </p:spTree>
    <p:extLst>
      <p:ext uri="{BB962C8B-B14F-4D97-AF65-F5344CB8AC3E}">
        <p14:creationId xmlns:p14="http://schemas.microsoft.com/office/powerpoint/2010/main" val="36989825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Results — RR &amp; Attack Success Rate  (ε = 0.3, n = 2,000)</a:t>
            </a:r>
          </a:p>
        </p:txBody>
      </p:sp>
      <p:sp>
        <p:nvSpPr>
          <p:cNvPr id="5" name="Rectangle 4"/>
          <p:cNvSpPr/>
          <p:nvPr/>
        </p:nvSpPr>
        <p:spPr>
          <a:xfrm>
            <a:off x="457200" y="1097280"/>
            <a:ext cx="342900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188720"/>
            <a:ext cx="3474720" cy="658368"/>
          </a:xfrm>
          <a:prstGeom prst="rect">
            <a:avLst/>
          </a:prstGeom>
          <a:noFill/>
        </p:spPr>
        <p:txBody>
          <a:bodyPr wrap="square">
            <a:spAutoFit/>
          </a:bodyPr>
          <a:lstStyle/>
          <a:p>
            <a:pPr algn="ctr"/>
            <a:r>
              <a:rPr sz="1700" b="1" i="0">
                <a:solidFill>
                  <a:srgbClr val="FFFFFF"/>
                </a:solidFill>
              </a:rPr>
              <a:t>Metric</a:t>
            </a:r>
          </a:p>
        </p:txBody>
      </p:sp>
      <p:sp>
        <p:nvSpPr>
          <p:cNvPr id="7" name="Rectangle 6"/>
          <p:cNvSpPr/>
          <p:nvPr/>
        </p:nvSpPr>
        <p:spPr>
          <a:xfrm>
            <a:off x="4023360" y="1097280"/>
            <a:ext cx="169164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23360" y="1188720"/>
            <a:ext cx="1737360" cy="658368"/>
          </a:xfrm>
          <a:prstGeom prst="rect">
            <a:avLst/>
          </a:prstGeom>
          <a:noFill/>
        </p:spPr>
        <p:txBody>
          <a:bodyPr wrap="square">
            <a:spAutoFit/>
          </a:bodyPr>
          <a:lstStyle/>
          <a:p>
            <a:pPr algn="ctr"/>
            <a:r>
              <a:rPr sz="1700" b="1" i="0">
                <a:solidFill>
                  <a:srgbClr val="FFFFFF"/>
                </a:solidFill>
              </a:rPr>
              <a:t>Value</a:t>
            </a:r>
          </a:p>
        </p:txBody>
      </p:sp>
      <p:sp>
        <p:nvSpPr>
          <p:cNvPr id="9" name="Rectangle 8"/>
          <p:cNvSpPr/>
          <p:nvPr/>
        </p:nvSpPr>
        <p:spPr>
          <a:xfrm>
            <a:off x="5852160" y="1097280"/>
            <a:ext cx="5989320" cy="658368"/>
          </a:xfrm>
          <a:prstGeom prst="rect">
            <a:avLst/>
          </a:prstGeom>
          <a:solidFill>
            <a:srgbClr val="004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52160" y="1188720"/>
            <a:ext cx="6035040" cy="658368"/>
          </a:xfrm>
          <a:prstGeom prst="rect">
            <a:avLst/>
          </a:prstGeom>
          <a:noFill/>
        </p:spPr>
        <p:txBody>
          <a:bodyPr wrap="square">
            <a:spAutoFit/>
          </a:bodyPr>
          <a:lstStyle/>
          <a:p>
            <a:pPr algn="ctr"/>
            <a:r>
              <a:rPr sz="1700" b="1" i="0">
                <a:solidFill>
                  <a:srgbClr val="FFFFFF"/>
                </a:solidFill>
              </a:rPr>
              <a:t>Interpretation</a:t>
            </a:r>
          </a:p>
        </p:txBody>
      </p:sp>
      <p:sp>
        <p:nvSpPr>
          <p:cNvPr id="11" name="Rectangle 10"/>
          <p:cNvSpPr/>
          <p:nvPr/>
        </p:nvSpPr>
        <p:spPr>
          <a:xfrm>
            <a:off x="457200" y="1792224"/>
            <a:ext cx="342900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1883664"/>
            <a:ext cx="3474720" cy="658368"/>
          </a:xfrm>
          <a:prstGeom prst="rect">
            <a:avLst/>
          </a:prstGeom>
          <a:noFill/>
        </p:spPr>
        <p:txBody>
          <a:bodyPr wrap="square">
            <a:spAutoFit/>
          </a:bodyPr>
          <a:lstStyle/>
          <a:p>
            <a:pPr algn="ctr"/>
            <a:r>
              <a:rPr sz="1600" b="0" i="0">
                <a:solidFill>
                  <a:srgbClr val="FFD700"/>
                </a:solidFill>
              </a:rPr>
              <a:t>Recognition Rate (before attacks)</a:t>
            </a:r>
          </a:p>
        </p:txBody>
      </p:sp>
      <p:sp>
        <p:nvSpPr>
          <p:cNvPr id="13" name="Rectangle 12"/>
          <p:cNvSpPr/>
          <p:nvPr/>
        </p:nvSpPr>
        <p:spPr>
          <a:xfrm>
            <a:off x="4023360" y="1792224"/>
            <a:ext cx="169164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360" y="1883664"/>
            <a:ext cx="1737360" cy="658368"/>
          </a:xfrm>
          <a:prstGeom prst="rect">
            <a:avLst/>
          </a:prstGeom>
          <a:noFill/>
        </p:spPr>
        <p:txBody>
          <a:bodyPr wrap="square">
            <a:spAutoFit/>
          </a:bodyPr>
          <a:lstStyle/>
          <a:p>
            <a:pPr algn="ctr"/>
            <a:r>
              <a:rPr sz="1600" b="1" i="0">
                <a:solidFill>
                  <a:srgbClr val="FFD700"/>
                </a:solidFill>
              </a:rPr>
              <a:t>99.1%</a:t>
            </a:r>
          </a:p>
        </p:txBody>
      </p:sp>
      <p:sp>
        <p:nvSpPr>
          <p:cNvPr id="15" name="Rectangle 14"/>
          <p:cNvSpPr/>
          <p:nvPr/>
        </p:nvSpPr>
        <p:spPr>
          <a:xfrm>
            <a:off x="5852160" y="1792224"/>
            <a:ext cx="5989320" cy="640080"/>
          </a:xfrm>
          <a:prstGeom prst="rect">
            <a:avLst/>
          </a:prstGeom>
          <a:solidFill>
            <a:srgbClr val="0F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52160" y="1883664"/>
            <a:ext cx="6035040" cy="658368"/>
          </a:xfrm>
          <a:prstGeom prst="rect">
            <a:avLst/>
          </a:prstGeom>
          <a:noFill/>
        </p:spPr>
        <p:txBody>
          <a:bodyPr wrap="square">
            <a:spAutoFit/>
          </a:bodyPr>
          <a:lstStyle/>
          <a:p>
            <a:pPr algn="ctr"/>
            <a:r>
              <a:rPr sz="1600" b="0" i="0" dirty="0">
                <a:solidFill>
                  <a:srgbClr val="FFD700"/>
                </a:solidFill>
              </a:rPr>
              <a:t>Baseline clean accuracy on 10k images</a:t>
            </a:r>
          </a:p>
        </p:txBody>
      </p:sp>
      <p:sp>
        <p:nvSpPr>
          <p:cNvPr id="17" name="Rectangle 16"/>
          <p:cNvSpPr/>
          <p:nvPr/>
        </p:nvSpPr>
        <p:spPr>
          <a:xfrm>
            <a:off x="457200" y="2450592"/>
            <a:ext cx="342900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542032"/>
            <a:ext cx="3474720" cy="658368"/>
          </a:xfrm>
          <a:prstGeom prst="rect">
            <a:avLst/>
          </a:prstGeom>
          <a:noFill/>
        </p:spPr>
        <p:txBody>
          <a:bodyPr wrap="square">
            <a:spAutoFit/>
          </a:bodyPr>
          <a:lstStyle/>
          <a:p>
            <a:pPr algn="ctr"/>
            <a:r>
              <a:rPr sz="1600" b="0" i="0">
                <a:solidFill>
                  <a:srgbClr val="FFFFFF"/>
                </a:solidFill>
              </a:rPr>
              <a:t>ASR — FGSM</a:t>
            </a:r>
          </a:p>
        </p:txBody>
      </p:sp>
      <p:sp>
        <p:nvSpPr>
          <p:cNvPr id="19" name="Rectangle 18"/>
          <p:cNvSpPr/>
          <p:nvPr/>
        </p:nvSpPr>
        <p:spPr>
          <a:xfrm>
            <a:off x="4023360" y="2450592"/>
            <a:ext cx="169164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023360" y="2542032"/>
            <a:ext cx="1737360" cy="658368"/>
          </a:xfrm>
          <a:prstGeom prst="rect">
            <a:avLst/>
          </a:prstGeom>
          <a:noFill/>
        </p:spPr>
        <p:txBody>
          <a:bodyPr wrap="square">
            <a:spAutoFit/>
          </a:bodyPr>
          <a:lstStyle/>
          <a:p>
            <a:pPr algn="ctr"/>
            <a:r>
              <a:rPr sz="1600" b="1" i="0">
                <a:solidFill>
                  <a:srgbClr val="FF4545"/>
                </a:solidFill>
              </a:rPr>
              <a:t>32.6%</a:t>
            </a:r>
          </a:p>
        </p:txBody>
      </p:sp>
      <p:sp>
        <p:nvSpPr>
          <p:cNvPr id="21" name="Rectangle 20"/>
          <p:cNvSpPr/>
          <p:nvPr/>
        </p:nvSpPr>
        <p:spPr>
          <a:xfrm>
            <a:off x="5852160" y="2450592"/>
            <a:ext cx="5989320" cy="640080"/>
          </a:xfrm>
          <a:prstGeom prst="rect">
            <a:avLst/>
          </a:prstGeom>
          <a:solidFill>
            <a:srgbClr val="1222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2542032"/>
            <a:ext cx="6035040" cy="658368"/>
          </a:xfrm>
          <a:prstGeom prst="rect">
            <a:avLst/>
          </a:prstGeom>
          <a:noFill/>
        </p:spPr>
        <p:txBody>
          <a:bodyPr wrap="square">
            <a:spAutoFit/>
          </a:bodyPr>
          <a:lstStyle/>
          <a:p>
            <a:pPr algn="ctr"/>
            <a:r>
              <a:rPr sz="1600" b="0" i="0">
                <a:solidFill>
                  <a:srgbClr val="FFFFFF"/>
                </a:solidFill>
              </a:rPr>
              <a:t>Weakest — single step, budget underused</a:t>
            </a:r>
          </a:p>
        </p:txBody>
      </p:sp>
      <p:sp>
        <p:nvSpPr>
          <p:cNvPr id="23" name="Rectangle 22"/>
          <p:cNvSpPr/>
          <p:nvPr/>
        </p:nvSpPr>
        <p:spPr>
          <a:xfrm>
            <a:off x="457200" y="3108960"/>
            <a:ext cx="342900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3200400"/>
            <a:ext cx="3474720" cy="658368"/>
          </a:xfrm>
          <a:prstGeom prst="rect">
            <a:avLst/>
          </a:prstGeom>
          <a:noFill/>
        </p:spPr>
        <p:txBody>
          <a:bodyPr wrap="square">
            <a:spAutoFit/>
          </a:bodyPr>
          <a:lstStyle/>
          <a:p>
            <a:pPr algn="ctr"/>
            <a:r>
              <a:rPr sz="1600" b="0" i="0">
                <a:solidFill>
                  <a:srgbClr val="FFFFFF"/>
                </a:solidFill>
              </a:rPr>
              <a:t>ASR — MI-FGSM</a:t>
            </a:r>
          </a:p>
        </p:txBody>
      </p:sp>
      <p:sp>
        <p:nvSpPr>
          <p:cNvPr id="25" name="Rectangle 24"/>
          <p:cNvSpPr/>
          <p:nvPr/>
        </p:nvSpPr>
        <p:spPr>
          <a:xfrm>
            <a:off x="4023360" y="3108960"/>
            <a:ext cx="169164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23360" y="3200400"/>
            <a:ext cx="1737360" cy="658368"/>
          </a:xfrm>
          <a:prstGeom prst="rect">
            <a:avLst/>
          </a:prstGeom>
          <a:noFill/>
        </p:spPr>
        <p:txBody>
          <a:bodyPr wrap="square">
            <a:spAutoFit/>
          </a:bodyPr>
          <a:lstStyle/>
          <a:p>
            <a:pPr algn="ctr"/>
            <a:r>
              <a:rPr sz="1600" b="1" i="0">
                <a:solidFill>
                  <a:srgbClr val="FF9933"/>
                </a:solidFill>
              </a:rPr>
              <a:t>61.5%</a:t>
            </a:r>
          </a:p>
        </p:txBody>
      </p:sp>
      <p:sp>
        <p:nvSpPr>
          <p:cNvPr id="27" name="Rectangle 26"/>
          <p:cNvSpPr/>
          <p:nvPr/>
        </p:nvSpPr>
        <p:spPr>
          <a:xfrm>
            <a:off x="5852160" y="3108960"/>
            <a:ext cx="5989320" cy="640080"/>
          </a:xfrm>
          <a:prstGeom prst="rect">
            <a:avLst/>
          </a:prstGeom>
          <a:solidFill>
            <a:srgbClr val="1026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852160" y="3200400"/>
            <a:ext cx="6035040" cy="338554"/>
          </a:xfrm>
          <a:prstGeom prst="rect">
            <a:avLst/>
          </a:prstGeom>
          <a:noFill/>
        </p:spPr>
        <p:txBody>
          <a:bodyPr wrap="square">
            <a:spAutoFit/>
          </a:bodyPr>
          <a:lstStyle/>
          <a:p>
            <a:pPr algn="ctr"/>
            <a:r>
              <a:rPr sz="1600" b="0" i="0" dirty="0">
                <a:solidFill>
                  <a:srgbClr val="FFFFFF"/>
                </a:solidFill>
              </a:rPr>
              <a:t>Momentum stabili</a:t>
            </a:r>
            <a:r>
              <a:rPr lang="en-US" sz="1600" b="0" i="0" dirty="0">
                <a:solidFill>
                  <a:srgbClr val="FFFFFF"/>
                </a:solidFill>
              </a:rPr>
              <a:t>z</a:t>
            </a:r>
            <a:r>
              <a:rPr sz="1600" b="0" i="0" dirty="0">
                <a:solidFill>
                  <a:srgbClr val="FFFFFF"/>
                </a:solidFill>
              </a:rPr>
              <a:t>es gradient direction</a:t>
            </a:r>
          </a:p>
        </p:txBody>
      </p:sp>
      <p:sp>
        <p:nvSpPr>
          <p:cNvPr id="29" name="Rectangle 28"/>
          <p:cNvSpPr/>
          <p:nvPr/>
        </p:nvSpPr>
        <p:spPr>
          <a:xfrm>
            <a:off x="457200" y="3767328"/>
            <a:ext cx="342900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3858768"/>
            <a:ext cx="3474720" cy="658368"/>
          </a:xfrm>
          <a:prstGeom prst="rect">
            <a:avLst/>
          </a:prstGeom>
          <a:noFill/>
        </p:spPr>
        <p:txBody>
          <a:bodyPr wrap="square">
            <a:spAutoFit/>
          </a:bodyPr>
          <a:lstStyle/>
          <a:p>
            <a:pPr algn="ctr"/>
            <a:r>
              <a:rPr sz="1600" b="1" i="0">
                <a:solidFill>
                  <a:srgbClr val="FFFFFF"/>
                </a:solidFill>
              </a:rPr>
              <a:t>ASR — I-FGSM / PGD ★</a:t>
            </a:r>
          </a:p>
        </p:txBody>
      </p:sp>
      <p:sp>
        <p:nvSpPr>
          <p:cNvPr id="31" name="Rectangle 30"/>
          <p:cNvSpPr/>
          <p:nvPr/>
        </p:nvSpPr>
        <p:spPr>
          <a:xfrm>
            <a:off x="4023360" y="3767328"/>
            <a:ext cx="169164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023360" y="3858768"/>
            <a:ext cx="1737360" cy="658368"/>
          </a:xfrm>
          <a:prstGeom prst="rect">
            <a:avLst/>
          </a:prstGeom>
          <a:noFill/>
        </p:spPr>
        <p:txBody>
          <a:bodyPr wrap="square">
            <a:spAutoFit/>
          </a:bodyPr>
          <a:lstStyle/>
          <a:p>
            <a:pPr algn="ctr"/>
            <a:r>
              <a:rPr sz="1600" b="1" i="0">
                <a:solidFill>
                  <a:srgbClr val="4CAF50"/>
                </a:solidFill>
              </a:rPr>
              <a:t>70.8%</a:t>
            </a:r>
          </a:p>
        </p:txBody>
      </p:sp>
      <p:sp>
        <p:nvSpPr>
          <p:cNvPr id="33" name="Rectangle 32"/>
          <p:cNvSpPr/>
          <p:nvPr/>
        </p:nvSpPr>
        <p:spPr>
          <a:xfrm>
            <a:off x="5852160" y="3767328"/>
            <a:ext cx="5989320" cy="640080"/>
          </a:xfrm>
          <a:prstGeom prst="rect">
            <a:avLst/>
          </a:prstGeom>
          <a:solidFill>
            <a:srgbClr val="0A2A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52160" y="3858768"/>
            <a:ext cx="6035040" cy="658368"/>
          </a:xfrm>
          <a:prstGeom prst="rect">
            <a:avLst/>
          </a:prstGeom>
          <a:noFill/>
        </p:spPr>
        <p:txBody>
          <a:bodyPr wrap="square">
            <a:spAutoFit/>
          </a:bodyPr>
          <a:lstStyle/>
          <a:p>
            <a:pPr algn="ctr"/>
            <a:r>
              <a:rPr sz="1600" b="1" i="0">
                <a:solidFill>
                  <a:srgbClr val="FFFFFF"/>
                </a:solidFill>
              </a:rPr>
              <a:t>Strongest — random start + 50 projected steps</a:t>
            </a:r>
          </a:p>
        </p:txBody>
      </p:sp>
      <p:sp>
        <p:nvSpPr>
          <p:cNvPr id="35" name="Rectangle 34"/>
          <p:cNvSpPr/>
          <p:nvPr/>
        </p:nvSpPr>
        <p:spPr>
          <a:xfrm>
            <a:off x="731520" y="5732099"/>
            <a:ext cx="2103120" cy="76014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520" y="5457779"/>
            <a:ext cx="2103120" cy="274320"/>
          </a:xfrm>
          <a:prstGeom prst="rect">
            <a:avLst/>
          </a:prstGeom>
          <a:noFill/>
        </p:spPr>
        <p:txBody>
          <a:bodyPr wrap="square">
            <a:spAutoFit/>
          </a:bodyPr>
          <a:lstStyle/>
          <a:p>
            <a:pPr algn="ctr"/>
            <a:r>
              <a:rPr sz="1500" b="1" i="0">
                <a:solidFill>
                  <a:srgbClr val="FFFFFF"/>
                </a:solidFill>
              </a:rPr>
              <a:t>32.6%</a:t>
            </a:r>
          </a:p>
        </p:txBody>
      </p:sp>
      <p:sp>
        <p:nvSpPr>
          <p:cNvPr id="37" name="TextBox 36"/>
          <p:cNvSpPr txBox="1"/>
          <p:nvPr/>
        </p:nvSpPr>
        <p:spPr>
          <a:xfrm>
            <a:off x="731520" y="6537960"/>
            <a:ext cx="2103120" cy="457200"/>
          </a:xfrm>
          <a:prstGeom prst="rect">
            <a:avLst/>
          </a:prstGeom>
          <a:noFill/>
        </p:spPr>
        <p:txBody>
          <a:bodyPr wrap="square">
            <a:spAutoFit/>
          </a:bodyPr>
          <a:lstStyle/>
          <a:p>
            <a:pPr algn="ctr"/>
            <a:r>
              <a:rPr sz="1300" b="0" i="0">
                <a:solidFill>
                  <a:srgbClr val="AABBCC"/>
                </a:solidFill>
              </a:rPr>
              <a:t>FGSM</a:t>
            </a:r>
          </a:p>
        </p:txBody>
      </p:sp>
      <p:sp>
        <p:nvSpPr>
          <p:cNvPr id="38" name="Rectangle 37"/>
          <p:cNvSpPr/>
          <p:nvPr/>
        </p:nvSpPr>
        <p:spPr>
          <a:xfrm>
            <a:off x="3520440" y="5058232"/>
            <a:ext cx="2103120" cy="1434007"/>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520440" y="4783912"/>
            <a:ext cx="2103120" cy="274320"/>
          </a:xfrm>
          <a:prstGeom prst="rect">
            <a:avLst/>
          </a:prstGeom>
          <a:noFill/>
        </p:spPr>
        <p:txBody>
          <a:bodyPr wrap="square">
            <a:spAutoFit/>
          </a:bodyPr>
          <a:lstStyle/>
          <a:p>
            <a:pPr algn="ctr"/>
            <a:r>
              <a:rPr sz="1500" b="1" i="0">
                <a:solidFill>
                  <a:srgbClr val="FFFFFF"/>
                </a:solidFill>
              </a:rPr>
              <a:t>61.5%</a:t>
            </a:r>
          </a:p>
        </p:txBody>
      </p:sp>
      <p:sp>
        <p:nvSpPr>
          <p:cNvPr id="40" name="TextBox 39"/>
          <p:cNvSpPr txBox="1"/>
          <p:nvPr/>
        </p:nvSpPr>
        <p:spPr>
          <a:xfrm>
            <a:off x="3520440" y="6537960"/>
            <a:ext cx="2103120" cy="457200"/>
          </a:xfrm>
          <a:prstGeom prst="rect">
            <a:avLst/>
          </a:prstGeom>
          <a:noFill/>
        </p:spPr>
        <p:txBody>
          <a:bodyPr wrap="square">
            <a:spAutoFit/>
          </a:bodyPr>
          <a:lstStyle/>
          <a:p>
            <a:pPr algn="ctr"/>
            <a:r>
              <a:rPr sz="1300" b="0" i="0">
                <a:solidFill>
                  <a:srgbClr val="AABBCC"/>
                </a:solidFill>
              </a:rPr>
              <a:t>MI-FGSM</a:t>
            </a:r>
          </a:p>
        </p:txBody>
      </p:sp>
      <p:sp>
        <p:nvSpPr>
          <p:cNvPr id="41" name="Rectangle 40"/>
          <p:cNvSpPr/>
          <p:nvPr/>
        </p:nvSpPr>
        <p:spPr>
          <a:xfrm>
            <a:off x="6309360" y="4841382"/>
            <a:ext cx="2103120" cy="1650857"/>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309360" y="4567062"/>
            <a:ext cx="2103120" cy="274320"/>
          </a:xfrm>
          <a:prstGeom prst="rect">
            <a:avLst/>
          </a:prstGeom>
          <a:noFill/>
        </p:spPr>
        <p:txBody>
          <a:bodyPr wrap="square">
            <a:spAutoFit/>
          </a:bodyPr>
          <a:lstStyle/>
          <a:p>
            <a:pPr algn="ctr"/>
            <a:r>
              <a:rPr sz="1500" b="1" i="0">
                <a:solidFill>
                  <a:srgbClr val="FFFFFF"/>
                </a:solidFill>
              </a:rPr>
              <a:t>70.8%</a:t>
            </a:r>
          </a:p>
        </p:txBody>
      </p:sp>
      <p:sp>
        <p:nvSpPr>
          <p:cNvPr id="43" name="TextBox 42"/>
          <p:cNvSpPr txBox="1"/>
          <p:nvPr/>
        </p:nvSpPr>
        <p:spPr>
          <a:xfrm>
            <a:off x="6309360" y="6537960"/>
            <a:ext cx="2103120" cy="292388"/>
          </a:xfrm>
          <a:prstGeom prst="rect">
            <a:avLst/>
          </a:prstGeom>
          <a:noFill/>
        </p:spPr>
        <p:txBody>
          <a:bodyPr wrap="square">
            <a:spAutoFit/>
          </a:bodyPr>
          <a:lstStyle/>
          <a:p>
            <a:pPr algn="ctr"/>
            <a:r>
              <a:rPr sz="1300" b="0" i="0" dirty="0">
                <a:solidFill>
                  <a:srgbClr val="AABBCC"/>
                </a:solidFill>
              </a:rPr>
              <a:t>I-FGSM/PGD★</a:t>
            </a:r>
          </a:p>
        </p:txBody>
      </p:sp>
      <p:sp>
        <p:nvSpPr>
          <p:cNvPr id="45" name="TextBox 44"/>
          <p:cNvSpPr txBox="1"/>
          <p:nvPr/>
        </p:nvSpPr>
        <p:spPr>
          <a:xfrm>
            <a:off x="9262745" y="4169664"/>
            <a:ext cx="2926080" cy="347472"/>
          </a:xfrm>
          <a:prstGeom prst="rect">
            <a:avLst/>
          </a:prstGeom>
          <a:noFill/>
        </p:spPr>
        <p:txBody>
          <a:bodyPr wrap="square">
            <a:spAutoFit/>
          </a:bodyPr>
          <a:lstStyle/>
          <a:p>
            <a:pPr algn="l"/>
            <a:r>
              <a:rPr sz="1300" b="0" i="1" dirty="0">
                <a:solidFill>
                  <a:srgbClr val="00C2FF"/>
                </a:solidFill>
              </a:rPr>
              <a:t>RR = 99.1% (clean baseline)</a:t>
            </a:r>
          </a:p>
        </p:txBody>
      </p:sp>
      <p:sp>
        <p:nvSpPr>
          <p:cNvPr id="47" name="TextBox 46"/>
          <p:cNvSpPr txBox="1"/>
          <p:nvPr/>
        </p:nvSpPr>
        <p:spPr>
          <a:xfrm>
            <a:off x="8846820" y="5141523"/>
            <a:ext cx="3291840" cy="861774"/>
          </a:xfrm>
          <a:prstGeom prst="rect">
            <a:avLst/>
          </a:prstGeom>
          <a:noFill/>
        </p:spPr>
        <p:txBody>
          <a:bodyPr wrap="square">
            <a:spAutoFit/>
          </a:bodyPr>
          <a:lstStyle/>
          <a:p>
            <a:pPr algn="l">
              <a:spcBef>
                <a:spcPts val="300"/>
              </a:spcBef>
            </a:pPr>
            <a:r>
              <a:rPr sz="1500" dirty="0">
                <a:solidFill>
                  <a:srgbClr val="CCE5FF"/>
                </a:solidFill>
              </a:rPr>
              <a:t>•  FGSM: 32.</a:t>
            </a:r>
            <a:r>
              <a:rPr lang="en-US" sz="1500" dirty="0">
                <a:solidFill>
                  <a:srgbClr val="CCE5FF"/>
                </a:solidFill>
              </a:rPr>
              <a:t>6</a:t>
            </a:r>
            <a:r>
              <a:rPr sz="1500" dirty="0">
                <a:solidFill>
                  <a:srgbClr val="CCE5FF"/>
                </a:solidFill>
              </a:rPr>
              <a:t>%  (weakest)</a:t>
            </a:r>
          </a:p>
          <a:p>
            <a:pPr algn="l">
              <a:spcBef>
                <a:spcPts val="300"/>
              </a:spcBef>
            </a:pPr>
            <a:r>
              <a:rPr sz="1500" dirty="0">
                <a:solidFill>
                  <a:srgbClr val="CCE5FF"/>
                </a:solidFill>
              </a:rPr>
              <a:t>•  MI-FGSM: 61.5%  (second)</a:t>
            </a:r>
          </a:p>
          <a:p>
            <a:pPr algn="l">
              <a:spcBef>
                <a:spcPts val="300"/>
              </a:spcBef>
            </a:pPr>
            <a:r>
              <a:rPr sz="1500" dirty="0">
                <a:solidFill>
                  <a:srgbClr val="CCE5FF"/>
                </a:solidFill>
              </a:rPr>
              <a:t>•  I-FGSM/PGD: 70.8%  (strongest)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Key Takeaways</a:t>
            </a:r>
          </a:p>
        </p:txBody>
      </p:sp>
      <p:sp>
        <p:nvSpPr>
          <p:cNvPr id="6" name="Rectangle 5"/>
          <p:cNvSpPr/>
          <p:nvPr/>
        </p:nvSpPr>
        <p:spPr>
          <a:xfrm>
            <a:off x="457200" y="1097280"/>
            <a:ext cx="118872" cy="1188720"/>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161288"/>
            <a:ext cx="10698480" cy="438912"/>
          </a:xfrm>
          <a:prstGeom prst="rect">
            <a:avLst/>
          </a:prstGeom>
          <a:noFill/>
        </p:spPr>
        <p:txBody>
          <a:bodyPr wrap="square">
            <a:spAutoFit/>
          </a:bodyPr>
          <a:lstStyle/>
          <a:p>
            <a:pPr algn="l"/>
            <a:r>
              <a:rPr sz="2000" b="1" i="0">
                <a:solidFill>
                  <a:srgbClr val="FF4545"/>
                </a:solidFill>
              </a:rPr>
              <a:t>Accuracy ≠ Robustness</a:t>
            </a:r>
          </a:p>
        </p:txBody>
      </p:sp>
      <p:sp>
        <p:nvSpPr>
          <p:cNvPr id="8" name="TextBox 7"/>
          <p:cNvSpPr txBox="1"/>
          <p:nvPr/>
        </p:nvSpPr>
        <p:spPr>
          <a:xfrm>
            <a:off x="704088" y="1600200"/>
            <a:ext cx="10698480" cy="338554"/>
          </a:xfrm>
          <a:prstGeom prst="rect">
            <a:avLst/>
          </a:prstGeom>
          <a:noFill/>
        </p:spPr>
        <p:txBody>
          <a:bodyPr wrap="square">
            <a:spAutoFit/>
          </a:bodyPr>
          <a:lstStyle/>
          <a:p>
            <a:pPr algn="l"/>
            <a:r>
              <a:rPr sz="1600" b="0" i="0" dirty="0">
                <a:solidFill>
                  <a:srgbClr val="CCE5FF"/>
                </a:solidFill>
              </a:rPr>
              <a:t>CNN achieves 99.1% clean accuracy, </a:t>
            </a:r>
            <a:r>
              <a:rPr lang="en-US" sz="1600" b="0" i="0" dirty="0">
                <a:solidFill>
                  <a:srgbClr val="CCE5FF"/>
                </a:solidFill>
              </a:rPr>
              <a:t>but even</a:t>
            </a:r>
            <a:r>
              <a:rPr sz="1600" b="0" i="0" dirty="0">
                <a:solidFill>
                  <a:srgbClr val="CCE5FF"/>
                </a:solidFill>
              </a:rPr>
              <a:t> FGSM alone fools it 32.6% of the time with perturbations invisible to humans.</a:t>
            </a:r>
          </a:p>
        </p:txBody>
      </p:sp>
      <p:sp>
        <p:nvSpPr>
          <p:cNvPr id="10" name="Rectangle 9"/>
          <p:cNvSpPr/>
          <p:nvPr/>
        </p:nvSpPr>
        <p:spPr>
          <a:xfrm>
            <a:off x="457200" y="2414016"/>
            <a:ext cx="118872" cy="11887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478024"/>
            <a:ext cx="10698480" cy="438912"/>
          </a:xfrm>
          <a:prstGeom prst="rect">
            <a:avLst/>
          </a:prstGeom>
          <a:noFill/>
        </p:spPr>
        <p:txBody>
          <a:bodyPr wrap="square">
            <a:spAutoFit/>
          </a:bodyPr>
          <a:lstStyle/>
          <a:p>
            <a:pPr algn="l"/>
            <a:r>
              <a:rPr sz="2000" b="1" i="0" dirty="0">
                <a:solidFill>
                  <a:srgbClr val="4CAF50"/>
                </a:solidFill>
              </a:rPr>
              <a:t>Iterative attacks are far stronger than single-step</a:t>
            </a:r>
          </a:p>
        </p:txBody>
      </p:sp>
      <p:sp>
        <p:nvSpPr>
          <p:cNvPr id="12" name="TextBox 11"/>
          <p:cNvSpPr txBox="1"/>
          <p:nvPr/>
        </p:nvSpPr>
        <p:spPr>
          <a:xfrm>
            <a:off x="704088" y="2916936"/>
            <a:ext cx="10698480" cy="338554"/>
          </a:xfrm>
          <a:prstGeom prst="rect">
            <a:avLst/>
          </a:prstGeom>
          <a:noFill/>
        </p:spPr>
        <p:txBody>
          <a:bodyPr wrap="square">
            <a:spAutoFit/>
          </a:bodyPr>
          <a:lstStyle/>
          <a:p>
            <a:pPr algn="l"/>
            <a:r>
              <a:rPr sz="1600" b="0" i="0" dirty="0">
                <a:solidFill>
                  <a:srgbClr val="CCE5FF"/>
                </a:solidFill>
              </a:rPr>
              <a:t>FGSM (32.6%) vs I-FGSM/PGD (70.8%). Fifty small projected steps fully exploit the </a:t>
            </a:r>
            <a:r>
              <a:rPr sz="1600" b="0" i="0" dirty="0" err="1">
                <a:solidFill>
                  <a:srgbClr val="CCE5FF"/>
                </a:solidFill>
              </a:rPr>
              <a:t>ε</a:t>
            </a:r>
            <a:r>
              <a:rPr sz="1600" b="0" i="0" dirty="0">
                <a:solidFill>
                  <a:srgbClr val="CCE5FF"/>
                </a:solidFill>
              </a:rPr>
              <a:t> = 0.3.</a:t>
            </a:r>
          </a:p>
        </p:txBody>
      </p:sp>
      <p:sp>
        <p:nvSpPr>
          <p:cNvPr id="14" name="Rectangle 13"/>
          <p:cNvSpPr/>
          <p:nvPr/>
        </p:nvSpPr>
        <p:spPr>
          <a:xfrm>
            <a:off x="457200" y="3730752"/>
            <a:ext cx="118872" cy="118872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4088" y="3794760"/>
            <a:ext cx="10698480" cy="438912"/>
          </a:xfrm>
          <a:prstGeom prst="rect">
            <a:avLst/>
          </a:prstGeom>
          <a:noFill/>
        </p:spPr>
        <p:txBody>
          <a:bodyPr wrap="square">
            <a:spAutoFit/>
          </a:bodyPr>
          <a:lstStyle/>
          <a:p>
            <a:pPr algn="l"/>
            <a:r>
              <a:rPr sz="2000" b="1" i="0">
                <a:solidFill>
                  <a:srgbClr val="FF9933"/>
                </a:solidFill>
              </a:rPr>
              <a:t>Random initialisation is the decisive factor here</a:t>
            </a:r>
          </a:p>
        </p:txBody>
      </p:sp>
      <p:sp>
        <p:nvSpPr>
          <p:cNvPr id="16" name="TextBox 15"/>
          <p:cNvSpPr txBox="1"/>
          <p:nvPr/>
        </p:nvSpPr>
        <p:spPr>
          <a:xfrm>
            <a:off x="704088" y="4233672"/>
            <a:ext cx="10698480" cy="338554"/>
          </a:xfrm>
          <a:prstGeom prst="rect">
            <a:avLst/>
          </a:prstGeom>
          <a:noFill/>
        </p:spPr>
        <p:txBody>
          <a:bodyPr wrap="square">
            <a:spAutoFit/>
          </a:bodyPr>
          <a:lstStyle/>
          <a:p>
            <a:pPr algn="l"/>
            <a:r>
              <a:rPr sz="1600" b="0" i="0" dirty="0">
                <a:solidFill>
                  <a:srgbClr val="CCE5FF"/>
                </a:solidFill>
              </a:rPr>
              <a:t>PGD (70.8%) &gt; MI-FGSM (61.5%). Random start explores a wider area than momentum alone.</a:t>
            </a:r>
          </a:p>
        </p:txBody>
      </p:sp>
      <p:sp>
        <p:nvSpPr>
          <p:cNvPr id="18" name="Rectangle 17"/>
          <p:cNvSpPr/>
          <p:nvPr/>
        </p:nvSpPr>
        <p:spPr>
          <a:xfrm>
            <a:off x="457200" y="5047488"/>
            <a:ext cx="118872" cy="1188720"/>
          </a:xfrm>
          <a:prstGeom prst="rect">
            <a:avLst/>
          </a:prstGeom>
          <a:solidFill>
            <a:srgbClr val="00C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4088" y="5111496"/>
            <a:ext cx="10698480" cy="438912"/>
          </a:xfrm>
          <a:prstGeom prst="rect">
            <a:avLst/>
          </a:prstGeom>
          <a:noFill/>
        </p:spPr>
        <p:txBody>
          <a:bodyPr wrap="square">
            <a:spAutoFit/>
          </a:bodyPr>
          <a:lstStyle/>
          <a:p>
            <a:pPr algn="l"/>
            <a:r>
              <a:rPr sz="2000" b="1" i="0">
                <a:solidFill>
                  <a:srgbClr val="00C2FF"/>
                </a:solidFill>
              </a:rPr>
              <a:t>Defence is necessary</a:t>
            </a:r>
          </a:p>
        </p:txBody>
      </p:sp>
      <p:sp>
        <p:nvSpPr>
          <p:cNvPr id="20" name="TextBox 19"/>
          <p:cNvSpPr txBox="1"/>
          <p:nvPr/>
        </p:nvSpPr>
        <p:spPr>
          <a:xfrm>
            <a:off x="704088" y="5550408"/>
            <a:ext cx="10698480" cy="621792"/>
          </a:xfrm>
          <a:prstGeom prst="rect">
            <a:avLst/>
          </a:prstGeom>
          <a:noFill/>
        </p:spPr>
        <p:txBody>
          <a:bodyPr wrap="square">
            <a:spAutoFit/>
          </a:bodyPr>
          <a:lstStyle/>
          <a:p>
            <a:pPr algn="l"/>
            <a:r>
              <a:rPr sz="1600" b="0" i="0">
                <a:solidFill>
                  <a:srgbClr val="CCE5FF"/>
                </a:solidFill>
              </a:rPr>
              <a:t>High clean accuracy cannot be trusted. Adversarial training, input purification, or certified defences are needed to close the robustness gap.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What Are Adversarial Examples?</a:t>
            </a:r>
          </a:p>
        </p:txBody>
      </p:sp>
      <p:sp>
        <p:nvSpPr>
          <p:cNvPr id="6" name="TextBox 5"/>
          <p:cNvSpPr txBox="1"/>
          <p:nvPr/>
        </p:nvSpPr>
        <p:spPr>
          <a:xfrm>
            <a:off x="640080" y="1234440"/>
            <a:ext cx="4937760" cy="4114800"/>
          </a:xfrm>
          <a:prstGeom prst="rect">
            <a:avLst/>
          </a:prstGeom>
          <a:noFill/>
        </p:spPr>
        <p:txBody>
          <a:bodyPr wrap="square">
            <a:spAutoFit/>
          </a:bodyPr>
          <a:lstStyle/>
          <a:p>
            <a:pPr algn="l"/>
            <a:r>
              <a:rPr sz="2100" b="1" dirty="0">
                <a:solidFill>
                  <a:srgbClr val="00C2FF"/>
                </a:solidFill>
              </a:rPr>
              <a:t>The Concept</a:t>
            </a:r>
          </a:p>
          <a:p>
            <a:pPr algn="l">
              <a:spcBef>
                <a:spcPts val="300"/>
              </a:spcBef>
            </a:pPr>
            <a:r>
              <a:rPr sz="1900" dirty="0">
                <a:solidFill>
                  <a:srgbClr val="CCE5FF"/>
                </a:solidFill>
              </a:rPr>
              <a:t>•  A normal image + tiny, invisible perturbation</a:t>
            </a:r>
          </a:p>
          <a:p>
            <a:pPr algn="l">
              <a:spcBef>
                <a:spcPts val="300"/>
              </a:spcBef>
            </a:pPr>
            <a:r>
              <a:rPr sz="1900" dirty="0">
                <a:solidFill>
                  <a:srgbClr val="CCE5FF"/>
                </a:solidFill>
              </a:rPr>
              <a:t>•  Perturbation crafted using the model's own gradients</a:t>
            </a:r>
          </a:p>
          <a:p>
            <a:pPr algn="l">
              <a:spcBef>
                <a:spcPts val="300"/>
              </a:spcBef>
            </a:pPr>
            <a:r>
              <a:rPr sz="1900" dirty="0">
                <a:solidFill>
                  <a:srgbClr val="CCE5FF"/>
                </a:solidFill>
              </a:rPr>
              <a:t>•  Causes the model to misclassify with high confidence</a:t>
            </a:r>
          </a:p>
          <a:p>
            <a:pPr algn="l">
              <a:spcBef>
                <a:spcPts val="300"/>
              </a:spcBef>
            </a:pPr>
            <a:r>
              <a:rPr sz="1900" dirty="0">
                <a:solidFill>
                  <a:srgbClr val="CCE5FF"/>
                </a:solidFill>
              </a:rPr>
              <a:t>•  Perturbation is imperceptible to humans</a:t>
            </a:r>
          </a:p>
          <a:p>
            <a:pPr algn="l">
              <a:spcBef>
                <a:spcPts val="300"/>
              </a:spcBef>
            </a:pPr>
            <a:r>
              <a:rPr sz="1900" dirty="0">
                <a:solidFill>
                  <a:srgbClr val="CCE5FF"/>
                </a:solidFill>
              </a:rPr>
              <a:t>•  Exposes the gap between accuracy and robustness</a:t>
            </a:r>
          </a:p>
        </p:txBody>
      </p:sp>
      <p:sp>
        <p:nvSpPr>
          <p:cNvPr id="8" name="TextBox 7"/>
          <p:cNvSpPr txBox="1"/>
          <p:nvPr/>
        </p:nvSpPr>
        <p:spPr>
          <a:xfrm>
            <a:off x="6400800" y="1261872"/>
            <a:ext cx="5029200" cy="457200"/>
          </a:xfrm>
          <a:prstGeom prst="rect">
            <a:avLst/>
          </a:prstGeom>
          <a:noFill/>
        </p:spPr>
        <p:txBody>
          <a:bodyPr wrap="square">
            <a:spAutoFit/>
          </a:bodyPr>
          <a:lstStyle/>
          <a:p>
            <a:pPr algn="l"/>
            <a:r>
              <a:rPr sz="1800" b="1" i="0">
                <a:solidFill>
                  <a:srgbClr val="00C2FF"/>
                </a:solidFill>
              </a:rPr>
              <a:t>How it works</a:t>
            </a:r>
          </a:p>
        </p:txBody>
      </p:sp>
      <p:sp>
        <p:nvSpPr>
          <p:cNvPr id="9" name="Rectangle 8"/>
          <p:cNvSpPr/>
          <p:nvPr/>
        </p:nvSpPr>
        <p:spPr>
          <a:xfrm>
            <a:off x="6400800" y="1783080"/>
            <a:ext cx="45720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874520"/>
            <a:ext cx="457200" cy="457200"/>
          </a:xfrm>
          <a:prstGeom prst="rect">
            <a:avLst/>
          </a:prstGeom>
          <a:noFill/>
        </p:spPr>
        <p:txBody>
          <a:bodyPr wrap="square">
            <a:spAutoFit/>
          </a:bodyPr>
          <a:lstStyle/>
          <a:p>
            <a:pPr algn="ctr"/>
            <a:r>
              <a:rPr sz="1800" b="1" i="0">
                <a:solidFill>
                  <a:srgbClr val="0D1B2A"/>
                </a:solidFill>
              </a:rPr>
              <a:t>1</a:t>
            </a:r>
          </a:p>
        </p:txBody>
      </p:sp>
      <p:sp>
        <p:nvSpPr>
          <p:cNvPr id="11" name="TextBox 10"/>
          <p:cNvSpPr txBox="1"/>
          <p:nvPr/>
        </p:nvSpPr>
        <p:spPr>
          <a:xfrm>
            <a:off x="6995160" y="1874520"/>
            <a:ext cx="4389120" cy="502920"/>
          </a:xfrm>
          <a:prstGeom prst="rect">
            <a:avLst/>
          </a:prstGeom>
          <a:noFill/>
        </p:spPr>
        <p:txBody>
          <a:bodyPr wrap="square">
            <a:spAutoFit/>
          </a:bodyPr>
          <a:lstStyle/>
          <a:p>
            <a:pPr algn="l"/>
            <a:r>
              <a:rPr sz="1800" b="0" i="0">
                <a:solidFill>
                  <a:srgbClr val="FFFFFF"/>
                </a:solidFill>
              </a:rPr>
              <a:t>Input image  x</a:t>
            </a:r>
          </a:p>
        </p:txBody>
      </p:sp>
      <p:sp>
        <p:nvSpPr>
          <p:cNvPr id="12" name="Rectangle 11"/>
          <p:cNvSpPr/>
          <p:nvPr/>
        </p:nvSpPr>
        <p:spPr>
          <a:xfrm>
            <a:off x="6400800" y="2560320"/>
            <a:ext cx="457200" cy="621792"/>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651760"/>
            <a:ext cx="457200" cy="457200"/>
          </a:xfrm>
          <a:prstGeom prst="rect">
            <a:avLst/>
          </a:prstGeom>
          <a:noFill/>
        </p:spPr>
        <p:txBody>
          <a:bodyPr wrap="square">
            <a:spAutoFit/>
          </a:bodyPr>
          <a:lstStyle/>
          <a:p>
            <a:pPr algn="ctr"/>
            <a:r>
              <a:rPr sz="1800" b="1" i="0">
                <a:solidFill>
                  <a:srgbClr val="0D1B2A"/>
                </a:solidFill>
              </a:rPr>
              <a:t>+</a:t>
            </a:r>
          </a:p>
        </p:txBody>
      </p:sp>
      <p:sp>
        <p:nvSpPr>
          <p:cNvPr id="14" name="TextBox 13"/>
          <p:cNvSpPr txBox="1"/>
          <p:nvPr/>
        </p:nvSpPr>
        <p:spPr>
          <a:xfrm>
            <a:off x="6995160" y="2651760"/>
            <a:ext cx="4389120" cy="502920"/>
          </a:xfrm>
          <a:prstGeom prst="rect">
            <a:avLst/>
          </a:prstGeom>
          <a:noFill/>
        </p:spPr>
        <p:txBody>
          <a:bodyPr wrap="square">
            <a:spAutoFit/>
          </a:bodyPr>
          <a:lstStyle/>
          <a:p>
            <a:pPr algn="l"/>
            <a:r>
              <a:rPr sz="1800" b="0" i="0">
                <a:solidFill>
                  <a:srgbClr val="FFFFFF"/>
                </a:solidFill>
              </a:rPr>
              <a:t>Compute  ∇ₓ L(f(x), y)</a:t>
            </a:r>
          </a:p>
        </p:txBody>
      </p:sp>
      <p:sp>
        <p:nvSpPr>
          <p:cNvPr id="15" name="Rectangle 14"/>
          <p:cNvSpPr/>
          <p:nvPr/>
        </p:nvSpPr>
        <p:spPr>
          <a:xfrm>
            <a:off x="6400800" y="3337560"/>
            <a:ext cx="457200" cy="621792"/>
          </a:xfrm>
          <a:prstGeom prst="rect">
            <a:avLst/>
          </a:prstGeom>
          <a:solidFill>
            <a:srgbClr val="FF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3429000"/>
            <a:ext cx="457200" cy="457200"/>
          </a:xfrm>
          <a:prstGeom prst="rect">
            <a:avLst/>
          </a:prstGeom>
          <a:noFill/>
        </p:spPr>
        <p:txBody>
          <a:bodyPr wrap="square">
            <a:spAutoFit/>
          </a:bodyPr>
          <a:lstStyle/>
          <a:p>
            <a:pPr algn="ctr"/>
            <a:r>
              <a:rPr sz="1800" b="1" i="0">
                <a:solidFill>
                  <a:srgbClr val="0D1B2A"/>
                </a:solidFill>
              </a:rPr>
              <a:t>+</a:t>
            </a:r>
          </a:p>
        </p:txBody>
      </p:sp>
      <p:sp>
        <p:nvSpPr>
          <p:cNvPr id="17" name="TextBox 16"/>
          <p:cNvSpPr txBox="1"/>
          <p:nvPr/>
        </p:nvSpPr>
        <p:spPr>
          <a:xfrm>
            <a:off x="6995160" y="3429000"/>
            <a:ext cx="4389120" cy="502920"/>
          </a:xfrm>
          <a:prstGeom prst="rect">
            <a:avLst/>
          </a:prstGeom>
          <a:noFill/>
        </p:spPr>
        <p:txBody>
          <a:bodyPr wrap="square">
            <a:spAutoFit/>
          </a:bodyPr>
          <a:lstStyle/>
          <a:p>
            <a:pPr algn="l"/>
            <a:r>
              <a:rPr sz="1800" b="0" i="0">
                <a:solidFill>
                  <a:srgbClr val="FFFFFF"/>
                </a:solidFill>
              </a:rPr>
              <a:t>Scale by  ε · sign(∇ₓ L)</a:t>
            </a:r>
          </a:p>
        </p:txBody>
      </p:sp>
      <p:sp>
        <p:nvSpPr>
          <p:cNvPr id="18" name="Rectangle 17"/>
          <p:cNvSpPr/>
          <p:nvPr/>
        </p:nvSpPr>
        <p:spPr>
          <a:xfrm>
            <a:off x="6400800" y="4114800"/>
            <a:ext cx="457200" cy="621792"/>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0" y="4206240"/>
            <a:ext cx="457200" cy="457200"/>
          </a:xfrm>
          <a:prstGeom prst="rect">
            <a:avLst/>
          </a:prstGeom>
          <a:noFill/>
        </p:spPr>
        <p:txBody>
          <a:bodyPr wrap="square">
            <a:spAutoFit/>
          </a:bodyPr>
          <a:lstStyle/>
          <a:p>
            <a:pPr algn="ctr"/>
            <a:r>
              <a:rPr sz="1800" b="1" i="0">
                <a:solidFill>
                  <a:srgbClr val="0D1B2A"/>
                </a:solidFill>
              </a:rPr>
              <a:t>=</a:t>
            </a:r>
          </a:p>
        </p:txBody>
      </p:sp>
      <p:sp>
        <p:nvSpPr>
          <p:cNvPr id="20" name="TextBox 19"/>
          <p:cNvSpPr txBox="1"/>
          <p:nvPr/>
        </p:nvSpPr>
        <p:spPr>
          <a:xfrm>
            <a:off x="6995160" y="4206240"/>
            <a:ext cx="4389120" cy="502920"/>
          </a:xfrm>
          <a:prstGeom prst="rect">
            <a:avLst/>
          </a:prstGeom>
          <a:noFill/>
        </p:spPr>
        <p:txBody>
          <a:bodyPr wrap="square">
            <a:spAutoFit/>
          </a:bodyPr>
          <a:lstStyle/>
          <a:p>
            <a:pPr algn="l"/>
            <a:r>
              <a:rPr sz="1800" b="0" i="0">
                <a:solidFill>
                  <a:srgbClr val="FFFFFF"/>
                </a:solidFill>
              </a:rPr>
              <a:t>Adversarial image  x_adv</a:t>
            </a:r>
          </a:p>
        </p:txBody>
      </p:sp>
      <p:sp>
        <p:nvSpPr>
          <p:cNvPr id="21" name="Rectangle 20"/>
          <p:cNvSpPr/>
          <p:nvPr/>
        </p:nvSpPr>
        <p:spPr>
          <a:xfrm>
            <a:off x="6400800" y="4892040"/>
            <a:ext cx="457200" cy="62179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983480"/>
            <a:ext cx="457200" cy="457200"/>
          </a:xfrm>
          <a:prstGeom prst="rect">
            <a:avLst/>
          </a:prstGeom>
          <a:noFill/>
        </p:spPr>
        <p:txBody>
          <a:bodyPr wrap="square">
            <a:spAutoFit/>
          </a:bodyPr>
          <a:lstStyle/>
          <a:p>
            <a:pPr algn="ctr"/>
            <a:r>
              <a:rPr sz="1800" b="1" i="0">
                <a:solidFill>
                  <a:srgbClr val="0D1B2A"/>
                </a:solidFill>
              </a:rPr>
              <a:t>→</a:t>
            </a:r>
          </a:p>
        </p:txBody>
      </p:sp>
      <p:sp>
        <p:nvSpPr>
          <p:cNvPr id="23" name="TextBox 22"/>
          <p:cNvSpPr txBox="1"/>
          <p:nvPr/>
        </p:nvSpPr>
        <p:spPr>
          <a:xfrm>
            <a:off x="6995160" y="4983480"/>
            <a:ext cx="4389120" cy="502920"/>
          </a:xfrm>
          <a:prstGeom prst="rect">
            <a:avLst/>
          </a:prstGeom>
          <a:noFill/>
        </p:spPr>
        <p:txBody>
          <a:bodyPr wrap="square">
            <a:spAutoFit/>
          </a:bodyPr>
          <a:lstStyle/>
          <a:p>
            <a:pPr algn="l"/>
            <a:r>
              <a:rPr sz="1800" b="0" i="0">
                <a:solidFill>
                  <a:srgbClr val="FFFFFF"/>
                </a:solidFill>
              </a:rPr>
              <a:t>CNN predicts wrong label!</a:t>
            </a:r>
          </a:p>
        </p:txBody>
      </p:sp>
      <p:sp>
        <p:nvSpPr>
          <p:cNvPr id="24" name="TextBox 23"/>
          <p:cNvSpPr txBox="1"/>
          <p:nvPr/>
        </p:nvSpPr>
        <p:spPr>
          <a:xfrm>
            <a:off x="6400800" y="5760720"/>
            <a:ext cx="5029200" cy="365760"/>
          </a:xfrm>
          <a:prstGeom prst="rect">
            <a:avLst/>
          </a:prstGeom>
          <a:noFill/>
        </p:spPr>
        <p:txBody>
          <a:bodyPr wrap="square">
            <a:spAutoFit/>
          </a:bodyPr>
          <a:lstStyle/>
          <a:p>
            <a:pPr algn="l"/>
            <a:r>
              <a:rPr sz="1400" b="0" i="1">
                <a:solidFill>
                  <a:srgbClr val="AABBCC"/>
                </a:solidFill>
              </a:rPr>
              <a:t>ε = 0.3 in this assignment (ℓ∞ norm budget)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457200" y="164592"/>
            <a:ext cx="10972800" cy="685800"/>
          </a:xfrm>
          <a:prstGeom prst="rect">
            <a:avLst/>
          </a:prstGeom>
          <a:noFill/>
        </p:spPr>
        <p:txBody>
          <a:bodyPr wrap="square">
            <a:spAutoFit/>
          </a:bodyPr>
          <a:lstStyle/>
          <a:p>
            <a:pPr algn="l"/>
            <a:r>
              <a:rPr sz="3000" b="1" i="0">
                <a:solidFill>
                  <a:srgbClr val="00C2FF"/>
                </a:solidFill>
              </a:rPr>
              <a:t>Attack Mechanics — Key Formulas</a:t>
            </a:r>
          </a:p>
        </p:txBody>
      </p:sp>
      <p:sp>
        <p:nvSpPr>
          <p:cNvPr id="6" name="TextBox 5"/>
          <p:cNvSpPr txBox="1"/>
          <p:nvPr/>
        </p:nvSpPr>
        <p:spPr>
          <a:xfrm>
            <a:off x="594360" y="1170432"/>
            <a:ext cx="3383280" cy="502920"/>
          </a:xfrm>
          <a:prstGeom prst="rect">
            <a:avLst/>
          </a:prstGeom>
          <a:noFill/>
        </p:spPr>
        <p:txBody>
          <a:bodyPr wrap="square">
            <a:spAutoFit/>
          </a:bodyPr>
          <a:lstStyle/>
          <a:p>
            <a:pPr algn="l"/>
            <a:r>
              <a:rPr sz="2200" b="1" i="0">
                <a:solidFill>
                  <a:srgbClr val="FF4545"/>
                </a:solidFill>
              </a:rPr>
              <a:t>FGSM</a:t>
            </a:r>
          </a:p>
        </p:txBody>
      </p:sp>
      <p:sp>
        <p:nvSpPr>
          <p:cNvPr id="7" name="TextBox 6"/>
          <p:cNvSpPr txBox="1"/>
          <p:nvPr/>
        </p:nvSpPr>
        <p:spPr>
          <a:xfrm>
            <a:off x="594360" y="1783080"/>
            <a:ext cx="3383280" cy="713232"/>
          </a:xfrm>
          <a:prstGeom prst="rect">
            <a:avLst/>
          </a:prstGeom>
          <a:noFill/>
        </p:spPr>
        <p:txBody>
          <a:bodyPr wrap="square">
            <a:spAutoFit/>
          </a:bodyPr>
          <a:lstStyle/>
          <a:p>
            <a:pPr algn="l"/>
            <a:r>
              <a:rPr sz="1600" b="1" i="0">
                <a:solidFill>
                  <a:srgbClr val="FFFFFF"/>
                </a:solidFill>
              </a:rPr>
              <a:t>x_adv = x + ε · sign( ∇ₓ L )</a:t>
            </a:r>
          </a:p>
        </p:txBody>
      </p:sp>
      <p:sp>
        <p:nvSpPr>
          <p:cNvPr id="8" name="TextBox 7"/>
          <p:cNvSpPr txBox="1"/>
          <p:nvPr/>
        </p:nvSpPr>
        <p:spPr>
          <a:xfrm>
            <a:off x="594360" y="2532888"/>
            <a:ext cx="3383280" cy="713232"/>
          </a:xfrm>
          <a:prstGeom prst="rect">
            <a:avLst/>
          </a:prstGeom>
          <a:noFill/>
        </p:spPr>
        <p:txBody>
          <a:bodyPr wrap="square">
            <a:spAutoFit/>
          </a:bodyPr>
          <a:lstStyle/>
          <a:p>
            <a:pPr algn="l"/>
            <a:r>
              <a:rPr sz="1600" b="1" i="0">
                <a:solidFill>
                  <a:srgbClr val="FFFFFF"/>
                </a:solidFill>
              </a:rPr>
              <a:t>ASR = 32.6%</a:t>
            </a:r>
          </a:p>
        </p:txBody>
      </p:sp>
      <p:sp>
        <p:nvSpPr>
          <p:cNvPr id="9" name="TextBox 8"/>
          <p:cNvSpPr txBox="1"/>
          <p:nvPr/>
        </p:nvSpPr>
        <p:spPr>
          <a:xfrm>
            <a:off x="594360" y="3282696"/>
            <a:ext cx="3383280" cy="713232"/>
          </a:xfrm>
          <a:prstGeom prst="rect">
            <a:avLst/>
          </a:prstGeom>
          <a:noFill/>
        </p:spPr>
        <p:txBody>
          <a:bodyPr wrap="square">
            <a:spAutoFit/>
          </a:bodyPr>
          <a:lstStyle/>
          <a:p>
            <a:pPr algn="l"/>
            <a:r>
              <a:rPr sz="1600" b="0" i="0">
                <a:solidFill>
                  <a:srgbClr val="CCE5FF"/>
                </a:solidFill>
              </a:rPr>
              <a:t>One gradient computation</a:t>
            </a:r>
          </a:p>
        </p:txBody>
      </p:sp>
      <p:sp>
        <p:nvSpPr>
          <p:cNvPr id="10" name="TextBox 9"/>
          <p:cNvSpPr txBox="1"/>
          <p:nvPr/>
        </p:nvSpPr>
        <p:spPr>
          <a:xfrm>
            <a:off x="594360" y="4032504"/>
            <a:ext cx="3383280" cy="713232"/>
          </a:xfrm>
          <a:prstGeom prst="rect">
            <a:avLst/>
          </a:prstGeom>
          <a:noFill/>
        </p:spPr>
        <p:txBody>
          <a:bodyPr wrap="square">
            <a:spAutoFit/>
          </a:bodyPr>
          <a:lstStyle/>
          <a:p>
            <a:pPr algn="l"/>
            <a:r>
              <a:rPr sz="1600" b="0" i="0">
                <a:solidFill>
                  <a:srgbClr val="CCE5FF"/>
                </a:solidFill>
              </a:rPr>
              <a:t>Step size = ε (full budget at once)</a:t>
            </a:r>
          </a:p>
        </p:txBody>
      </p:sp>
      <p:sp>
        <p:nvSpPr>
          <p:cNvPr id="11" name="TextBox 10"/>
          <p:cNvSpPr txBox="1"/>
          <p:nvPr/>
        </p:nvSpPr>
        <p:spPr>
          <a:xfrm>
            <a:off x="594360" y="4782312"/>
            <a:ext cx="3383280" cy="713232"/>
          </a:xfrm>
          <a:prstGeom prst="rect">
            <a:avLst/>
          </a:prstGeom>
          <a:noFill/>
        </p:spPr>
        <p:txBody>
          <a:bodyPr wrap="square">
            <a:spAutoFit/>
          </a:bodyPr>
          <a:lstStyle/>
          <a:p>
            <a:pPr algn="l"/>
            <a:r>
              <a:rPr sz="1600" b="0" i="0">
                <a:solidFill>
                  <a:srgbClr val="CCE5FF"/>
                </a:solidFill>
              </a:rPr>
              <a:t>Fast but weakest — budget underused</a:t>
            </a:r>
          </a:p>
        </p:txBody>
      </p:sp>
      <p:sp>
        <p:nvSpPr>
          <p:cNvPr id="13" name="TextBox 12"/>
          <p:cNvSpPr txBox="1"/>
          <p:nvPr/>
        </p:nvSpPr>
        <p:spPr>
          <a:xfrm>
            <a:off x="4389120" y="1170432"/>
            <a:ext cx="3383280" cy="502920"/>
          </a:xfrm>
          <a:prstGeom prst="rect">
            <a:avLst/>
          </a:prstGeom>
          <a:noFill/>
        </p:spPr>
        <p:txBody>
          <a:bodyPr wrap="square">
            <a:spAutoFit/>
          </a:bodyPr>
          <a:lstStyle/>
          <a:p>
            <a:pPr algn="l"/>
            <a:r>
              <a:rPr sz="2200" b="1" i="0">
                <a:solidFill>
                  <a:srgbClr val="4CAF50"/>
                </a:solidFill>
              </a:rPr>
              <a:t>I-FGSM / PGD</a:t>
            </a:r>
          </a:p>
        </p:txBody>
      </p:sp>
      <p:sp>
        <p:nvSpPr>
          <p:cNvPr id="14" name="TextBox 13"/>
          <p:cNvSpPr txBox="1"/>
          <p:nvPr/>
        </p:nvSpPr>
        <p:spPr>
          <a:xfrm>
            <a:off x="4389120" y="1783080"/>
            <a:ext cx="3383280" cy="713232"/>
          </a:xfrm>
          <a:prstGeom prst="rect">
            <a:avLst/>
          </a:prstGeom>
          <a:noFill/>
        </p:spPr>
        <p:txBody>
          <a:bodyPr wrap="square">
            <a:spAutoFit/>
          </a:bodyPr>
          <a:lstStyle/>
          <a:p>
            <a:pPr algn="l"/>
            <a:r>
              <a:rPr sz="1600" b="1" i="0">
                <a:solidFill>
                  <a:srgbClr val="FFFFFF"/>
                </a:solidFill>
              </a:rPr>
              <a:t>x⁰ ~ Uniform(x−ε, x+ε)   [random start]</a:t>
            </a:r>
          </a:p>
        </p:txBody>
      </p:sp>
      <p:sp>
        <p:nvSpPr>
          <p:cNvPr id="15" name="TextBox 14"/>
          <p:cNvSpPr txBox="1"/>
          <p:nvPr/>
        </p:nvSpPr>
        <p:spPr>
          <a:xfrm>
            <a:off x="4389120" y="2532888"/>
            <a:ext cx="3383280" cy="713232"/>
          </a:xfrm>
          <a:prstGeom prst="rect">
            <a:avLst/>
          </a:prstGeom>
          <a:noFill/>
        </p:spPr>
        <p:txBody>
          <a:bodyPr wrap="square">
            <a:spAutoFit/>
          </a:bodyPr>
          <a:lstStyle/>
          <a:p>
            <a:pPr algn="l"/>
            <a:r>
              <a:rPr sz="1600" b="1" i="0">
                <a:solidFill>
                  <a:srgbClr val="FFFFFF"/>
                </a:solidFill>
              </a:rPr>
              <a:t>xᵗ⁺¹ = Projₓ±ε( xᵗ + α·sign(∇ₓL) )</a:t>
            </a:r>
          </a:p>
        </p:txBody>
      </p:sp>
      <p:sp>
        <p:nvSpPr>
          <p:cNvPr id="16" name="TextBox 15"/>
          <p:cNvSpPr txBox="1"/>
          <p:nvPr/>
        </p:nvSpPr>
        <p:spPr>
          <a:xfrm>
            <a:off x="4389120" y="3282696"/>
            <a:ext cx="3383280" cy="713232"/>
          </a:xfrm>
          <a:prstGeom prst="rect">
            <a:avLst/>
          </a:prstGeom>
          <a:noFill/>
        </p:spPr>
        <p:txBody>
          <a:bodyPr wrap="square">
            <a:spAutoFit/>
          </a:bodyPr>
          <a:lstStyle/>
          <a:p>
            <a:pPr algn="l"/>
            <a:r>
              <a:rPr sz="1600" b="0" i="0">
                <a:solidFill>
                  <a:srgbClr val="CCE5FF"/>
                </a:solidFill>
              </a:rPr>
              <a:t>ASR = 70.8%  ← Strongest ★</a:t>
            </a:r>
          </a:p>
        </p:txBody>
      </p:sp>
      <p:sp>
        <p:nvSpPr>
          <p:cNvPr id="17" name="TextBox 16"/>
          <p:cNvSpPr txBox="1"/>
          <p:nvPr/>
        </p:nvSpPr>
        <p:spPr>
          <a:xfrm>
            <a:off x="4389120" y="4032504"/>
            <a:ext cx="3383280" cy="713232"/>
          </a:xfrm>
          <a:prstGeom prst="rect">
            <a:avLst/>
          </a:prstGeom>
          <a:noFill/>
        </p:spPr>
        <p:txBody>
          <a:bodyPr wrap="square">
            <a:spAutoFit/>
          </a:bodyPr>
          <a:lstStyle/>
          <a:p>
            <a:pPr algn="l"/>
            <a:r>
              <a:rPr sz="1600" b="0" i="0">
                <a:solidFill>
                  <a:srgbClr val="CCE5FF"/>
                </a:solidFill>
              </a:rPr>
              <a:t>50 iterations,  α = 0.01</a:t>
            </a:r>
          </a:p>
        </p:txBody>
      </p:sp>
      <p:sp>
        <p:nvSpPr>
          <p:cNvPr id="18" name="TextBox 17"/>
          <p:cNvSpPr txBox="1"/>
          <p:nvPr/>
        </p:nvSpPr>
        <p:spPr>
          <a:xfrm>
            <a:off x="4389120" y="4782312"/>
            <a:ext cx="3383280" cy="713232"/>
          </a:xfrm>
          <a:prstGeom prst="rect">
            <a:avLst/>
          </a:prstGeom>
          <a:noFill/>
        </p:spPr>
        <p:txBody>
          <a:bodyPr wrap="square">
            <a:spAutoFit/>
          </a:bodyPr>
          <a:lstStyle/>
          <a:p>
            <a:pPr algn="l"/>
            <a:r>
              <a:rPr sz="1600" b="0" i="0">
                <a:solidFill>
                  <a:srgbClr val="CCE5FF"/>
                </a:solidFill>
              </a:rPr>
              <a:t>Projection keeps each step valid</a:t>
            </a:r>
          </a:p>
        </p:txBody>
      </p:sp>
      <p:sp>
        <p:nvSpPr>
          <p:cNvPr id="20" name="TextBox 19"/>
          <p:cNvSpPr txBox="1"/>
          <p:nvPr/>
        </p:nvSpPr>
        <p:spPr>
          <a:xfrm>
            <a:off x="8183880" y="1170432"/>
            <a:ext cx="3383280" cy="502920"/>
          </a:xfrm>
          <a:prstGeom prst="rect">
            <a:avLst/>
          </a:prstGeom>
          <a:noFill/>
        </p:spPr>
        <p:txBody>
          <a:bodyPr wrap="square">
            <a:spAutoFit/>
          </a:bodyPr>
          <a:lstStyle/>
          <a:p>
            <a:pPr algn="l"/>
            <a:r>
              <a:rPr sz="2200" b="1" i="0">
                <a:solidFill>
                  <a:srgbClr val="FF9933"/>
                </a:solidFill>
              </a:rPr>
              <a:t>MI-FGSM</a:t>
            </a:r>
          </a:p>
        </p:txBody>
      </p:sp>
      <p:sp>
        <p:nvSpPr>
          <p:cNvPr id="21" name="TextBox 20"/>
          <p:cNvSpPr txBox="1"/>
          <p:nvPr/>
        </p:nvSpPr>
        <p:spPr>
          <a:xfrm>
            <a:off x="8183880" y="1783080"/>
            <a:ext cx="3383280" cy="713232"/>
          </a:xfrm>
          <a:prstGeom prst="rect">
            <a:avLst/>
          </a:prstGeom>
          <a:noFill/>
        </p:spPr>
        <p:txBody>
          <a:bodyPr wrap="square">
            <a:spAutoFit/>
          </a:bodyPr>
          <a:lstStyle/>
          <a:p>
            <a:pPr algn="l"/>
            <a:r>
              <a:rPr sz="1600" b="1" i="0">
                <a:solidFill>
                  <a:srgbClr val="FFFFFF"/>
                </a:solidFill>
              </a:rPr>
              <a:t>gᵗ⁺¹ = μ·gᵗ + ∇ₓL / ‖∇ₓL‖₁</a:t>
            </a:r>
          </a:p>
        </p:txBody>
      </p:sp>
      <p:sp>
        <p:nvSpPr>
          <p:cNvPr id="22" name="TextBox 21"/>
          <p:cNvSpPr txBox="1"/>
          <p:nvPr/>
        </p:nvSpPr>
        <p:spPr>
          <a:xfrm>
            <a:off x="8183880" y="2532888"/>
            <a:ext cx="3383280" cy="713232"/>
          </a:xfrm>
          <a:prstGeom prst="rect">
            <a:avLst/>
          </a:prstGeom>
          <a:noFill/>
        </p:spPr>
        <p:txBody>
          <a:bodyPr wrap="square">
            <a:spAutoFit/>
          </a:bodyPr>
          <a:lstStyle/>
          <a:p>
            <a:pPr algn="l"/>
            <a:r>
              <a:rPr sz="1600" b="1" i="0">
                <a:solidFill>
                  <a:srgbClr val="FFFFFF"/>
                </a:solidFill>
              </a:rPr>
              <a:t>xᵗ⁺¹ = Projₓ±ε( xᵗ + α·sign(gᵗ⁺¹) )</a:t>
            </a:r>
          </a:p>
        </p:txBody>
      </p:sp>
      <p:sp>
        <p:nvSpPr>
          <p:cNvPr id="23" name="TextBox 22"/>
          <p:cNvSpPr txBox="1"/>
          <p:nvPr/>
        </p:nvSpPr>
        <p:spPr>
          <a:xfrm>
            <a:off x="8183880" y="3282696"/>
            <a:ext cx="3383280" cy="713232"/>
          </a:xfrm>
          <a:prstGeom prst="rect">
            <a:avLst/>
          </a:prstGeom>
          <a:noFill/>
        </p:spPr>
        <p:txBody>
          <a:bodyPr wrap="square">
            <a:spAutoFit/>
          </a:bodyPr>
          <a:lstStyle/>
          <a:p>
            <a:pPr algn="l"/>
            <a:r>
              <a:rPr sz="1600" b="0" i="0">
                <a:solidFill>
                  <a:srgbClr val="CCE5FF"/>
                </a:solidFill>
              </a:rPr>
              <a:t>ASR = 61.5%  — second</a:t>
            </a:r>
          </a:p>
        </p:txBody>
      </p:sp>
      <p:sp>
        <p:nvSpPr>
          <p:cNvPr id="24" name="TextBox 23"/>
          <p:cNvSpPr txBox="1"/>
          <p:nvPr/>
        </p:nvSpPr>
        <p:spPr>
          <a:xfrm>
            <a:off x="8183880" y="4032504"/>
            <a:ext cx="3383280" cy="713232"/>
          </a:xfrm>
          <a:prstGeom prst="rect">
            <a:avLst/>
          </a:prstGeom>
          <a:noFill/>
        </p:spPr>
        <p:txBody>
          <a:bodyPr wrap="square">
            <a:spAutoFit/>
          </a:bodyPr>
          <a:lstStyle/>
          <a:p>
            <a:pPr algn="l"/>
            <a:r>
              <a:rPr sz="1600" b="0" i="0">
                <a:solidFill>
                  <a:srgbClr val="CCE5FF"/>
                </a:solidFill>
              </a:rPr>
              <a:t>μ = 1.0  (full momentum carry)</a:t>
            </a:r>
          </a:p>
        </p:txBody>
      </p:sp>
      <p:sp>
        <p:nvSpPr>
          <p:cNvPr id="25" name="TextBox 24"/>
          <p:cNvSpPr txBox="1"/>
          <p:nvPr/>
        </p:nvSpPr>
        <p:spPr>
          <a:xfrm>
            <a:off x="8183880" y="4782312"/>
            <a:ext cx="3383280" cy="713232"/>
          </a:xfrm>
          <a:prstGeom prst="rect">
            <a:avLst/>
          </a:prstGeom>
          <a:noFill/>
        </p:spPr>
        <p:txBody>
          <a:bodyPr wrap="square">
            <a:spAutoFit/>
          </a:bodyPr>
          <a:lstStyle/>
          <a:p>
            <a:pPr algn="l"/>
            <a:r>
              <a:rPr sz="1600" b="0" i="0">
                <a:solidFill>
                  <a:srgbClr val="CCE5FF"/>
                </a:solidFill>
              </a:rPr>
              <a:t>Smoother direction, more transferable</a:t>
            </a:r>
          </a:p>
        </p:txBody>
      </p:sp>
    </p:spTree>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7.jpeg"/></Relationships>
</file>

<file path=ppt/theme/theme1.xml><?xml version="1.0" encoding="utf-8"?>
<a:theme xmlns:a="http://schemas.openxmlformats.org/drawingml/2006/main" name="ABC IT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IT Theme" id="{68813CA9-BD29-B34D-B09E-2DE15544D98F}" vid="{BE4E2A01-59AE-2C4D-B034-7BE723C593A5}"/>
    </a:ext>
  </a:extLst>
</a:theme>
</file>

<file path=ppt/theme/theme2.xml><?xml version="1.0" encoding="utf-8"?>
<a:theme xmlns:a="http://schemas.openxmlformats.org/drawingml/2006/main" name="Title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IT Slides - Master Template (1)" id="{565A1239-C856-FD4A-BD42-27E3A4B3E057}" vid="{E8778F80-16FE-C140-AF93-77F4E2DDBF27}"/>
    </a:ext>
  </a:extLst>
</a:theme>
</file>

<file path=ppt/theme/theme3.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ABC IT Theme</Template>
  <TotalTime>674</TotalTime>
  <Words>923</Words>
  <Application>Microsoft Macintosh PowerPoint</Application>
  <PresentationFormat>Custom</PresentationFormat>
  <Paragraphs>128</Paragraphs>
  <Slides>8</Slides>
  <Notes>2</Notes>
  <HiddenSlides>2</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8</vt:i4>
      </vt:variant>
    </vt:vector>
  </HeadingPairs>
  <TitlesOfParts>
    <vt:vector size="16" baseType="lpstr">
      <vt:lpstr>Aptos</vt:lpstr>
      <vt:lpstr>Arial</vt:lpstr>
      <vt:lpstr>Calibri</vt:lpstr>
      <vt:lpstr>Calibri Light</vt:lpstr>
      <vt:lpstr>Wingdings</vt:lpstr>
      <vt:lpstr>ABC IT Theme</vt:lpstr>
      <vt:lpstr>Title Slide</vt:lpstr>
      <vt:lpstr>Celestial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Ziru Xu</cp:lastModifiedBy>
  <cp:revision>7</cp:revision>
  <dcterms:created xsi:type="dcterms:W3CDTF">2013-01-27T09:14:16Z</dcterms:created>
  <dcterms:modified xsi:type="dcterms:W3CDTF">2026-05-30T18:48:09Z</dcterms:modified>
  <cp:category/>
</cp:coreProperties>
</file>
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78" r:id="rId2"/>
    <p:sldMasterId id="2147483707" r:id="rId3"/>
  </p:sldMasterIdLst>
  <p:sldIdLst>
    <p:sldId id="256" r:id="rId4"/>
    <p:sldId id="258" r:id="rId5"/>
    <p:sldId id="263" r:id="rId6"/>
    <p:sldId id="259" r:id="rId7"/>
    <p:sldId id="261" r:id="rId8"/>
    <p:sldId id="262" r:id="rId9"/>
    <p:sldId id="257" r:id="rId10"/>
    <p:sldId id="260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66"/>
  </p:normalViewPr>
  <p:slideViewPr>
    <p:cSldViewPr snapToGrid="0" snapToObjects="1">
      <p:cViewPr varScale="1">
        <p:scale>
          <a:sx n="93" d="100"/>
          <a:sy n="93" d="100"/>
        </p:scale>
        <p:origin x="240" y="6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T Generic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8BFEF-7BC2-F4A8-777B-982A119941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203200"/>
            <a:ext cx="7533901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133F49-F944-AAE0-F7A1-007F18F8ACE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082" y="1227138"/>
            <a:ext cx="11342377" cy="5054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slide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131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izable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0304A662-1C6F-58E7-327E-0BD1668AB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800A64-842E-B75F-EB60-D962B578FF6A}"/>
              </a:ext>
            </a:extLst>
          </p:cNvPr>
          <p:cNvSpPr txBox="1"/>
          <p:nvPr/>
        </p:nvSpPr>
        <p:spPr>
          <a:xfrm>
            <a:off x="5916658" y="6412469"/>
            <a:ext cx="558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10DED2-F0BD-48AD-B262-DCA3F2B5B873}" type="slidenum">
              <a:rPr lang="en-US" sz="1200" smtClean="0">
                <a:latin typeface="+mj-lt"/>
              </a:rPr>
              <a:t>‹#›</a:t>
            </a:fld>
            <a:endParaRPr lang="en-US" sz="1799"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4B0CE8-B6EC-C64A-67F1-3D4BF3E5A2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1727" y="6356096"/>
            <a:ext cx="742017" cy="352425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500"/>
            </a:lvl1pPr>
            <a:lvl2pPr>
              <a:defRPr sz="400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bg1">
                    <a:lumMod val="75000"/>
                  </a:schemeClr>
                </a:solidFill>
              </a:defRPr>
            </a:lvl3pPr>
          </a:lstStyle>
          <a:p>
            <a:pPr lvl="2"/>
            <a:r>
              <a:rPr lang="en-US" sz="800"/>
              <a:t>Team </a:t>
            </a:r>
          </a:p>
          <a:p>
            <a:pPr lvl="2"/>
            <a:r>
              <a:rPr lang="en-US" sz="800"/>
              <a:t>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12847C0-3671-B70C-028A-4A1F5A476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203200"/>
            <a:ext cx="7533901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5CB0BB7-761F-E4BD-1C94-D98669D6AA2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082" y="1227138"/>
            <a:ext cx="11342377" cy="5054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slide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4327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5C91F3-D7D6-3174-3F53-E5BE57744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0AA308-647D-367A-1567-1D3317473B21}"/>
              </a:ext>
            </a:extLst>
          </p:cNvPr>
          <p:cNvSpPr txBox="1"/>
          <p:nvPr/>
        </p:nvSpPr>
        <p:spPr>
          <a:xfrm>
            <a:off x="5916658" y="6412469"/>
            <a:ext cx="558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10DED2-F0BD-48AD-B262-DCA3F2B5B873}" type="slidenum">
              <a:rPr lang="en-US" sz="1200" smtClean="0">
                <a:latin typeface="+mj-lt"/>
              </a:rPr>
              <a:t>‹#›</a:t>
            </a:fld>
            <a:endParaRPr lang="en-US" sz="1799">
              <a:latin typeface="+mj-lt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61A110-8524-62B2-125D-1056F4A2E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203200"/>
            <a:ext cx="7533901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714FA7D-8413-9197-10B1-6B8E52C3562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082" y="1227138"/>
            <a:ext cx="11342377" cy="5054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slide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102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nnovations Solutions Service 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B5891F51-2B94-7C3C-984B-E817DFE70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6EA4AE-91EE-E57C-5A10-DE6B1999FC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081" y="203200"/>
            <a:ext cx="7533901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97BE07-B28A-9DFB-0B88-0754B6185AC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082" y="1227138"/>
            <a:ext cx="11342377" cy="5054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slide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3161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3CD64-E2B3-E132-80C7-A45DF9A5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617BE-C0CA-68DA-6A44-CB67A466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8F73B-DE01-7A93-8070-E5E38A59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E880C540-3141-71C5-5B32-5723F980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49713DB-4A8F-F0A8-3E69-4C27F067E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1384" y="3429001"/>
            <a:ext cx="7368844" cy="773113"/>
          </a:xfrm>
          <a:prstGeom prst="rect">
            <a:avLst/>
          </a:prstGeom>
        </p:spPr>
        <p:txBody>
          <a:bodyPr anchor="ctr"/>
          <a:lstStyle>
            <a:lvl1pPr>
              <a:defRPr sz="4399">
                <a:latin typeface="+mj-lt"/>
              </a:defRPr>
            </a:lvl1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6FC7BEA-BCAA-E653-010B-D8DD4DF0D7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1385" y="4202114"/>
            <a:ext cx="9849459" cy="773113"/>
          </a:xfrm>
          <a:prstGeom prst="rect">
            <a:avLst/>
          </a:prstGeom>
        </p:spPr>
        <p:txBody>
          <a:bodyPr anchor="ctr"/>
          <a:lstStyle>
            <a:lvl1pPr>
              <a:defRPr sz="2399">
                <a:latin typeface="+mj-lt"/>
              </a:defRPr>
            </a:lvl1pPr>
          </a:lstStyle>
          <a:p>
            <a:pPr lvl="0"/>
            <a:r>
              <a:rPr lang="en-US"/>
              <a:t>Click to edit location, date or presenter</a:t>
            </a:r>
          </a:p>
        </p:txBody>
      </p:sp>
    </p:spTree>
    <p:extLst>
      <p:ext uri="{BB962C8B-B14F-4D97-AF65-F5344CB8AC3E}">
        <p14:creationId xmlns:p14="http://schemas.microsoft.com/office/powerpoint/2010/main" val="225195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EF103-5D35-14B9-8758-EF135D90D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1384" y="3429001"/>
            <a:ext cx="7368844" cy="773113"/>
          </a:xfrm>
          <a:prstGeom prst="rect">
            <a:avLst/>
          </a:prstGeom>
        </p:spPr>
        <p:txBody>
          <a:bodyPr anchor="ctr"/>
          <a:lstStyle>
            <a:lvl1pPr>
              <a:defRPr sz="4399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0636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- No Tex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84A1C44-ADEC-EF94-2F07-0FA81146B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64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4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1367" y="1964267"/>
            <a:ext cx="7195852" cy="2421464"/>
          </a:xfrm>
        </p:spPr>
        <p:txBody>
          <a:bodyPr anchor="b">
            <a:normAutofit/>
          </a:bodyPr>
          <a:lstStyle>
            <a:lvl1pPr algn="r">
              <a:defRPr sz="479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1367" y="4385733"/>
            <a:ext cx="7195852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799" cap="all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0232" y="5870576"/>
            <a:ext cx="1599783" cy="3778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1367" y="5870576"/>
            <a:ext cx="4892684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6196" y="5870576"/>
            <a:ext cx="551023" cy="3778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94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22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3308581"/>
            <a:ext cx="10128789" cy="1468800"/>
          </a:xfrm>
        </p:spPr>
        <p:txBody>
          <a:bodyPr anchor="b"/>
          <a:lstStyle>
            <a:lvl1pPr algn="l">
              <a:defRPr sz="39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7381"/>
            <a:ext cx="101287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 cap="all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574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623" y="2142067"/>
            <a:ext cx="4994033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0379" y="2142068"/>
            <a:ext cx="4994031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93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416" y="2218267"/>
            <a:ext cx="4707828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623" y="2870201"/>
            <a:ext cx="4995622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6" y="2226734"/>
            <a:ext cx="4721583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1967" y="2870201"/>
            <a:ext cx="499403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17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250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51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2074333"/>
            <a:ext cx="3679926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6991" y="609601"/>
            <a:ext cx="6167419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3445933"/>
            <a:ext cx="3679926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07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1600200"/>
            <a:ext cx="6163048" cy="13716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4290" y="914400"/>
            <a:ext cx="328012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2971800"/>
            <a:ext cx="6163048" cy="1828800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242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4732865"/>
            <a:ext cx="1012878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243" y="932112"/>
            <a:ext cx="8757546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5299603"/>
            <a:ext cx="10128789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54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9" cy="3124199"/>
          </a:xfrm>
        </p:spPr>
        <p:txBody>
          <a:bodyPr anchor="ctr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51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589" y="3352800"/>
            <a:ext cx="933675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287" y="4343400"/>
            <a:ext cx="1014972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602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4" y="3308581"/>
            <a:ext cx="10128787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2" y="4777381"/>
            <a:ext cx="1012878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99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1" y="3886200"/>
            <a:ext cx="10132797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5200"/>
            <a:ext cx="10132797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761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2"/>
            <a:ext cx="1012878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2" y="3505200"/>
            <a:ext cx="1012879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687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2663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6420" y="609600"/>
            <a:ext cx="2157990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2" y="609600"/>
            <a:ext cx="783007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7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A5539033-C0C6-7E30-2E5F-43B91D382B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60A96D-A065-7A9B-9FAA-1F11416E6DF0}"/>
              </a:ext>
            </a:extLst>
          </p:cNvPr>
          <p:cNvSpPr txBox="1"/>
          <p:nvPr/>
        </p:nvSpPr>
        <p:spPr>
          <a:xfrm>
            <a:off x="5916658" y="6412469"/>
            <a:ext cx="558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10DED2-F0BD-48AD-B262-DCA3F2B5B873}" type="slidenum">
              <a:rPr lang="en-US" sz="1200" smtClean="0">
                <a:latin typeface="+mj-lt"/>
              </a:rPr>
              <a:t>‹#›</a:t>
            </a:fld>
            <a:endParaRPr lang="en-US" sz="1799">
              <a:latin typeface="+mj-lt"/>
            </a:endParaRP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FB40A20C-A2ED-28D6-C3D5-B3661E81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28" y="255058"/>
            <a:ext cx="6399133" cy="4222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916DF7-1270-AE7D-6F2B-2CDF3BF44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327" y="1139825"/>
            <a:ext cx="113508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380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999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799" kern="1200">
          <a:solidFill>
            <a:schemeClr val="tx1"/>
          </a:solidFill>
          <a:latin typeface="+mj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j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999" kern="1200">
          <a:solidFill>
            <a:schemeClr val="tx1"/>
          </a:solidFill>
          <a:latin typeface="+mj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j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799" kern="1200">
          <a:solidFill>
            <a:schemeClr val="tx1"/>
          </a:solidFill>
          <a:latin typeface="+mj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C2A4AC3-A212-B0FE-10D6-B30B996AC1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9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90000"/>
        </a:lnSpc>
        <a:spcBef>
          <a:spcPts val="1000"/>
        </a:spcBef>
        <a:buFontTx/>
        <a:buNone/>
        <a:defRPr sz="2799" kern="1200">
          <a:solidFill>
            <a:schemeClr val="bg1"/>
          </a:solidFill>
          <a:latin typeface="+mn-lt"/>
          <a:ea typeface="+mn-ea"/>
          <a:cs typeface="+mn-cs"/>
        </a:defRPr>
      </a:lvl1pPr>
      <a:lvl2pPr marL="457063" indent="0" algn="l" defTabSz="914126" rtl="0" eaLnBrk="1" latinLnBrk="0" hangingPunct="1">
        <a:lnSpc>
          <a:spcPct val="90000"/>
        </a:lnSpc>
        <a:spcBef>
          <a:spcPts val="500"/>
        </a:spcBef>
        <a:buFontTx/>
        <a:buNone/>
        <a:defRPr sz="2399" kern="1200">
          <a:solidFill>
            <a:schemeClr val="bg1"/>
          </a:solidFill>
          <a:latin typeface="+mn-lt"/>
          <a:ea typeface="+mn-ea"/>
          <a:cs typeface="+mn-cs"/>
        </a:defRPr>
      </a:lvl2pPr>
      <a:lvl3pPr marL="914126" indent="0" algn="l" defTabSz="914126" rtl="0" eaLnBrk="1" latinLnBrk="0" hangingPunct="1">
        <a:lnSpc>
          <a:spcPct val="90000"/>
        </a:lnSpc>
        <a:spcBef>
          <a:spcPts val="500"/>
        </a:spcBef>
        <a:buFontTx/>
        <a:buNone/>
        <a:defRPr sz="1999" kern="1200">
          <a:solidFill>
            <a:schemeClr val="bg1"/>
          </a:solidFill>
          <a:latin typeface="+mn-lt"/>
          <a:ea typeface="+mn-ea"/>
          <a:cs typeface="+mn-cs"/>
        </a:defRPr>
      </a:lvl3pPr>
      <a:lvl4pPr marL="1371189" indent="0" algn="l" defTabSz="914126" rtl="0" eaLnBrk="1" latinLnBrk="0" hangingPunct="1">
        <a:lnSpc>
          <a:spcPct val="90000"/>
        </a:lnSpc>
        <a:spcBef>
          <a:spcPts val="500"/>
        </a:spcBef>
        <a:buFontTx/>
        <a:buNone/>
        <a:defRPr sz="1799" kern="1200">
          <a:solidFill>
            <a:schemeClr val="bg1"/>
          </a:solidFill>
          <a:latin typeface="+mn-lt"/>
          <a:ea typeface="+mn-ea"/>
          <a:cs typeface="+mn-cs"/>
        </a:defRPr>
      </a:lvl4pPr>
      <a:lvl5pPr marL="1828251" indent="0" algn="l" defTabSz="914126" rtl="0" eaLnBrk="1" latinLnBrk="0" hangingPunct="1">
        <a:lnSpc>
          <a:spcPct val="90000"/>
        </a:lnSpc>
        <a:spcBef>
          <a:spcPts val="500"/>
        </a:spcBef>
        <a:buFontTx/>
        <a:buNone/>
        <a:defRPr sz="1799" kern="1200">
          <a:solidFill>
            <a:schemeClr val="bg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3" y="2142068"/>
            <a:ext cx="10128787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7423" y="5870576"/>
            <a:ext cx="159978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622" y="5870576"/>
            <a:ext cx="782562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3387" y="5870576"/>
            <a:ext cx="55102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122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FFFFFF"/>
                </a:solidFill>
              </a:rPr>
              <a:t>Adversarial Attacks on MNIST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458145-5110-B6DB-930B-A40BED17E159}"/>
              </a:ext>
            </a:extLst>
          </p:cNvPr>
          <p:cNvSpPr txBox="1"/>
          <p:nvPr/>
        </p:nvSpPr>
        <p:spPr>
          <a:xfrm>
            <a:off x="928052" y="5320146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AABBCC"/>
                </a:solidFill>
              </a:rPr>
              <a:t>Assignment 7.1  |  Ziru Xu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4099A8-8503-43D1-6781-0CF62D83EDD8}"/>
              </a:ext>
            </a:extLst>
          </p:cNvPr>
          <p:cNvSpPr txBox="1"/>
          <p:nvPr/>
        </p:nvSpPr>
        <p:spPr>
          <a:xfrm>
            <a:off x="928052" y="3695008"/>
            <a:ext cx="10332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0" i="0" dirty="0">
                <a:solidFill>
                  <a:srgbClr val="00C2FF"/>
                </a:solidFill>
              </a:rPr>
              <a:t>Comparing Attack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0C2FF"/>
                </a:solidFill>
              </a:rPr>
              <a:t>Target Model — CNN (Trained Once, Then Attacked)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00C2FF"/>
                </a:solidFill>
              </a:rPr>
              <a:t>Setup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Trained on MNIST (60k images, 5 epochs)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Optimizer: Adam  (</a:t>
            </a:r>
            <a:r>
              <a:rPr sz="1900" dirty="0" err="1">
                <a:solidFill>
                  <a:srgbClr val="CCE5FF"/>
                </a:solidFill>
              </a:rPr>
              <a:t>lr</a:t>
            </a:r>
            <a:r>
              <a:rPr sz="1900" dirty="0">
                <a:solidFill>
                  <a:srgbClr val="CCE5FF"/>
                </a:solidFill>
              </a:rPr>
              <a:t> = 1e-3)  |  Loss: </a:t>
            </a:r>
            <a:r>
              <a:rPr sz="1900" dirty="0" err="1">
                <a:solidFill>
                  <a:srgbClr val="CCE5FF"/>
                </a:solidFill>
              </a:rPr>
              <a:t>CrossEntropyLoss</a:t>
            </a:r>
            <a:endParaRPr sz="1900" dirty="0">
              <a:solidFill>
                <a:srgbClr val="CCE5FF"/>
              </a:solidFill>
            </a:endParaRP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Achieves 99.1% Recognition Rate on 10,000 clean test images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Attacks evaluated on a 2,000-sample subset  (</a:t>
            </a:r>
            <a:r>
              <a:rPr sz="1900" dirty="0" err="1">
                <a:solidFill>
                  <a:srgbClr val="CCE5FF"/>
                </a:solidFill>
              </a:rPr>
              <a:t>ε</a:t>
            </a:r>
            <a:r>
              <a:rPr sz="1900" dirty="0">
                <a:solidFill>
                  <a:srgbClr val="CCE5FF"/>
                </a:solidFill>
              </a:rPr>
              <a:t> = 0.3)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3429000"/>
            <a:ext cx="1600200" cy="11887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956" y="35204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Input
28×28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1156" y="38130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2324" y="3429000"/>
            <a:ext cx="1600200" cy="11887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92324" y="35204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Conv1
32 filters
3×3 ReLU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2524" y="38130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3692" y="3429000"/>
            <a:ext cx="1600200" cy="11887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3692" y="35204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Conv2
64 filters
3×3 ReLU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3892" y="38130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60" y="3429000"/>
            <a:ext cx="1600200" cy="1188720"/>
          </a:xfrm>
          <a:prstGeom prst="rect">
            <a:avLst/>
          </a:prstGeom>
          <a:solidFill>
            <a:srgbClr val="6A3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5060" y="35204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MaxPool
2×2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5260" y="38130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6428" y="3429000"/>
            <a:ext cx="1600200" cy="1188720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96428" y="35204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FC 128
ReLU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6628" y="38130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97796" y="3429000"/>
            <a:ext cx="160020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97796" y="35204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Output
10 classes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D700"/>
                </a:solidFill>
              </a:rPr>
              <a:t>Recognition Rate (RR) = 99.1% on clean test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CCE5FF"/>
                </a:solidFill>
              </a:rPr>
              <a:t>High clean accuracy ≠ adversarial robustness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CDDE6C-5E65-1065-D73E-54A84BA53026}"/>
              </a:ext>
            </a:extLst>
          </p:cNvPr>
          <p:cNvSpPr txBox="1"/>
          <p:nvPr/>
        </p:nvSpPr>
        <p:spPr>
          <a:xfrm>
            <a:off x="457200" y="1777504"/>
            <a:ext cx="11247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attack the trained CNN model using following three gradient-based adversarial attacks to evaluate the robustness of the model.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use following metrics to evaluate attack.</a:t>
            </a:r>
          </a:p>
          <a:p>
            <a:endParaRPr lang="en-US" dirty="0"/>
          </a:p>
        </p:txBody>
      </p:sp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F8C0415-89F9-2FBC-BB55-9967D7C23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831" y="2196206"/>
            <a:ext cx="6049097" cy="1684403"/>
          </a:xfrm>
          <a:prstGeom prst="rect">
            <a:avLst/>
          </a:prstGeom>
        </p:spPr>
      </p:pic>
      <p:pic>
        <p:nvPicPr>
          <p:cNvPr id="9" name="Picture 8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4BEDD2CE-AD53-6ED1-41D0-28B67A55E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2" y="4639826"/>
            <a:ext cx="8594896" cy="1359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42ADE0-175A-6D0C-BB89-679684CBDC13}"/>
              </a:ext>
            </a:extLst>
          </p:cNvPr>
          <p:cNvSpPr txBox="1"/>
          <p:nvPr/>
        </p:nvSpPr>
        <p:spPr>
          <a:xfrm>
            <a:off x="457200" y="164592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00C2FF"/>
                </a:solidFill>
              </a:rPr>
              <a:t>Attack Methods and Metrics for </a:t>
            </a:r>
            <a:r>
              <a:rPr lang="en-US" sz="3000" b="1" dirty="0" err="1">
                <a:solidFill>
                  <a:srgbClr val="00C2FF"/>
                </a:solidFill>
              </a:rPr>
              <a:t>Evaulation</a:t>
            </a:r>
            <a:endParaRPr sz="3000" b="1" i="0" dirty="0">
              <a:solidFill>
                <a:srgbClr val="00C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35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Three Gradient-Based Attacks  (ε = 0.3)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914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545"/>
                </a:solidFill>
              </a:rPr>
              <a:t>FGSM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1" dirty="0">
                <a:solidFill>
                  <a:srgbClr val="AABBCC"/>
                </a:solidFill>
              </a:rPr>
              <a:t>Single-step gradient sign 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 ASR: 32.6%  — weakest of three</a:t>
            </a: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 One-step attack — fastest to compute</a:t>
            </a: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 </a:t>
            </a:r>
            <a:r>
              <a:rPr sz="1700" dirty="0" err="1">
                <a:solidFill>
                  <a:srgbClr val="CCE5FF"/>
                </a:solidFill>
              </a:rPr>
              <a:t>x_adv</a:t>
            </a:r>
            <a:r>
              <a:rPr sz="1700" dirty="0">
                <a:solidFill>
                  <a:srgbClr val="CCE5FF"/>
                </a:solidFill>
              </a:rPr>
              <a:t> = x + </a:t>
            </a:r>
            <a:r>
              <a:rPr sz="1700" dirty="0" err="1">
                <a:solidFill>
                  <a:srgbClr val="CCE5FF"/>
                </a:solidFill>
              </a:rPr>
              <a:t>ε</a:t>
            </a:r>
            <a:r>
              <a:rPr sz="1700" dirty="0">
                <a:solidFill>
                  <a:srgbClr val="CCE5FF"/>
                </a:solidFill>
              </a:rPr>
              <a:t> · sign(∇ₓ L(f(x), y))</a:t>
            </a: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 Single gradient call — budget not fully exploited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65760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234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50"/>
                </a:solidFill>
              </a:rPr>
              <a:t>I-FGSM / PGD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55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AABBCC"/>
                </a:solidFill>
              </a:rPr>
              <a:t>Iterative Projected Gradient Descent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338328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ASR: 70.8%  — strongest ★</a:t>
            </a: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 50 steps  (α = 0.01), random ℓ∞ </a:t>
            </a:r>
            <a:r>
              <a:rPr sz="1700" dirty="0" err="1">
                <a:solidFill>
                  <a:srgbClr val="CCE5FF"/>
                </a:solidFill>
              </a:rPr>
              <a:t>initialisation</a:t>
            </a:r>
            <a:endParaRPr sz="1700" dirty="0">
              <a:solidFill>
                <a:srgbClr val="CCE5FF"/>
              </a:solidFill>
            </a:endParaRP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 Projects back to </a:t>
            </a:r>
            <a:r>
              <a:rPr sz="1700" dirty="0" err="1">
                <a:solidFill>
                  <a:srgbClr val="CCE5FF"/>
                </a:solidFill>
              </a:rPr>
              <a:t>ε</a:t>
            </a:r>
            <a:r>
              <a:rPr sz="1700" dirty="0">
                <a:solidFill>
                  <a:srgbClr val="CCE5FF"/>
                </a:solidFill>
              </a:rPr>
              <a:t>-ball after every step</a:t>
            </a: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CCE5FF"/>
                </a:solidFill>
              </a:rPr>
              <a:t>•  Fully exploits the perturbation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97280"/>
            <a:ext cx="365760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1234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33"/>
                </a:solidFill>
              </a:rPr>
              <a:t>MI-FGSM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755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CC"/>
                </a:solidFill>
              </a:rPr>
              <a:t>Momentum Iterative FGSM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402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CCE5FF"/>
                </a:solidFill>
              </a:rPr>
              <a:t>•  ASR: 61.5%  — second strongest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CCE5FF"/>
                </a:solidFill>
              </a:rPr>
              <a:t>•  50 steps  (α = 0.01,  μ = 1.0)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CCE5FF"/>
                </a:solidFill>
              </a:rPr>
              <a:t>•  Accumulates momentum: g ← μg + ∇/‖∇‖₁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CCE5FF"/>
                </a:solidFill>
              </a:rPr>
              <a:t>•  Smoother gradient direction, more transferable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Results — RR &amp; Attack Success Rate  (ε = 0.3, n = 2,000)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429000" cy="658368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097280"/>
            <a:ext cx="1691640" cy="658368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118872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097280"/>
            <a:ext cx="5989320" cy="658368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6035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92224"/>
            <a:ext cx="3429000" cy="64008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83664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700"/>
                </a:solidFill>
              </a:rPr>
              <a:t>Recognition Rate (before attacks)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792224"/>
            <a:ext cx="1691640" cy="64008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188366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99.1%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792224"/>
            <a:ext cx="5989320" cy="64008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1883664"/>
            <a:ext cx="6035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D700"/>
                </a:solidFill>
              </a:rPr>
              <a:t>Baseline clean accuracy on 10k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50592"/>
            <a:ext cx="3429000" cy="6400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54203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ASR — FGSM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450592"/>
            <a:ext cx="1691640" cy="6400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0" y="254203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545"/>
                </a:solidFill>
              </a:rPr>
              <a:t>32.6%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450592"/>
            <a:ext cx="5989320" cy="6400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0" y="2542032"/>
            <a:ext cx="6035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Weakest — single step, budget underused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3429000" cy="640080"/>
          </a:xfrm>
          <a:prstGeom prst="rect">
            <a:avLst/>
          </a:prstGeom>
          <a:solidFill>
            <a:srgbClr val="10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ASR — MI-FGSM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3108960"/>
            <a:ext cx="1691640" cy="640080"/>
          </a:xfrm>
          <a:prstGeom prst="rect">
            <a:avLst/>
          </a:prstGeom>
          <a:solidFill>
            <a:srgbClr val="10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0" y="320040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33"/>
                </a:solidFill>
              </a:rPr>
              <a:t>61.5%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108960"/>
            <a:ext cx="5989320" cy="640080"/>
          </a:xfrm>
          <a:prstGeom prst="rect">
            <a:avLst/>
          </a:prstGeom>
          <a:solidFill>
            <a:srgbClr val="10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0" y="3200400"/>
            <a:ext cx="6035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Momentum stabilises gradient direction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8"/>
            <a:ext cx="3429000" cy="640080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85876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ASR — I-FGSM / PGD 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3767328"/>
            <a:ext cx="1691640" cy="640080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0" y="385876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AF50"/>
                </a:solidFill>
              </a:rPr>
              <a:t>70.8%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767328"/>
            <a:ext cx="5989320" cy="640080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160" y="3858768"/>
            <a:ext cx="6035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Strongest — random start + 50 projected steps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32099"/>
            <a:ext cx="2103120" cy="7601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4577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32.6%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37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FGSM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5058232"/>
            <a:ext cx="2103120" cy="1434007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20440" y="4783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61.5%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6537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MI-FGSM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841382"/>
            <a:ext cx="2103120" cy="1650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456706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70.8%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6537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I-FGSM
/PGD★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04434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</a:rPr>
              <a:t>RR = 99.1% (clean baseline)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4786" y="4739289"/>
            <a:ext cx="329184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CCE5FF"/>
                </a:solidFill>
              </a:rPr>
              <a:t>•  FGSM: 32.</a:t>
            </a:r>
            <a:r>
              <a:rPr lang="en-US" sz="1500" dirty="0">
                <a:solidFill>
                  <a:srgbClr val="CCE5FF"/>
                </a:solidFill>
              </a:rPr>
              <a:t>6</a:t>
            </a:r>
            <a:r>
              <a:rPr sz="1500" dirty="0">
                <a:solidFill>
                  <a:srgbClr val="CCE5FF"/>
                </a:solidFill>
              </a:rPr>
              <a:t>%  (weakest)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CCE5FF"/>
                </a:solidFill>
              </a:rPr>
              <a:t>•  MI-FGSM: 61.5%  (second)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CCE5FF"/>
                </a:solidFill>
              </a:rPr>
              <a:t>•  I-FGSM/PGD: 70.8%  (strongest)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CCE5FF"/>
                </a:solidFill>
              </a:rPr>
              <a:t>•  Random </a:t>
            </a:r>
            <a:r>
              <a:rPr sz="1500" dirty="0" err="1">
                <a:solidFill>
                  <a:srgbClr val="CCE5FF"/>
                </a:solidFill>
              </a:rPr>
              <a:t>init</a:t>
            </a:r>
            <a:r>
              <a:rPr sz="1500" dirty="0">
                <a:solidFill>
                  <a:srgbClr val="CCE5FF"/>
                </a:solidFill>
              </a:rPr>
              <a:t> &gt; momentum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8872" cy="11887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161288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4545"/>
                </a:solidFill>
              </a:rPr>
              <a:t>Accuracy ≠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0020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CNN achieves 99.1% clean accuracy, yet FGSM alone fools it 32.6% of the time with perturbations invisible to humans.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14016"/>
            <a:ext cx="118872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478024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CAF50"/>
                </a:solidFill>
              </a:rPr>
              <a:t>Iterative attacks are far stronger than single-step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16936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FGSM (32.6%) vs I-FGSM/PGD (70.8%). Fifty small projected steps fully exploit the ε = 0.3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30752"/>
            <a:ext cx="118872" cy="1188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794760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933"/>
                </a:solidFill>
              </a:rPr>
              <a:t>Random initialisation is the decisive factor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233672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PGD (70.8%) &gt; MI-FGSM (61.5%). Random start explores a wider area of the ε-ball than momentum alone.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47488"/>
            <a:ext cx="118872" cy="1188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5111496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FF"/>
                </a:solidFill>
              </a:rPr>
              <a:t>Defence is necessary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55040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High clean accuracy cannot be trusted. Adversarial training, input purification, or certified defences are needed to close the robustness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What Are Adversarial Examples?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00C2FF"/>
                </a:solidFill>
              </a:rPr>
              <a:t>The Concept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A normal image + tiny, invisible perturbation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Perturbation crafted using the model's own gradients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Causes the model to misclassify with high confidence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Perturbation is imperceptible to humans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Exposes the gap between accuracy and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61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83080"/>
            <a:ext cx="457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74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Input image  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60320"/>
            <a:ext cx="457200" cy="62179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651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Compute  ∇ₓ L(f(x), 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337560"/>
            <a:ext cx="457200" cy="62179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4290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Scale by  ε · sign(∇ₓ 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114800"/>
            <a:ext cx="457200" cy="6217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2062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Adversarial image  x_adv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892040"/>
            <a:ext cx="457200" cy="6217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983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CNN predicts wrong label!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CC"/>
                </a:solidFill>
              </a:rPr>
              <a:t>ε = 0.3 in this assignment (ℓ∞ norm budget)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Attack Mechanics — Key Formulas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545"/>
                </a:solidFill>
              </a:rPr>
              <a:t>FGSM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x_adv = x + ε · sign( ∇ₓ L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32888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ASR = 32.6%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One gradient 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32504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Step size = ε (full budget at once)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Fast but weakest — budget underused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50"/>
                </a:solidFill>
              </a:rPr>
              <a:t>I-FGSM / PGD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x⁰ ~ Uniform(x−ε, x+ε)   [random start]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32888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xᵗ⁺¹ = Projₓ±ε( xᵗ + α·sign(∇ₓL)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82696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ASR = 70.8%  ← Strongest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32504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50 iterations,  α = 0.01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8231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Projection keeps each step valid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33"/>
                </a:solidFill>
              </a:rPr>
              <a:t>MI-FGSM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78308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gᵗ⁺¹ = μ·gᵗ + ∇ₓL / ‖∇ₓL‖₁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532888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xᵗ⁺¹ = Projₓ±ε( xᵗ + α·sign(gᵗ⁺¹)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282696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ASR = 61.5%  — second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032504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μ = 1.0  (full momentum carry)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78231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Smoother direction, more transferable</a:t>
            </a:r>
          </a:p>
        </p:txBody>
      </p:sp>
    </p:spTree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ABC I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IT Theme" id="{68813CA9-BD29-B34D-B09E-2DE15544D98F}" vid="{BE4E2A01-59AE-2C4D-B034-7BE723C593A5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IT Slides - Master Template (1)" id="{565A1239-C856-FD4A-BD42-27E3A4B3E057}" vid="{E8778F80-16FE-C140-AF93-77F4E2DDBF27}"/>
    </a:ext>
  </a:extLst>
</a:theme>
</file>

<file path=ppt/theme/theme3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IT Theme</Template>
  <TotalTime>570</TotalTime>
  <Words>793</Words>
  <Application>Microsoft Macintosh PowerPoint</Application>
  <PresentationFormat>Custom</PresentationFormat>
  <Paragraphs>124</Paragraphs>
  <Slides>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ABC IT Theme</vt:lpstr>
      <vt:lpstr>Title Slide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Ziru Xu</cp:lastModifiedBy>
  <cp:revision>3</cp:revision>
  <dcterms:created xsi:type="dcterms:W3CDTF">2013-01-27T09:14:16Z</dcterms:created>
  <dcterms:modified xsi:type="dcterms:W3CDTF">2026-05-30T17:03:39Z</dcterms:modified>
  <cp:category/>
</cp:coreProperties>
</file>